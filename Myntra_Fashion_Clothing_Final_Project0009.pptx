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62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100" b="0" i="0" u="none" strike="noStrike">
                <a:solidFill>
                  <a:srgbClr val="132347"/>
                </a:solidFill>
                <a:latin typeface="Arial"/>
              </a:defRPr>
            </a:pPr>
            <a:r>
              <a:rPr lang="en-IN" sz="1100" b="0" i="0" u="none" strike="noStrike">
                <a:solidFill>
                  <a:srgbClr val="132347"/>
                </a:solidFill>
                <a:latin typeface="Arial"/>
              </a:rPr>
              <a:t>Category-wise Average Discount Price (₹)</a:t>
            </a:r>
          </a:p>
        </c:rich>
      </c:tx>
      <c:overlay val="0"/>
    </c:title>
    <c:autoTitleDeleted val="0"/>
    <c:plotArea>
      <c:layout/>
      <c:barChart>
        <c:barDir val="col"/>
        <c:grouping val="clustered"/>
        <c:varyColors val="0"/>
        <c:ser>
          <c:idx val="0"/>
          <c:order val="0"/>
          <c:tx>
            <c:strRef>
              <c:f>Sheet1!$B$1</c:f>
              <c:strCache>
                <c:ptCount val="1"/>
                <c:pt idx="0">
                  <c:v>Avg Discount Price (₹)</c:v>
                </c:pt>
              </c:strCache>
            </c:strRef>
          </c:tx>
          <c:spPr>
            <a:solidFill>
              <a:srgbClr val="0E7C86"/>
            </a:solidFill>
            <a:effectLst/>
          </c:spPr>
          <c:invertIfNegative val="0"/>
          <c:dLbls>
            <c:numFmt formatCode="#,##0" sourceLinked="0"/>
            <c:spPr>
              <a:noFill/>
              <a:ln>
                <a:noFill/>
              </a:ln>
              <a:effectLst/>
            </c:spPr>
            <c:txPr>
              <a:bodyPr/>
              <a:lstStyle/>
              <a:p>
                <a:pPr>
                  <a:defRPr sz="800" b="0" i="0" u="none" strike="noStrike">
                    <a:solidFill>
                      <a:srgbClr val="13234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Bottom Wear</c:v>
                </c:pt>
                <c:pt idx="1">
                  <c:v>Indian Wear</c:v>
                </c:pt>
                <c:pt idx="2">
                  <c:v>Inner Wear</c:v>
                </c:pt>
                <c:pt idx="3">
                  <c:v>Lingerie</c:v>
                </c:pt>
                <c:pt idx="4">
                  <c:v>Plus Size</c:v>
                </c:pt>
                <c:pt idx="5">
                  <c:v>Sports Wear</c:v>
                </c:pt>
                <c:pt idx="6">
                  <c:v>Topwear</c:v>
                </c:pt>
                <c:pt idx="7">
                  <c:v>Western</c:v>
                </c:pt>
              </c:strCache>
            </c:strRef>
          </c:cat>
          <c:val>
            <c:numRef>
              <c:f>Sheet1!$B$2:$B$9</c:f>
              <c:numCache>
                <c:formatCode>General</c:formatCode>
                <c:ptCount val="8"/>
                <c:pt idx="0">
                  <c:v>1351.2</c:v>
                </c:pt>
                <c:pt idx="1">
                  <c:v>1493.3</c:v>
                </c:pt>
                <c:pt idx="2">
                  <c:v>691.8</c:v>
                </c:pt>
                <c:pt idx="3">
                  <c:v>811.9</c:v>
                </c:pt>
                <c:pt idx="4">
                  <c:v>923.7</c:v>
                </c:pt>
                <c:pt idx="5">
                  <c:v>1097.4000000000001</c:v>
                </c:pt>
                <c:pt idx="6">
                  <c:v>1138.5999999999999</c:v>
                </c:pt>
                <c:pt idx="7">
                  <c:v>1790.1</c:v>
                </c:pt>
              </c:numCache>
            </c:numRef>
          </c:val>
          <c:extLst>
            <c:ext xmlns:c16="http://schemas.microsoft.com/office/drawing/2014/chart" uri="{C3380CC4-5D6E-409C-BE32-E72D297353CC}">
              <c16:uniqueId val="{00000000-9471-4F55-A2A8-6812BD0FFF1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B748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C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748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100" b="0" i="0" u="none" strike="noStrike">
                <a:solidFill>
                  <a:srgbClr val="132347"/>
                </a:solidFill>
                <a:latin typeface="Arial"/>
              </a:defRPr>
            </a:pPr>
            <a:r>
              <a:rPr lang="en-IN" sz="1100" b="0" i="0" u="none" strike="noStrike">
                <a:solidFill>
                  <a:srgbClr val="132347"/>
                </a:solidFill>
                <a:latin typeface="Arial"/>
              </a:rPr>
              <a:t>SizeOption Completeness</a:t>
            </a:r>
          </a:p>
        </c:rich>
      </c:tx>
      <c:overlay val="0"/>
    </c:title>
    <c:autoTitleDeleted val="0"/>
    <c:plotArea>
      <c:layout/>
      <c:doughnutChart>
        <c:varyColors val="1"/>
        <c:ser>
          <c:idx val="0"/>
          <c:order val="0"/>
          <c:tx>
            <c:strRef>
              <c:f>Sheet1!$B$1</c:f>
              <c:strCache>
                <c:ptCount val="1"/>
                <c:pt idx="0">
                  <c:v>SizeOption</c:v>
                </c:pt>
              </c:strCache>
            </c:strRef>
          </c:tx>
          <c:spPr>
            <a:solidFill>
              <a:schemeClr val="accent1"/>
            </a:solidFill>
            <a:ln w="9525" cap="flat">
              <a:solidFill>
                <a:srgbClr val="F9F9F9"/>
              </a:solidFill>
              <a:prstDash val="solid"/>
              <a:round/>
            </a:ln>
            <a:effectLst/>
          </c:spPr>
          <c:dPt>
            <c:idx val="0"/>
            <c:bubble3D val="0"/>
            <c:spPr>
              <a:solidFill>
                <a:srgbClr val="0E7C86"/>
              </a:solidFill>
              <a:effectLst/>
            </c:spPr>
            <c:extLst>
              <c:ext xmlns:c16="http://schemas.microsoft.com/office/drawing/2014/chart" uri="{C3380CC4-5D6E-409C-BE32-E72D297353CC}">
                <c16:uniqueId val="{00000001-9148-4E4C-A8A9-73F35D697909}"/>
              </c:ext>
            </c:extLst>
          </c:dPt>
          <c:dPt>
            <c:idx val="1"/>
            <c:bubble3D val="0"/>
            <c:spPr>
              <a:solidFill>
                <a:srgbClr val="E07A2C"/>
              </a:solidFill>
              <a:effectLst/>
            </c:spPr>
            <c:extLst>
              <c:ext xmlns:c16="http://schemas.microsoft.com/office/drawing/2014/chart" uri="{C3380CC4-5D6E-409C-BE32-E72D297353CC}">
                <c16:uniqueId val="{00000003-9148-4E4C-A8A9-73F35D697909}"/>
              </c:ext>
            </c:extLst>
          </c:dPt>
          <c:dLbls>
            <c:dLbl>
              <c:idx val="0"/>
              <c:numFmt formatCode="General"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148-4E4C-A8A9-73F35D697909}"/>
                </c:ext>
              </c:extLst>
            </c:dLbl>
            <c:dLbl>
              <c:idx val="1"/>
              <c:numFmt formatCode="General"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148-4E4C-A8A9-73F35D697909}"/>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Has Value</c:v>
                </c:pt>
                <c:pt idx="1">
                  <c:v>Null</c:v>
                </c:pt>
              </c:strCache>
            </c:strRef>
          </c:cat>
          <c:val>
            <c:numRef>
              <c:f>Sheet1!$B$2:$B$3</c:f>
              <c:numCache>
                <c:formatCode>General</c:formatCode>
                <c:ptCount val="2"/>
                <c:pt idx="0">
                  <c:v>526564</c:v>
                </c:pt>
                <c:pt idx="1">
                  <c:v>0</c:v>
                </c:pt>
              </c:numCache>
            </c:numRef>
          </c:val>
          <c:extLst>
            <c:ext xmlns:c16="http://schemas.microsoft.com/office/drawing/2014/chart" uri="{C3380CC4-5D6E-409C-BE32-E72D297353CC}">
              <c16:uniqueId val="{00000004-9148-4E4C-A8A9-73F35D697909}"/>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32347"/>
                </a:solidFill>
                <a:latin typeface="Arial"/>
              </a:defRPr>
            </a:pPr>
            <a:r>
              <a:rPr lang="en-IN" sz="1200" b="0" i="0" u="none" strike="noStrike">
                <a:solidFill>
                  <a:srgbClr val="132347"/>
                </a:solidFill>
                <a:latin typeface="Arial"/>
              </a:rPr>
              <a:t>Overall Average vs Rating &gt; 4 Average</a:t>
            </a:r>
          </a:p>
        </c:rich>
      </c:tx>
      <c:overlay val="0"/>
    </c:title>
    <c:autoTitleDeleted val="0"/>
    <c:plotArea>
      <c:layout/>
      <c:barChart>
        <c:barDir val="col"/>
        <c:grouping val="clustered"/>
        <c:varyColors val="0"/>
        <c:ser>
          <c:idx val="0"/>
          <c:order val="0"/>
          <c:tx>
            <c:strRef>
              <c:f>Sheet1!$B$1</c:f>
              <c:strCache>
                <c:ptCount val="1"/>
                <c:pt idx="0">
                  <c:v>Original Price (₹)</c:v>
                </c:pt>
              </c:strCache>
            </c:strRef>
          </c:tx>
          <c:spPr>
            <a:solidFill>
              <a:srgbClr val="132347"/>
            </a:solidFill>
            <a:effectLst/>
          </c:spPr>
          <c:invertIfNegative val="0"/>
          <c:dPt>
            <c:idx val="0"/>
            <c:invertIfNegative val="0"/>
            <c:bubble3D val="0"/>
            <c:extLst>
              <c:ext xmlns:c16="http://schemas.microsoft.com/office/drawing/2014/chart" uri="{C3380CC4-5D6E-409C-BE32-E72D297353CC}">
                <c16:uniqueId val="{00000001-3C06-481A-AED7-BDD49338BCA1}"/>
              </c:ext>
            </c:extLst>
          </c:dPt>
          <c:dPt>
            <c:idx val="1"/>
            <c:invertIfNegative val="0"/>
            <c:bubble3D val="0"/>
            <c:spPr>
              <a:solidFill>
                <a:srgbClr val="0E7C86"/>
              </a:solidFill>
              <a:effectLst/>
            </c:spPr>
            <c:extLst>
              <c:ext xmlns:c16="http://schemas.microsoft.com/office/drawing/2014/chart" uri="{C3380CC4-5D6E-409C-BE32-E72D297353CC}">
                <c16:uniqueId val="{00000003-3C06-481A-AED7-BDD49338BCA1}"/>
              </c:ext>
            </c:extLst>
          </c:dPt>
          <c:dLbls>
            <c:numFmt formatCode="\₹#,##0" sourceLinked="0"/>
            <c:spPr>
              <a:noFill/>
              <a:ln>
                <a:noFill/>
              </a:ln>
              <a:effectLst/>
            </c:spPr>
            <c:txPr>
              <a:bodyPr/>
              <a:lstStyle/>
              <a:p>
                <a:pPr>
                  <a:defRPr sz="1100" b="0" i="0" u="none" strike="noStrike">
                    <a:solidFill>
                      <a:srgbClr val="13234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All Products</c:v>
                </c:pt>
                <c:pt idx="1">
                  <c:v>Rating &gt; 4</c:v>
                </c:pt>
              </c:strCache>
            </c:strRef>
          </c:cat>
          <c:val>
            <c:numRef>
              <c:f>Sheet1!$B$2:$B$3</c:f>
              <c:numCache>
                <c:formatCode>General</c:formatCode>
                <c:ptCount val="2"/>
                <c:pt idx="0">
                  <c:v>2414.0700000000002</c:v>
                </c:pt>
                <c:pt idx="1">
                  <c:v>1966.67</c:v>
                </c:pt>
              </c:numCache>
            </c:numRef>
          </c:val>
          <c:extLst>
            <c:ext xmlns:c16="http://schemas.microsoft.com/office/drawing/2014/chart" uri="{C3380CC4-5D6E-409C-BE32-E72D297353CC}">
              <c16:uniqueId val="{00000004-3C06-481A-AED7-BDD49338BCA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484"/>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12700" cap="flat">
              <a:solidFill>
                <a:srgbClr val="DC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48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Products</c:v>
                </c:pt>
              </c:strCache>
            </c:strRef>
          </c:tx>
          <c:spPr>
            <a:solidFill>
              <a:srgbClr val="0E7C86"/>
            </a:solidFill>
            <a:effectLst/>
          </c:spPr>
          <c:invertIfNegative val="0"/>
          <c:dPt>
            <c:idx val="0"/>
            <c:invertIfNegative val="0"/>
            <c:bubble3D val="0"/>
            <c:extLst>
              <c:ext xmlns:c16="http://schemas.microsoft.com/office/drawing/2014/chart" uri="{C3380CC4-5D6E-409C-BE32-E72D297353CC}">
                <c16:uniqueId val="{00000001-0BAF-49E9-B2EF-0107E2DB36C9}"/>
              </c:ext>
            </c:extLst>
          </c:dPt>
          <c:dPt>
            <c:idx val="1"/>
            <c:invertIfNegative val="0"/>
            <c:bubble3D val="0"/>
            <c:spPr>
              <a:solidFill>
                <a:srgbClr val="E07A2C"/>
              </a:solidFill>
              <a:effectLst/>
            </c:spPr>
            <c:extLst>
              <c:ext xmlns:c16="http://schemas.microsoft.com/office/drawing/2014/chart" uri="{C3380CC4-5D6E-409C-BE32-E72D297353CC}">
                <c16:uniqueId val="{00000003-0BAF-49E9-B2EF-0107E2DB36C9}"/>
              </c:ext>
            </c:extLst>
          </c:dPt>
          <c:dLbls>
            <c:numFmt formatCode="#,##0" sourceLinked="0"/>
            <c:spPr>
              <a:noFill/>
              <a:ln>
                <a:noFill/>
              </a:ln>
              <a:effectLst/>
            </c:spPr>
            <c:txPr>
              <a:bodyPr/>
              <a:lstStyle/>
              <a:p>
                <a:pPr>
                  <a:defRPr sz="900" b="0" i="0" u="none" strike="noStrike">
                    <a:solidFill>
                      <a:srgbClr val="13234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 Interpretation</c:v>
                </c:pt>
                <c:pt idx="1">
                  <c:v>COUNTIF Interpretation</c:v>
                </c:pt>
              </c:strCache>
            </c:strRef>
          </c:cat>
          <c:val>
            <c:numRef>
              <c:f>Sheet1!$B$2:$B$3</c:f>
              <c:numCache>
                <c:formatCode>General</c:formatCode>
                <c:ptCount val="2"/>
                <c:pt idx="0">
                  <c:v>221864</c:v>
                </c:pt>
                <c:pt idx="1">
                  <c:v>230080</c:v>
                </c:pt>
              </c:numCache>
            </c:numRef>
          </c:val>
          <c:extLst>
            <c:ext xmlns:c16="http://schemas.microsoft.com/office/drawing/2014/chart" uri="{C3380CC4-5D6E-409C-BE32-E72D297353CC}">
              <c16:uniqueId val="{00000004-0BAF-49E9-B2EF-0107E2DB36C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6B7484"/>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doughnutChart>
        <c:varyColors val="1"/>
        <c:ser>
          <c:idx val="0"/>
          <c:order val="0"/>
          <c:tx>
            <c:strRef>
              <c:f>Sheet1!$B$1</c:f>
              <c:strCache>
                <c:ptCount val="1"/>
                <c:pt idx="0">
                  <c:v>Size M</c:v>
                </c:pt>
              </c:strCache>
            </c:strRef>
          </c:tx>
          <c:spPr>
            <a:solidFill>
              <a:schemeClr val="accent1"/>
            </a:solidFill>
            <a:ln w="9525" cap="flat">
              <a:solidFill>
                <a:srgbClr val="F9F9F9"/>
              </a:solidFill>
              <a:prstDash val="solid"/>
              <a:round/>
            </a:ln>
            <a:effectLst/>
          </c:spPr>
          <c:dPt>
            <c:idx val="0"/>
            <c:bubble3D val="0"/>
            <c:spPr>
              <a:solidFill>
                <a:srgbClr val="0E7C86"/>
              </a:solidFill>
              <a:effectLst/>
            </c:spPr>
            <c:extLst>
              <c:ext xmlns:c16="http://schemas.microsoft.com/office/drawing/2014/chart" uri="{C3380CC4-5D6E-409C-BE32-E72D297353CC}">
                <c16:uniqueId val="{00000001-F9AC-49C1-B002-CA1EE14DBCF4}"/>
              </c:ext>
            </c:extLst>
          </c:dPt>
          <c:dPt>
            <c:idx val="1"/>
            <c:bubble3D val="0"/>
            <c:spPr>
              <a:solidFill>
                <a:srgbClr val="DCE2E8"/>
              </a:solidFill>
              <a:effectLst/>
            </c:spPr>
            <c:extLst>
              <c:ext xmlns:c16="http://schemas.microsoft.com/office/drawing/2014/chart" uri="{C3380CC4-5D6E-409C-BE32-E72D297353CC}">
                <c16:uniqueId val="{00000003-F9AC-49C1-B002-CA1EE14DBCF4}"/>
              </c:ext>
            </c:extLst>
          </c:dPt>
          <c:cat>
            <c:strRef>
              <c:f>Sheet1!$A$2:$A$3</c:f>
              <c:strCache>
                <c:ptCount val="2"/>
                <c:pt idx="0">
                  <c:v>Size M (either def.)</c:v>
                </c:pt>
                <c:pt idx="1">
                  <c:v>Neither</c:v>
                </c:pt>
              </c:strCache>
            </c:strRef>
          </c:cat>
          <c:val>
            <c:numRef>
              <c:f>Sheet1!$B$2:$B$3</c:f>
              <c:numCache>
                <c:formatCode>General</c:formatCode>
                <c:ptCount val="2"/>
                <c:pt idx="0">
                  <c:v>308460</c:v>
                </c:pt>
                <c:pt idx="1">
                  <c:v>218104</c:v>
                </c:pt>
              </c:numCache>
            </c:numRef>
          </c:val>
          <c:extLst>
            <c:ext xmlns:c16="http://schemas.microsoft.com/office/drawing/2014/chart" uri="{C3380CC4-5D6E-409C-BE32-E72D297353CC}">
              <c16:uniqueId val="{00000004-F9AC-49C1-B002-CA1EE14DBCF4}"/>
            </c:ext>
          </c:extLst>
        </c:ser>
        <c:dLbls>
          <c:showLegendKey val="0"/>
          <c:showVal val="0"/>
          <c:showCatName val="0"/>
          <c:showSerName val="0"/>
          <c:showPercent val="0"/>
          <c:showBubbleSize val="0"/>
          <c:showLeaderLines val="0"/>
        </c:dLbls>
        <c:firstSliceAng val="0"/>
        <c:holeSize val="5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100" b="0" i="0" u="none" strike="noStrike">
                <a:solidFill>
                  <a:srgbClr val="132347"/>
                </a:solidFill>
                <a:latin typeface="Arial"/>
              </a:defRPr>
            </a:pPr>
            <a:r>
              <a:rPr lang="en-IN" sz="1100" b="0" i="0" u="none" strike="noStrike">
                <a:solidFill>
                  <a:srgbClr val="132347"/>
                </a:solidFill>
                <a:latin typeface="Arial"/>
              </a:rPr>
              <a:t>High vs Low Discount</a:t>
            </a:r>
          </a:p>
        </c:rich>
      </c:tx>
      <c:overlay val="0"/>
    </c:title>
    <c:autoTitleDeleted val="0"/>
    <c:plotArea>
      <c:layout/>
      <c:barChart>
        <c:barDir val="col"/>
        <c:grouping val="clustered"/>
        <c:varyColors val="0"/>
        <c:ser>
          <c:idx val="0"/>
          <c:order val="0"/>
          <c:tx>
            <c:strRef>
              <c:f>Sheet1!$B$1</c:f>
              <c:strCache>
                <c:ptCount val="1"/>
                <c:pt idx="0">
                  <c:v>Products</c:v>
                </c:pt>
              </c:strCache>
            </c:strRef>
          </c:tx>
          <c:spPr>
            <a:solidFill>
              <a:srgbClr val="E07A2C"/>
            </a:solidFill>
            <a:effectLst/>
          </c:spPr>
          <c:invertIfNegative val="0"/>
          <c:dPt>
            <c:idx val="0"/>
            <c:invertIfNegative val="0"/>
            <c:bubble3D val="0"/>
            <c:extLst>
              <c:ext xmlns:c16="http://schemas.microsoft.com/office/drawing/2014/chart" uri="{C3380CC4-5D6E-409C-BE32-E72D297353CC}">
                <c16:uniqueId val="{00000001-A419-4CCB-9CCE-733189E275BF}"/>
              </c:ext>
            </c:extLst>
          </c:dPt>
          <c:dPt>
            <c:idx val="1"/>
            <c:invertIfNegative val="0"/>
            <c:bubble3D val="0"/>
            <c:spPr>
              <a:solidFill>
                <a:srgbClr val="0E7C86"/>
              </a:solidFill>
              <a:effectLst/>
            </c:spPr>
            <c:extLst>
              <c:ext xmlns:c16="http://schemas.microsoft.com/office/drawing/2014/chart" uri="{C3380CC4-5D6E-409C-BE32-E72D297353CC}">
                <c16:uniqueId val="{00000003-A419-4CCB-9CCE-733189E275BF}"/>
              </c:ext>
            </c:extLst>
          </c:dPt>
          <c:dLbls>
            <c:numFmt formatCode="#,##0" sourceLinked="0"/>
            <c:spPr>
              <a:noFill/>
              <a:ln>
                <a:noFill/>
              </a:ln>
              <a:effectLst/>
            </c:spPr>
            <c:txPr>
              <a:bodyPr/>
              <a:lstStyle/>
              <a:p>
                <a:pPr>
                  <a:defRPr sz="1000" b="0" i="0" u="none" strike="noStrike">
                    <a:solidFill>
                      <a:srgbClr val="13234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High Discount</c:v>
                </c:pt>
                <c:pt idx="1">
                  <c:v>Low Discount</c:v>
                </c:pt>
              </c:strCache>
            </c:strRef>
          </c:cat>
          <c:val>
            <c:numRef>
              <c:f>Sheet1!$B$2:$B$3</c:f>
              <c:numCache>
                <c:formatCode>General</c:formatCode>
                <c:ptCount val="2"/>
                <c:pt idx="0">
                  <c:v>221864</c:v>
                </c:pt>
                <c:pt idx="1">
                  <c:v>304700</c:v>
                </c:pt>
              </c:numCache>
            </c:numRef>
          </c:val>
          <c:extLst>
            <c:ext xmlns:c16="http://schemas.microsoft.com/office/drawing/2014/chart" uri="{C3380CC4-5D6E-409C-BE32-E72D297353CC}">
              <c16:uniqueId val="{00000004-A419-4CCB-9CCE-733189E275B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484"/>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12700" cap="flat">
              <a:solidFill>
                <a:srgbClr val="DC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748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5066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hyperlink" Target="https://fity.club/lists/suggestions/myntra/"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A455C7-DDFB-2D1B-EF5C-EA9565229C6F}"/>
              </a:ext>
            </a:extLst>
          </p:cNvPr>
          <p:cNvPicPr>
            <a:picLocks noChangeAspect="1"/>
          </p:cNvPicPr>
          <p:nvPr userDrawn="1"/>
        </p:nvPicPr>
        <p:blipFill>
          <a:blip r:embed="rId3">
            <a:alphaModFix amt="23000"/>
            <a:extLst>
              <a:ext uri="{837473B0-CC2E-450A-ABE3-18F120FF3D39}">
                <a1611:picAttrSrcUrl xmlns:a1611="http://schemas.microsoft.com/office/drawing/2016/11/main" r:id="rId4"/>
              </a:ext>
            </a:extLst>
          </a:blip>
          <a:stretch>
            <a:fillRect/>
          </a:stretch>
        </p:blipFill>
        <p:spPr>
          <a:xfrm>
            <a:off x="0" y="0"/>
            <a:ext cx="12192000" cy="6858000"/>
          </a:xfrm>
          <a:prstGeom prst="rect">
            <a:avLst/>
          </a:prstGeom>
          <a:ln>
            <a:noFill/>
          </a:ln>
          <a:effectLst>
            <a:softEdge rad="112500"/>
          </a:effectLst>
        </p:spPr>
      </p:pic>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47"/>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0B1730"/>
          </a:solidFill>
          <a:ln/>
        </p:spPr>
        <p:txBody>
          <a:bodyPr/>
          <a:lstStyle/>
          <a:p>
            <a:endParaRPr lang="en-IN"/>
          </a:p>
        </p:txBody>
      </p:sp>
      <p:sp>
        <p:nvSpPr>
          <p:cNvPr id="3" name="Shape 1"/>
          <p:cNvSpPr/>
          <p:nvPr/>
        </p:nvSpPr>
        <p:spPr>
          <a:xfrm>
            <a:off x="9692640" y="3931920"/>
            <a:ext cx="3840480" cy="3840480"/>
          </a:xfrm>
          <a:prstGeom prst="ellipse">
            <a:avLst/>
          </a:prstGeom>
          <a:solidFill>
            <a:srgbClr val="0E7C86"/>
          </a:solidFill>
          <a:ln/>
        </p:spPr>
        <p:txBody>
          <a:bodyPr/>
          <a:lstStyle/>
          <a:p>
            <a:endParaRPr lang="en-IN"/>
          </a:p>
        </p:txBody>
      </p:sp>
      <p:sp>
        <p:nvSpPr>
          <p:cNvPr id="4" name="Shape 2"/>
          <p:cNvSpPr/>
          <p:nvPr/>
        </p:nvSpPr>
        <p:spPr>
          <a:xfrm>
            <a:off x="-1463040" y="4937760"/>
            <a:ext cx="3291840" cy="3291840"/>
          </a:xfrm>
          <a:prstGeom prst="ellipse">
            <a:avLst/>
          </a:prstGeom>
          <a:solidFill>
            <a:srgbClr val="0E7C86"/>
          </a:solidFill>
          <a:ln/>
        </p:spPr>
        <p:txBody>
          <a:bodyPr/>
          <a:lstStyle/>
          <a:p>
            <a:endParaRPr lang="en-IN"/>
          </a:p>
        </p:txBody>
      </p:sp>
      <p:sp>
        <p:nvSpPr>
          <p:cNvPr id="5" name="Text 3"/>
          <p:cNvSpPr/>
          <p:nvPr/>
        </p:nvSpPr>
        <p:spPr>
          <a:xfrm>
            <a:off x="822960" y="1965960"/>
            <a:ext cx="7315200" cy="365760"/>
          </a:xfrm>
          <a:prstGeom prst="rect">
            <a:avLst/>
          </a:prstGeom>
          <a:noFill/>
          <a:ln/>
        </p:spPr>
        <p:txBody>
          <a:bodyPr wrap="square" lIns="0" tIns="0" rIns="0" bIns="0" rtlCol="0" anchor="ctr"/>
          <a:lstStyle/>
          <a:p>
            <a:pPr marL="0" indent="0">
              <a:buNone/>
            </a:pPr>
            <a:r>
              <a:rPr lang="en-US" sz="1300" b="1" kern="0" spc="300" dirty="0">
                <a:solidFill>
                  <a:srgbClr val="17A398"/>
                </a:solidFill>
                <a:latin typeface="Calibri" pitchFamily="34" charset="0"/>
                <a:ea typeface="Calibri" pitchFamily="34" charset="-122"/>
                <a:cs typeface="Calibri" pitchFamily="34" charset="-120"/>
              </a:rPr>
              <a:t>DATA ANALYTICS PROJECT</a:t>
            </a:r>
            <a:endParaRPr lang="en-US" sz="1300" dirty="0"/>
          </a:p>
        </p:txBody>
      </p:sp>
      <p:sp>
        <p:nvSpPr>
          <p:cNvPr id="6" name="Text 4"/>
          <p:cNvSpPr/>
          <p:nvPr/>
        </p:nvSpPr>
        <p:spPr>
          <a:xfrm>
            <a:off x="777240" y="2331720"/>
            <a:ext cx="987552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Myntra Fashion Clothing</a:t>
            </a:r>
            <a:endParaRPr lang="en-US" sz="4600" dirty="0"/>
          </a:p>
        </p:txBody>
      </p:sp>
      <p:sp>
        <p:nvSpPr>
          <p:cNvPr id="7" name="Text 5"/>
          <p:cNvSpPr/>
          <p:nvPr/>
        </p:nvSpPr>
        <p:spPr>
          <a:xfrm>
            <a:off x="777240" y="3063240"/>
            <a:ext cx="9875520" cy="731520"/>
          </a:xfrm>
          <a:prstGeom prst="rect">
            <a:avLst/>
          </a:prstGeom>
          <a:noFill/>
          <a:ln/>
        </p:spPr>
        <p:txBody>
          <a:bodyPr wrap="square" lIns="0" tIns="0" rIns="0" bIns="0" rtlCol="0" anchor="ctr"/>
          <a:lstStyle/>
          <a:p>
            <a:pPr marL="0" indent="0">
              <a:buNone/>
            </a:pPr>
            <a:endParaRPr lang="en-US" sz="4600" dirty="0"/>
          </a:p>
        </p:txBody>
      </p:sp>
      <p:sp>
        <p:nvSpPr>
          <p:cNvPr id="8" name="Text 6"/>
          <p:cNvSpPr/>
          <p:nvPr/>
        </p:nvSpPr>
        <p:spPr>
          <a:xfrm>
            <a:off x="822960" y="3977640"/>
            <a:ext cx="7315200" cy="457200"/>
          </a:xfrm>
          <a:prstGeom prst="rect">
            <a:avLst/>
          </a:prstGeom>
          <a:noFill/>
          <a:ln/>
        </p:spPr>
        <p:txBody>
          <a:bodyPr wrap="square" lIns="0" tIns="0" rIns="0" bIns="0" rtlCol="0" anchor="ctr"/>
          <a:lstStyle/>
          <a:p>
            <a:pPr marL="0" indent="0">
              <a:buNone/>
            </a:pPr>
            <a:r>
              <a:rPr lang="en-US" sz="1800" i="1" dirty="0">
                <a:solidFill>
                  <a:srgbClr val="C9D6E3"/>
                </a:solidFill>
                <a:latin typeface="Calibri" pitchFamily="34" charset="0"/>
                <a:ea typeface="Calibri" pitchFamily="34" charset="-122"/>
                <a:cs typeface="Calibri" pitchFamily="34" charset="-120"/>
              </a:rPr>
              <a:t>Data Analysis &amp; Insights</a:t>
            </a:r>
            <a:endParaRPr lang="en-US" sz="1800" dirty="0"/>
          </a:p>
        </p:txBody>
      </p:sp>
      <p:sp>
        <p:nvSpPr>
          <p:cNvPr id="9" name="Shape 7"/>
          <p:cNvSpPr/>
          <p:nvPr/>
        </p:nvSpPr>
        <p:spPr>
          <a:xfrm>
            <a:off x="822960" y="5349240"/>
            <a:ext cx="3840480" cy="0"/>
          </a:xfrm>
          <a:prstGeom prst="line">
            <a:avLst/>
          </a:prstGeom>
          <a:noFill/>
          <a:ln w="15240">
            <a:solidFill>
              <a:srgbClr val="0E7C86"/>
            </a:solidFill>
            <a:prstDash val="solid"/>
          </a:ln>
        </p:spPr>
        <p:txBody>
          <a:bodyPr/>
          <a:lstStyle/>
          <a:p>
            <a:endParaRPr lang="en-IN"/>
          </a:p>
        </p:txBody>
      </p:sp>
      <p:sp>
        <p:nvSpPr>
          <p:cNvPr id="10" name="Text 8"/>
          <p:cNvSpPr/>
          <p:nvPr/>
        </p:nvSpPr>
        <p:spPr>
          <a:xfrm>
            <a:off x="822960" y="5486400"/>
            <a:ext cx="5486400" cy="1005840"/>
          </a:xfrm>
          <a:prstGeom prst="rect">
            <a:avLst/>
          </a:prstGeom>
          <a:noFill/>
          <a:ln/>
        </p:spPr>
        <p:txBody>
          <a:bodyPr wrap="square" lIns="0" tIns="0" rIns="0" bIns="0" rtlCol="0" anchor="ctr"/>
          <a:lstStyle/>
          <a:p>
            <a:pPr marL="0" indent="0">
              <a:lnSpc>
                <a:spcPct val="135000"/>
              </a:lnSpc>
              <a:buNone/>
            </a:pPr>
            <a:r>
              <a:rPr lang="en-US" sz="1300" dirty="0">
                <a:solidFill>
                  <a:schemeClr val="tx1">
                    <a:lumMod val="95000"/>
                    <a:lumOff val="5000"/>
                  </a:schemeClr>
                </a:solidFill>
                <a:latin typeface="Calibri" pitchFamily="34" charset="0"/>
                <a:ea typeface="Calibri" pitchFamily="34" charset="-122"/>
                <a:cs typeface="Calibri" pitchFamily="34" charset="-120"/>
              </a:rPr>
              <a:t>Prepared by</a:t>
            </a:r>
            <a:r>
              <a:rPr lang="en-US" sz="1300" dirty="0">
                <a:solidFill>
                  <a:srgbClr val="8FA0B8"/>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Deepanshu sharma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txBody>
          <a:bodyPr/>
          <a:lstStyle/>
          <a:p>
            <a:endParaRPr lang="en-IN"/>
          </a:p>
        </p:txBody>
      </p:sp>
      <p:sp>
        <p:nvSpPr>
          <p:cNvPr id="3" name="Text 1"/>
          <p:cNvSpPr/>
          <p:nvPr/>
        </p:nvSpPr>
        <p:spPr>
          <a:xfrm>
            <a:off x="457200" y="384048"/>
            <a:ext cx="8686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INTRO</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marL="0" indent="0" algn="l">
              <a:buNone/>
            </a:pPr>
            <a:r>
              <a:rPr lang="en-US" sz="2200" b="1" dirty="0">
                <a:solidFill>
                  <a:srgbClr val="132347"/>
                </a:solidFill>
                <a:latin typeface="Cambria" pitchFamily="34" charset="0"/>
                <a:ea typeface="Cambria" pitchFamily="34" charset="-122"/>
                <a:cs typeface="Cambria" pitchFamily="34" charset="-120"/>
              </a:rPr>
              <a:t>About This Presentation</a:t>
            </a:r>
            <a:endParaRPr lang="en-US" sz="2200" dirty="0"/>
          </a:p>
        </p:txBody>
      </p:sp>
      <p:sp>
        <p:nvSpPr>
          <p:cNvPr id="5" name="Shape 3"/>
          <p:cNvSpPr/>
          <p:nvPr/>
        </p:nvSpPr>
        <p:spPr>
          <a:xfrm>
            <a:off x="502920" y="1463040"/>
            <a:ext cx="109728" cy="109728"/>
          </a:xfrm>
          <a:prstGeom prst="ellipse">
            <a:avLst/>
          </a:prstGeom>
          <a:solidFill>
            <a:srgbClr val="E07A2C"/>
          </a:solidFill>
          <a:ln/>
        </p:spPr>
        <p:txBody>
          <a:bodyPr/>
          <a:lstStyle/>
          <a:p>
            <a:endParaRPr lang="en-IN"/>
          </a:p>
        </p:txBody>
      </p:sp>
      <p:sp>
        <p:nvSpPr>
          <p:cNvPr id="6" name="Text 4"/>
          <p:cNvSpPr/>
          <p:nvPr/>
        </p:nvSpPr>
        <p:spPr>
          <a:xfrm>
            <a:off x="777240" y="1417320"/>
            <a:ext cx="5120640" cy="457200"/>
          </a:xfrm>
          <a:prstGeom prst="rect">
            <a:avLst/>
          </a:prstGeom>
          <a:noFill/>
          <a:ln/>
        </p:spPr>
        <p:txBody>
          <a:bodyPr wrap="square" lIns="0" tIns="0" rIns="0" bIns="0" rtlCol="0" anchor="t"/>
          <a:lstStyle/>
          <a:p>
            <a:pPr marL="0" indent="0">
              <a:buNone/>
            </a:pPr>
            <a:r>
              <a:rPr lang="en-US" sz="1350" dirty="0">
                <a:solidFill>
                  <a:srgbClr val="1B2233"/>
                </a:solidFill>
                <a:latin typeface="Calibri" pitchFamily="34" charset="0"/>
                <a:ea typeface="Calibri" pitchFamily="34" charset="-122"/>
                <a:cs typeface="Calibri" pitchFamily="34" charset="-120"/>
              </a:rPr>
              <a:t>Dataset: 526,564 Myntra product listings, 13 columns</a:t>
            </a:r>
            <a:endParaRPr lang="en-US" sz="1350" dirty="0"/>
          </a:p>
        </p:txBody>
      </p:sp>
      <p:sp>
        <p:nvSpPr>
          <p:cNvPr id="7" name="Shape 5"/>
          <p:cNvSpPr/>
          <p:nvPr/>
        </p:nvSpPr>
        <p:spPr>
          <a:xfrm>
            <a:off x="502920" y="2029968"/>
            <a:ext cx="109728" cy="109728"/>
          </a:xfrm>
          <a:prstGeom prst="ellipse">
            <a:avLst/>
          </a:prstGeom>
          <a:solidFill>
            <a:srgbClr val="E07A2C"/>
          </a:solidFill>
          <a:ln/>
        </p:spPr>
        <p:txBody>
          <a:bodyPr/>
          <a:lstStyle/>
          <a:p>
            <a:endParaRPr lang="en-IN"/>
          </a:p>
        </p:txBody>
      </p:sp>
      <p:sp>
        <p:nvSpPr>
          <p:cNvPr id="8" name="Text 6"/>
          <p:cNvSpPr/>
          <p:nvPr/>
        </p:nvSpPr>
        <p:spPr>
          <a:xfrm>
            <a:off x="777240" y="1984248"/>
            <a:ext cx="5120640" cy="457200"/>
          </a:xfrm>
          <a:prstGeom prst="rect">
            <a:avLst/>
          </a:prstGeom>
          <a:noFill/>
          <a:ln/>
        </p:spPr>
        <p:txBody>
          <a:bodyPr wrap="square" lIns="0" tIns="0" rIns="0" bIns="0" rtlCol="0" anchor="t"/>
          <a:lstStyle/>
          <a:p>
            <a:pPr marL="0" indent="0">
              <a:buNone/>
            </a:pPr>
            <a:r>
              <a:rPr lang="en-US" sz="1350" dirty="0">
                <a:solidFill>
                  <a:srgbClr val="1B2233"/>
                </a:solidFill>
                <a:latin typeface="Calibri" pitchFamily="34" charset="0"/>
                <a:ea typeface="Calibri" pitchFamily="34" charset="-122"/>
                <a:cs typeface="Calibri" pitchFamily="34" charset="-120"/>
              </a:rPr>
              <a:t>Data cleaning: duplicate check &amp; null-value audit</a:t>
            </a:r>
            <a:endParaRPr lang="en-US" sz="1350" dirty="0"/>
          </a:p>
        </p:txBody>
      </p:sp>
      <p:sp>
        <p:nvSpPr>
          <p:cNvPr id="9" name="Shape 7"/>
          <p:cNvSpPr/>
          <p:nvPr/>
        </p:nvSpPr>
        <p:spPr>
          <a:xfrm>
            <a:off x="502920" y="2596896"/>
            <a:ext cx="109728" cy="109728"/>
          </a:xfrm>
          <a:prstGeom prst="ellipse">
            <a:avLst/>
          </a:prstGeom>
          <a:solidFill>
            <a:srgbClr val="E07A2C"/>
          </a:solidFill>
          <a:ln/>
        </p:spPr>
        <p:txBody>
          <a:bodyPr/>
          <a:lstStyle/>
          <a:p>
            <a:endParaRPr lang="en-IN"/>
          </a:p>
        </p:txBody>
      </p:sp>
      <p:sp>
        <p:nvSpPr>
          <p:cNvPr id="10" name="Text 8"/>
          <p:cNvSpPr/>
          <p:nvPr/>
        </p:nvSpPr>
        <p:spPr>
          <a:xfrm>
            <a:off x="777240" y="2551176"/>
            <a:ext cx="5120640" cy="457200"/>
          </a:xfrm>
          <a:prstGeom prst="rect">
            <a:avLst/>
          </a:prstGeom>
          <a:noFill/>
          <a:ln/>
        </p:spPr>
        <p:txBody>
          <a:bodyPr wrap="square" lIns="0" tIns="0" rIns="0" bIns="0" rtlCol="0" anchor="t"/>
          <a:lstStyle/>
          <a:p>
            <a:pPr marL="0" indent="0">
              <a:buNone/>
            </a:pPr>
            <a:r>
              <a:rPr lang="en-US" sz="1350" dirty="0">
                <a:solidFill>
                  <a:srgbClr val="1B2233"/>
                </a:solidFill>
                <a:latin typeface="Calibri" pitchFamily="34" charset="0"/>
                <a:ea typeface="Calibri" pitchFamily="34" charset="-122"/>
                <a:cs typeface="Calibri" pitchFamily="34" charset="-120"/>
              </a:rPr>
              <a:t>Standardization: 4 raw discount formats unified</a:t>
            </a:r>
            <a:endParaRPr lang="en-US" sz="1350" dirty="0"/>
          </a:p>
        </p:txBody>
      </p:sp>
      <p:sp>
        <p:nvSpPr>
          <p:cNvPr id="11" name="Shape 9"/>
          <p:cNvSpPr/>
          <p:nvPr/>
        </p:nvSpPr>
        <p:spPr>
          <a:xfrm>
            <a:off x="502920" y="3163824"/>
            <a:ext cx="109728" cy="109728"/>
          </a:xfrm>
          <a:prstGeom prst="ellipse">
            <a:avLst/>
          </a:prstGeom>
          <a:solidFill>
            <a:srgbClr val="E07A2C"/>
          </a:solidFill>
          <a:ln/>
        </p:spPr>
        <p:txBody>
          <a:bodyPr/>
          <a:lstStyle/>
          <a:p>
            <a:endParaRPr lang="en-IN"/>
          </a:p>
        </p:txBody>
      </p:sp>
      <p:sp>
        <p:nvSpPr>
          <p:cNvPr id="12" name="Text 10"/>
          <p:cNvSpPr/>
          <p:nvPr/>
        </p:nvSpPr>
        <p:spPr>
          <a:xfrm>
            <a:off x="777240" y="3118104"/>
            <a:ext cx="5120640" cy="457200"/>
          </a:xfrm>
          <a:prstGeom prst="rect">
            <a:avLst/>
          </a:prstGeom>
          <a:noFill/>
          <a:ln/>
        </p:spPr>
        <p:txBody>
          <a:bodyPr wrap="square" lIns="0" tIns="0" rIns="0" bIns="0" rtlCol="0" anchor="t"/>
          <a:lstStyle/>
          <a:p>
            <a:pPr marL="0" indent="0">
              <a:buNone/>
            </a:pPr>
            <a:r>
              <a:rPr lang="en-US" sz="1350" dirty="0">
                <a:solidFill>
                  <a:srgbClr val="1B2233"/>
                </a:solidFill>
                <a:latin typeface="Calibri" pitchFamily="34" charset="0"/>
                <a:ea typeface="Calibri" pitchFamily="34" charset="-122"/>
                <a:cs typeface="Calibri" pitchFamily="34" charset="-120"/>
              </a:rPr>
              <a:t>Analysis: pricing, rating &amp; discount-behaviour metrics</a:t>
            </a:r>
            <a:endParaRPr lang="en-US" sz="1350" dirty="0"/>
          </a:p>
        </p:txBody>
      </p:sp>
      <p:sp>
        <p:nvSpPr>
          <p:cNvPr id="13" name="Shape 11"/>
          <p:cNvSpPr/>
          <p:nvPr/>
        </p:nvSpPr>
        <p:spPr>
          <a:xfrm>
            <a:off x="502920" y="3730752"/>
            <a:ext cx="109728" cy="109728"/>
          </a:xfrm>
          <a:prstGeom prst="ellipse">
            <a:avLst/>
          </a:prstGeom>
          <a:solidFill>
            <a:srgbClr val="E07A2C"/>
          </a:solidFill>
          <a:ln/>
        </p:spPr>
        <p:txBody>
          <a:bodyPr/>
          <a:lstStyle/>
          <a:p>
            <a:endParaRPr lang="en-IN"/>
          </a:p>
        </p:txBody>
      </p:sp>
      <p:sp>
        <p:nvSpPr>
          <p:cNvPr id="14" name="Text 12"/>
          <p:cNvSpPr/>
          <p:nvPr/>
        </p:nvSpPr>
        <p:spPr>
          <a:xfrm>
            <a:off x="777240" y="3685032"/>
            <a:ext cx="5120640" cy="457200"/>
          </a:xfrm>
          <a:prstGeom prst="rect">
            <a:avLst/>
          </a:prstGeom>
          <a:noFill/>
          <a:ln/>
        </p:spPr>
        <p:txBody>
          <a:bodyPr wrap="square" lIns="0" tIns="0" rIns="0" bIns="0" rtlCol="0" anchor="t"/>
          <a:lstStyle/>
          <a:p>
            <a:pPr marL="0" indent="0">
              <a:buNone/>
            </a:pPr>
            <a:r>
              <a:rPr lang="en-US" sz="1350" dirty="0">
                <a:solidFill>
                  <a:srgbClr val="1B2233"/>
                </a:solidFill>
                <a:latin typeface="Calibri" pitchFamily="34" charset="0"/>
                <a:ea typeface="Calibri" pitchFamily="34" charset="-122"/>
                <a:cs typeface="Calibri" pitchFamily="34" charset="-120"/>
              </a:rPr>
              <a:t>Lookup: VLOOKUP, INDEX-MATCH &amp; nested XLOOKUP</a:t>
            </a:r>
            <a:endParaRPr lang="en-US" sz="1350" dirty="0"/>
          </a:p>
        </p:txBody>
      </p:sp>
      <p:sp>
        <p:nvSpPr>
          <p:cNvPr id="15" name="Shape 13"/>
          <p:cNvSpPr/>
          <p:nvPr/>
        </p:nvSpPr>
        <p:spPr>
          <a:xfrm>
            <a:off x="6949440" y="1143000"/>
            <a:ext cx="3840480" cy="512064"/>
          </a:xfrm>
          <a:prstGeom prst="roundRect">
            <a:avLst>
              <a:gd name="adj" fmla="val 10714"/>
            </a:avLst>
          </a:prstGeom>
          <a:solidFill>
            <a:srgbClr val="132347"/>
          </a:solidFill>
          <a:ln w="12700">
            <a:solidFill>
              <a:srgbClr val="0E7C86"/>
            </a:solidFill>
            <a:prstDash val="solid"/>
          </a:ln>
        </p:spPr>
        <p:txBody>
          <a:bodyPr/>
          <a:lstStyle/>
          <a:p>
            <a:endParaRPr lang="en-IN"/>
          </a:p>
        </p:txBody>
      </p:sp>
      <p:sp>
        <p:nvSpPr>
          <p:cNvPr id="16" name="Text 14"/>
          <p:cNvSpPr/>
          <p:nvPr/>
        </p:nvSpPr>
        <p:spPr>
          <a:xfrm>
            <a:off x="7040880" y="1143000"/>
            <a:ext cx="3657600"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RAW DATA</a:t>
            </a:r>
            <a:endParaRPr lang="en-US" sz="1100" dirty="0"/>
          </a:p>
        </p:txBody>
      </p:sp>
      <p:sp>
        <p:nvSpPr>
          <p:cNvPr id="17" name="Shape 15"/>
          <p:cNvSpPr/>
          <p:nvPr/>
        </p:nvSpPr>
        <p:spPr>
          <a:xfrm>
            <a:off x="8787384" y="1685239"/>
            <a:ext cx="164592" cy="140818"/>
          </a:xfrm>
          <a:prstGeom prst="downArrow">
            <a:avLst/>
          </a:prstGeom>
          <a:solidFill>
            <a:srgbClr val="0E7C86"/>
          </a:solidFill>
          <a:ln/>
        </p:spPr>
        <p:txBody>
          <a:bodyPr/>
          <a:lstStyle/>
          <a:p>
            <a:endParaRPr lang="en-IN"/>
          </a:p>
        </p:txBody>
      </p:sp>
      <p:sp>
        <p:nvSpPr>
          <p:cNvPr id="18" name="Shape 16"/>
          <p:cNvSpPr/>
          <p:nvPr/>
        </p:nvSpPr>
        <p:spPr>
          <a:xfrm>
            <a:off x="6949440" y="1856232"/>
            <a:ext cx="3840480" cy="512064"/>
          </a:xfrm>
          <a:prstGeom prst="roundRect">
            <a:avLst>
              <a:gd name="adj" fmla="val 10714"/>
            </a:avLst>
          </a:prstGeom>
          <a:solidFill>
            <a:srgbClr val="E5F3F2"/>
          </a:solidFill>
          <a:ln w="12700">
            <a:solidFill>
              <a:srgbClr val="0E7C86"/>
            </a:solidFill>
            <a:prstDash val="solid"/>
          </a:ln>
        </p:spPr>
        <p:txBody>
          <a:bodyPr/>
          <a:lstStyle/>
          <a:p>
            <a:endParaRPr lang="en-IN"/>
          </a:p>
        </p:txBody>
      </p:sp>
      <p:sp>
        <p:nvSpPr>
          <p:cNvPr id="19" name="Text 17"/>
          <p:cNvSpPr/>
          <p:nvPr/>
        </p:nvSpPr>
        <p:spPr>
          <a:xfrm>
            <a:off x="7040880" y="1856232"/>
            <a:ext cx="3657600" cy="512064"/>
          </a:xfrm>
          <a:prstGeom prst="rect">
            <a:avLst/>
          </a:prstGeom>
          <a:noFill/>
          <a:ln/>
        </p:spPr>
        <p:txBody>
          <a:bodyPr wrap="square" lIns="0" tIns="0" rIns="0" bIns="0" rtlCol="0" anchor="ctr"/>
          <a:lstStyle/>
          <a:p>
            <a:pPr marL="0" indent="0" algn="ctr">
              <a:buNone/>
            </a:pPr>
            <a:r>
              <a:rPr lang="en-US" sz="1100" b="1" dirty="0">
                <a:solidFill>
                  <a:srgbClr val="132347"/>
                </a:solidFill>
                <a:latin typeface="Calibri" pitchFamily="34" charset="0"/>
                <a:ea typeface="Calibri" pitchFamily="34" charset="-122"/>
                <a:cs typeface="Calibri" pitchFamily="34" charset="-120"/>
              </a:rPr>
              <a:t>DATA CLEANING</a:t>
            </a:r>
            <a:endParaRPr lang="en-US" sz="1100" dirty="0"/>
          </a:p>
        </p:txBody>
      </p:sp>
      <p:sp>
        <p:nvSpPr>
          <p:cNvPr id="20" name="Shape 18"/>
          <p:cNvSpPr/>
          <p:nvPr/>
        </p:nvSpPr>
        <p:spPr>
          <a:xfrm>
            <a:off x="8787384" y="2398471"/>
            <a:ext cx="164592" cy="140818"/>
          </a:xfrm>
          <a:prstGeom prst="downArrow">
            <a:avLst/>
          </a:prstGeom>
          <a:solidFill>
            <a:srgbClr val="0E7C86"/>
          </a:solidFill>
          <a:ln/>
        </p:spPr>
        <p:txBody>
          <a:bodyPr/>
          <a:lstStyle/>
          <a:p>
            <a:endParaRPr lang="en-IN"/>
          </a:p>
        </p:txBody>
      </p:sp>
      <p:sp>
        <p:nvSpPr>
          <p:cNvPr id="21" name="Shape 19"/>
          <p:cNvSpPr/>
          <p:nvPr/>
        </p:nvSpPr>
        <p:spPr>
          <a:xfrm>
            <a:off x="6949440" y="2569464"/>
            <a:ext cx="3840480" cy="512064"/>
          </a:xfrm>
          <a:prstGeom prst="roundRect">
            <a:avLst>
              <a:gd name="adj" fmla="val 10714"/>
            </a:avLst>
          </a:prstGeom>
          <a:solidFill>
            <a:srgbClr val="E5F3F2"/>
          </a:solidFill>
          <a:ln w="12700">
            <a:solidFill>
              <a:srgbClr val="0E7C86"/>
            </a:solidFill>
            <a:prstDash val="solid"/>
          </a:ln>
        </p:spPr>
        <p:txBody>
          <a:bodyPr/>
          <a:lstStyle/>
          <a:p>
            <a:endParaRPr lang="en-IN"/>
          </a:p>
        </p:txBody>
      </p:sp>
      <p:sp>
        <p:nvSpPr>
          <p:cNvPr id="22" name="Text 20"/>
          <p:cNvSpPr/>
          <p:nvPr/>
        </p:nvSpPr>
        <p:spPr>
          <a:xfrm>
            <a:off x="7040880" y="2569464"/>
            <a:ext cx="3657600" cy="512064"/>
          </a:xfrm>
          <a:prstGeom prst="rect">
            <a:avLst/>
          </a:prstGeom>
          <a:noFill/>
          <a:ln/>
        </p:spPr>
        <p:txBody>
          <a:bodyPr wrap="square" lIns="0" tIns="0" rIns="0" bIns="0" rtlCol="0" anchor="ctr"/>
          <a:lstStyle/>
          <a:p>
            <a:pPr marL="0" indent="0" algn="ctr">
              <a:buNone/>
            </a:pPr>
            <a:r>
              <a:rPr lang="en-US" sz="1100" b="1" dirty="0">
                <a:solidFill>
                  <a:srgbClr val="132347"/>
                </a:solidFill>
                <a:latin typeface="Calibri" pitchFamily="34" charset="0"/>
                <a:ea typeface="Calibri" pitchFamily="34" charset="-122"/>
                <a:cs typeface="Calibri" pitchFamily="34" charset="-120"/>
              </a:rPr>
              <a:t>STANDARDIZATION</a:t>
            </a:r>
            <a:endParaRPr lang="en-US" sz="1100" dirty="0"/>
          </a:p>
        </p:txBody>
      </p:sp>
      <p:sp>
        <p:nvSpPr>
          <p:cNvPr id="23" name="Shape 21"/>
          <p:cNvSpPr/>
          <p:nvPr/>
        </p:nvSpPr>
        <p:spPr>
          <a:xfrm>
            <a:off x="8787384" y="3111703"/>
            <a:ext cx="164592" cy="140818"/>
          </a:xfrm>
          <a:prstGeom prst="downArrow">
            <a:avLst/>
          </a:prstGeom>
          <a:solidFill>
            <a:srgbClr val="0E7C86"/>
          </a:solidFill>
          <a:ln/>
        </p:spPr>
        <p:txBody>
          <a:bodyPr/>
          <a:lstStyle/>
          <a:p>
            <a:endParaRPr lang="en-IN"/>
          </a:p>
        </p:txBody>
      </p:sp>
      <p:sp>
        <p:nvSpPr>
          <p:cNvPr id="24" name="Shape 22"/>
          <p:cNvSpPr/>
          <p:nvPr/>
        </p:nvSpPr>
        <p:spPr>
          <a:xfrm>
            <a:off x="6949440" y="3282696"/>
            <a:ext cx="3840480" cy="512064"/>
          </a:xfrm>
          <a:prstGeom prst="roundRect">
            <a:avLst>
              <a:gd name="adj" fmla="val 10714"/>
            </a:avLst>
          </a:prstGeom>
          <a:solidFill>
            <a:srgbClr val="E5F3F2"/>
          </a:solidFill>
          <a:ln w="12700">
            <a:solidFill>
              <a:srgbClr val="0E7C86"/>
            </a:solidFill>
            <a:prstDash val="solid"/>
          </a:ln>
        </p:spPr>
        <p:txBody>
          <a:bodyPr/>
          <a:lstStyle/>
          <a:p>
            <a:endParaRPr lang="en-IN"/>
          </a:p>
        </p:txBody>
      </p:sp>
      <p:sp>
        <p:nvSpPr>
          <p:cNvPr id="25" name="Text 23"/>
          <p:cNvSpPr/>
          <p:nvPr/>
        </p:nvSpPr>
        <p:spPr>
          <a:xfrm>
            <a:off x="7040880" y="3282696"/>
            <a:ext cx="3657600" cy="512064"/>
          </a:xfrm>
          <a:prstGeom prst="rect">
            <a:avLst/>
          </a:prstGeom>
          <a:noFill/>
          <a:ln/>
        </p:spPr>
        <p:txBody>
          <a:bodyPr wrap="square" lIns="0" tIns="0" rIns="0" bIns="0" rtlCol="0" anchor="ctr"/>
          <a:lstStyle/>
          <a:p>
            <a:pPr marL="0" indent="0" algn="ctr">
              <a:buNone/>
            </a:pPr>
            <a:r>
              <a:rPr lang="en-US" sz="1100" b="1" dirty="0">
                <a:solidFill>
                  <a:srgbClr val="132347"/>
                </a:solidFill>
                <a:latin typeface="Calibri" pitchFamily="34" charset="0"/>
                <a:ea typeface="Calibri" pitchFamily="34" charset="-122"/>
                <a:cs typeface="Calibri" pitchFamily="34" charset="-120"/>
              </a:rPr>
              <a:t>DATA ANALYSIS</a:t>
            </a:r>
            <a:endParaRPr lang="en-US" sz="1100" dirty="0"/>
          </a:p>
        </p:txBody>
      </p:sp>
      <p:sp>
        <p:nvSpPr>
          <p:cNvPr id="26" name="Shape 24"/>
          <p:cNvSpPr/>
          <p:nvPr/>
        </p:nvSpPr>
        <p:spPr>
          <a:xfrm>
            <a:off x="8787384" y="3824935"/>
            <a:ext cx="164592" cy="140818"/>
          </a:xfrm>
          <a:prstGeom prst="downArrow">
            <a:avLst/>
          </a:prstGeom>
          <a:solidFill>
            <a:srgbClr val="0E7C86"/>
          </a:solidFill>
          <a:ln/>
        </p:spPr>
        <p:txBody>
          <a:bodyPr/>
          <a:lstStyle/>
          <a:p>
            <a:endParaRPr lang="en-IN"/>
          </a:p>
        </p:txBody>
      </p:sp>
      <p:sp>
        <p:nvSpPr>
          <p:cNvPr id="27" name="Shape 25"/>
          <p:cNvSpPr/>
          <p:nvPr/>
        </p:nvSpPr>
        <p:spPr>
          <a:xfrm>
            <a:off x="6949440" y="3995928"/>
            <a:ext cx="3840480" cy="512064"/>
          </a:xfrm>
          <a:prstGeom prst="roundRect">
            <a:avLst>
              <a:gd name="adj" fmla="val 10714"/>
            </a:avLst>
          </a:prstGeom>
          <a:solidFill>
            <a:srgbClr val="E5F3F2"/>
          </a:solidFill>
          <a:ln w="12700">
            <a:solidFill>
              <a:srgbClr val="0E7C86"/>
            </a:solidFill>
            <a:prstDash val="solid"/>
          </a:ln>
        </p:spPr>
        <p:txBody>
          <a:bodyPr/>
          <a:lstStyle/>
          <a:p>
            <a:endParaRPr lang="en-IN"/>
          </a:p>
        </p:txBody>
      </p:sp>
      <p:sp>
        <p:nvSpPr>
          <p:cNvPr id="28" name="Text 26"/>
          <p:cNvSpPr/>
          <p:nvPr/>
        </p:nvSpPr>
        <p:spPr>
          <a:xfrm>
            <a:off x="7040880" y="3995928"/>
            <a:ext cx="3657600" cy="512064"/>
          </a:xfrm>
          <a:prstGeom prst="rect">
            <a:avLst/>
          </a:prstGeom>
          <a:noFill/>
          <a:ln/>
        </p:spPr>
        <p:txBody>
          <a:bodyPr wrap="square" lIns="0" tIns="0" rIns="0" bIns="0" rtlCol="0" anchor="ctr"/>
          <a:lstStyle/>
          <a:p>
            <a:pPr marL="0" indent="0" algn="ctr">
              <a:buNone/>
            </a:pPr>
            <a:r>
              <a:rPr lang="en-US" sz="1100" b="1" dirty="0">
                <a:solidFill>
                  <a:srgbClr val="132347"/>
                </a:solidFill>
                <a:latin typeface="Calibri" pitchFamily="34" charset="0"/>
                <a:ea typeface="Calibri" pitchFamily="34" charset="-122"/>
                <a:cs typeface="Calibri" pitchFamily="34" charset="-120"/>
              </a:rPr>
              <a:t>LOOKUP FUNCTIONS</a:t>
            </a:r>
            <a:endParaRPr lang="en-US" sz="1100" dirty="0"/>
          </a:p>
        </p:txBody>
      </p:sp>
      <p:sp>
        <p:nvSpPr>
          <p:cNvPr id="29" name="Shape 27"/>
          <p:cNvSpPr/>
          <p:nvPr/>
        </p:nvSpPr>
        <p:spPr>
          <a:xfrm>
            <a:off x="8787384" y="4538167"/>
            <a:ext cx="164592" cy="140818"/>
          </a:xfrm>
          <a:prstGeom prst="downArrow">
            <a:avLst/>
          </a:prstGeom>
          <a:solidFill>
            <a:srgbClr val="0E7C86"/>
          </a:solidFill>
          <a:ln/>
        </p:spPr>
        <p:txBody>
          <a:bodyPr/>
          <a:lstStyle/>
          <a:p>
            <a:endParaRPr lang="en-IN"/>
          </a:p>
        </p:txBody>
      </p:sp>
      <p:sp>
        <p:nvSpPr>
          <p:cNvPr id="30" name="Shape 28"/>
          <p:cNvSpPr/>
          <p:nvPr/>
        </p:nvSpPr>
        <p:spPr>
          <a:xfrm>
            <a:off x="6949440" y="4709160"/>
            <a:ext cx="3840480" cy="512064"/>
          </a:xfrm>
          <a:prstGeom prst="roundRect">
            <a:avLst>
              <a:gd name="adj" fmla="val 10714"/>
            </a:avLst>
          </a:prstGeom>
          <a:solidFill>
            <a:srgbClr val="0E7C86"/>
          </a:solidFill>
          <a:ln w="12700">
            <a:solidFill>
              <a:srgbClr val="0E7C86"/>
            </a:solidFill>
            <a:prstDash val="solid"/>
          </a:ln>
        </p:spPr>
        <p:txBody>
          <a:bodyPr/>
          <a:lstStyle/>
          <a:p>
            <a:endParaRPr lang="en-IN"/>
          </a:p>
        </p:txBody>
      </p:sp>
      <p:sp>
        <p:nvSpPr>
          <p:cNvPr id="31" name="Text 29"/>
          <p:cNvSpPr/>
          <p:nvPr/>
        </p:nvSpPr>
        <p:spPr>
          <a:xfrm>
            <a:off x="7040880" y="4709160"/>
            <a:ext cx="3657600"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FINAL INSIGHTS</a:t>
            </a:r>
            <a:endParaRPr lang="en-US" sz="1100" dirty="0"/>
          </a:p>
        </p:txBody>
      </p:sp>
      <p:sp>
        <p:nvSpPr>
          <p:cNvPr id="32" name="Text 30"/>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7484"/>
                </a:solidFill>
                <a:latin typeface="Calibri" pitchFamily="34" charset="0"/>
                <a:ea typeface="Calibri" pitchFamily="34" charset="-122"/>
                <a:cs typeface="Calibri" pitchFamily="34" charset="-120"/>
              </a:rPr>
              <a:t>About This Presentation</a:t>
            </a:r>
            <a:endParaRPr lang="en-US" sz="900" dirty="0"/>
          </a:p>
        </p:txBody>
      </p:sp>
      <p:sp>
        <p:nvSpPr>
          <p:cNvPr id="33" name="Text 31"/>
          <p:cNvSpPr/>
          <p:nvPr/>
        </p:nvSpPr>
        <p:spPr>
          <a:xfrm>
            <a:off x="11000232" y="6473952"/>
            <a:ext cx="822960" cy="274320"/>
          </a:xfrm>
          <a:prstGeom prst="rect">
            <a:avLst/>
          </a:prstGeom>
          <a:noFill/>
          <a:ln/>
        </p:spPr>
        <p:txBody>
          <a:bodyPr wrap="square" rtlCol="0" anchor="ctr"/>
          <a:lstStyle/>
          <a:p>
            <a:pPr marL="0" indent="0" algn="r">
              <a:buNone/>
            </a:pPr>
            <a:r>
              <a:rPr lang="en-US" sz="900" dirty="0">
                <a:solidFill>
                  <a:srgbClr val="6B7484"/>
                </a:solidFill>
                <a:latin typeface="Calibri" pitchFamily="34" charset="0"/>
                <a:ea typeface="Calibri" pitchFamily="34" charset="-122"/>
                <a:cs typeface="Calibri" pitchFamily="34" charset="-120"/>
              </a:rPr>
              <a:t>02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txBody>
          <a:bodyPr/>
          <a:lstStyle/>
          <a:p>
            <a:endParaRPr lang="en-IN"/>
          </a:p>
        </p:txBody>
      </p:sp>
      <p:sp>
        <p:nvSpPr>
          <p:cNvPr id="3" name="Text 1"/>
          <p:cNvSpPr/>
          <p:nvPr/>
        </p:nvSpPr>
        <p:spPr>
          <a:xfrm>
            <a:off x="457200" y="384048"/>
            <a:ext cx="8686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 · Q1</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marL="0" indent="0" algn="l">
              <a:buNone/>
            </a:pPr>
            <a:r>
              <a:rPr lang="en-US" sz="2200" b="1" dirty="0">
                <a:solidFill>
                  <a:srgbClr val="132347"/>
                </a:solidFill>
                <a:latin typeface="Cambria" pitchFamily="34" charset="0"/>
                <a:ea typeface="Cambria" pitchFamily="34" charset="-122"/>
                <a:cs typeface="Cambria" pitchFamily="34" charset="-120"/>
              </a:rPr>
              <a:t>Check for Duplicate Values and Remove Them</a:t>
            </a:r>
            <a:endParaRPr lang="en-US" sz="2200" dirty="0"/>
          </a:p>
        </p:txBody>
      </p:sp>
      <p:sp>
        <p:nvSpPr>
          <p:cNvPr id="5" name="Shape 3"/>
          <p:cNvSpPr/>
          <p:nvPr/>
        </p:nvSpPr>
        <p:spPr>
          <a:xfrm>
            <a:off x="457200" y="1097280"/>
            <a:ext cx="10817352" cy="566928"/>
          </a:xfrm>
          <a:prstGeom prst="roundRect">
            <a:avLst>
              <a:gd name="adj" fmla="val 9677"/>
            </a:avLst>
          </a:prstGeom>
          <a:solidFill>
            <a:srgbClr val="E5F3F2"/>
          </a:solidFill>
          <a:ln/>
        </p:spPr>
        <p:txBody>
          <a:bodyPr/>
          <a:lstStyle/>
          <a:p>
            <a:endParaRPr lang="en-IN"/>
          </a:p>
        </p:txBody>
      </p:sp>
      <p:sp>
        <p:nvSpPr>
          <p:cNvPr id="6" name="Text 4"/>
          <p:cNvSpPr/>
          <p:nvPr/>
        </p:nvSpPr>
        <p:spPr>
          <a:xfrm>
            <a:off x="640080" y="1097280"/>
            <a:ext cx="10424160" cy="566928"/>
          </a:xfrm>
          <a:prstGeom prst="rect">
            <a:avLst/>
          </a:prstGeom>
          <a:noFill/>
          <a:ln/>
        </p:spPr>
        <p:txBody>
          <a:bodyPr wrap="square" lIns="0" tIns="0" rIns="0" bIns="0" rtlCol="0" anchor="ctr"/>
          <a:lstStyle/>
          <a:p>
            <a:pPr marL="0" indent="0">
              <a:buNone/>
            </a:pPr>
            <a:r>
              <a:rPr lang="en-US" sz="1300" i="1" dirty="0">
                <a:solidFill>
                  <a:srgbClr val="132347"/>
                </a:solidFill>
                <a:latin typeface="Calibri" pitchFamily="34" charset="0"/>
                <a:ea typeface="Calibri" pitchFamily="34" charset="-122"/>
                <a:cs typeface="Calibri" pitchFamily="34" charset="-120"/>
              </a:rPr>
              <a:t>"Check for duplicate values in your dataset and remove them."</a:t>
            </a:r>
            <a:endParaRPr lang="en-US" sz="1300" dirty="0"/>
          </a:p>
        </p:txBody>
      </p:sp>
      <p:sp>
        <p:nvSpPr>
          <p:cNvPr id="7" name="Shape 5"/>
          <p:cNvSpPr/>
          <p:nvPr/>
        </p:nvSpPr>
        <p:spPr>
          <a:xfrm>
            <a:off x="457200" y="1965960"/>
            <a:ext cx="3108960" cy="1554480"/>
          </a:xfrm>
          <a:prstGeom prst="roundRect">
            <a:avLst>
              <a:gd name="adj" fmla="val 5882"/>
            </a:avLst>
          </a:prstGeom>
          <a:solidFill>
            <a:srgbClr val="132347"/>
          </a:solidFill>
          <a:ln/>
          <a:effectLst>
            <a:outerShdw blurRad="76200" dist="38100" dir="5400000" algn="bl" rotWithShape="0">
              <a:srgbClr val="1B2233">
                <a:alpha val="25000"/>
              </a:srgbClr>
            </a:outerShdw>
          </a:effectLst>
        </p:spPr>
        <p:txBody>
          <a:bodyPr/>
          <a:lstStyle/>
          <a:p>
            <a:endParaRPr lang="en-IN"/>
          </a:p>
        </p:txBody>
      </p:sp>
      <p:sp>
        <p:nvSpPr>
          <p:cNvPr id="8" name="Text 6"/>
          <p:cNvSpPr/>
          <p:nvPr/>
        </p:nvSpPr>
        <p:spPr>
          <a:xfrm>
            <a:off x="685800" y="2130552"/>
            <a:ext cx="2651760" cy="274320"/>
          </a:xfrm>
          <a:prstGeom prst="rect">
            <a:avLst/>
          </a:prstGeom>
          <a:noFill/>
          <a:ln/>
        </p:spPr>
        <p:txBody>
          <a:bodyPr wrap="square" lIns="0" tIns="0" rIns="0" bIns="0" rtlCol="0" anchor="ctr"/>
          <a:lstStyle/>
          <a:p>
            <a:pPr marL="0" indent="0" algn="l">
              <a:buNone/>
            </a:pPr>
            <a:r>
              <a:rPr lang="en-US" sz="1100" b="1" kern="0" spc="100" dirty="0">
                <a:solidFill>
                  <a:srgbClr val="17A398"/>
                </a:solidFill>
                <a:latin typeface="Calibri" pitchFamily="34" charset="0"/>
                <a:ea typeface="Calibri" pitchFamily="34" charset="-122"/>
                <a:cs typeface="Calibri" pitchFamily="34" charset="-120"/>
              </a:rPr>
              <a:t>DUPLICATE ROWS FOUND</a:t>
            </a:r>
            <a:endParaRPr lang="en-US" sz="1100" dirty="0"/>
          </a:p>
        </p:txBody>
      </p:sp>
      <p:sp>
        <p:nvSpPr>
          <p:cNvPr id="9" name="Text 7"/>
          <p:cNvSpPr/>
          <p:nvPr/>
        </p:nvSpPr>
        <p:spPr>
          <a:xfrm>
            <a:off x="685800" y="2350008"/>
            <a:ext cx="2651760" cy="86868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0</a:t>
            </a:r>
            <a:endParaRPr lang="en-US" sz="3400" dirty="0"/>
          </a:p>
        </p:txBody>
      </p:sp>
      <p:sp>
        <p:nvSpPr>
          <p:cNvPr id="10" name="Text 8"/>
          <p:cNvSpPr/>
          <p:nvPr/>
        </p:nvSpPr>
        <p:spPr>
          <a:xfrm>
            <a:off x="685800" y="3191256"/>
            <a:ext cx="2651760" cy="274320"/>
          </a:xfrm>
          <a:prstGeom prst="rect">
            <a:avLst/>
          </a:prstGeom>
          <a:noFill/>
          <a:ln/>
        </p:spPr>
        <p:txBody>
          <a:bodyPr wrap="square" lIns="0" tIns="0" rIns="0" bIns="0" rtlCol="0" anchor="ctr"/>
          <a:lstStyle/>
          <a:p>
            <a:pPr marL="0" indent="0" algn="l">
              <a:buNone/>
            </a:pPr>
            <a:r>
              <a:rPr lang="en-US" sz="1050" dirty="0">
                <a:solidFill>
                  <a:srgbClr val="C9D6E3"/>
                </a:solidFill>
                <a:latin typeface="Calibri" pitchFamily="34" charset="0"/>
                <a:ea typeface="Calibri" pitchFamily="34" charset="-122"/>
                <a:cs typeface="Calibri" pitchFamily="34" charset="-120"/>
              </a:rPr>
              <a:t>checked full row + Product_id</a:t>
            </a:r>
            <a:endParaRPr lang="en-US" sz="1050" dirty="0"/>
          </a:p>
        </p:txBody>
      </p:sp>
      <p:sp>
        <p:nvSpPr>
          <p:cNvPr id="11" name="Shape 9"/>
          <p:cNvSpPr/>
          <p:nvPr/>
        </p:nvSpPr>
        <p:spPr>
          <a:xfrm>
            <a:off x="3794760" y="1965960"/>
            <a:ext cx="3108960" cy="1554480"/>
          </a:xfrm>
          <a:prstGeom prst="roundRect">
            <a:avLst>
              <a:gd name="adj" fmla="val 5882"/>
            </a:avLst>
          </a:prstGeom>
          <a:solidFill>
            <a:srgbClr val="132347"/>
          </a:solidFill>
          <a:ln/>
          <a:effectLst>
            <a:outerShdw blurRad="76200" dist="38100" dir="5400000" algn="bl" rotWithShape="0">
              <a:srgbClr val="1B2233">
                <a:alpha val="25000"/>
              </a:srgbClr>
            </a:outerShdw>
          </a:effectLst>
        </p:spPr>
        <p:txBody>
          <a:bodyPr/>
          <a:lstStyle/>
          <a:p>
            <a:endParaRPr lang="en-IN"/>
          </a:p>
        </p:txBody>
      </p:sp>
      <p:sp>
        <p:nvSpPr>
          <p:cNvPr id="12" name="Text 10"/>
          <p:cNvSpPr/>
          <p:nvPr/>
        </p:nvSpPr>
        <p:spPr>
          <a:xfrm>
            <a:off x="4023360" y="2130552"/>
            <a:ext cx="2651760" cy="274320"/>
          </a:xfrm>
          <a:prstGeom prst="rect">
            <a:avLst/>
          </a:prstGeom>
          <a:noFill/>
          <a:ln/>
        </p:spPr>
        <p:txBody>
          <a:bodyPr wrap="square" lIns="0" tIns="0" rIns="0" bIns="0" rtlCol="0" anchor="ctr"/>
          <a:lstStyle/>
          <a:p>
            <a:pPr marL="0" indent="0" algn="l">
              <a:buNone/>
            </a:pPr>
            <a:r>
              <a:rPr lang="en-US" sz="1100" b="1" kern="0" spc="100" dirty="0">
                <a:solidFill>
                  <a:srgbClr val="17A398"/>
                </a:solidFill>
                <a:latin typeface="Calibri" pitchFamily="34" charset="0"/>
                <a:ea typeface="Calibri" pitchFamily="34" charset="-122"/>
                <a:cs typeface="Calibri" pitchFamily="34" charset="-120"/>
              </a:rPr>
              <a:t>TOTAL RECORDS CHECKED</a:t>
            </a:r>
            <a:endParaRPr lang="en-US" sz="1100" dirty="0"/>
          </a:p>
        </p:txBody>
      </p:sp>
      <p:sp>
        <p:nvSpPr>
          <p:cNvPr id="13" name="Text 11"/>
          <p:cNvSpPr/>
          <p:nvPr/>
        </p:nvSpPr>
        <p:spPr>
          <a:xfrm>
            <a:off x="4023360" y="2350008"/>
            <a:ext cx="2651760" cy="86868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526,564</a:t>
            </a:r>
            <a:endParaRPr lang="en-US" sz="3400" dirty="0"/>
          </a:p>
        </p:txBody>
      </p:sp>
      <p:sp>
        <p:nvSpPr>
          <p:cNvPr id="14" name="Text 12"/>
          <p:cNvSpPr/>
          <p:nvPr/>
        </p:nvSpPr>
        <p:spPr>
          <a:xfrm>
            <a:off x="4023360" y="3191256"/>
            <a:ext cx="2651760" cy="274320"/>
          </a:xfrm>
          <a:prstGeom prst="rect">
            <a:avLst/>
          </a:prstGeom>
          <a:noFill/>
          <a:ln/>
        </p:spPr>
        <p:txBody>
          <a:bodyPr wrap="square" lIns="0" tIns="0" rIns="0" bIns="0" rtlCol="0" anchor="ctr"/>
          <a:lstStyle/>
          <a:p>
            <a:pPr marL="0" indent="0" algn="l">
              <a:buNone/>
            </a:pPr>
            <a:r>
              <a:rPr lang="en-US" sz="1050" dirty="0">
                <a:solidFill>
                  <a:srgbClr val="C9D6E3"/>
                </a:solidFill>
                <a:latin typeface="Calibri" pitchFamily="34" charset="0"/>
                <a:ea typeface="Calibri" pitchFamily="34" charset="-122"/>
                <a:cs typeface="Calibri" pitchFamily="34" charset="-120"/>
              </a:rPr>
              <a:t>across 13 columns</a:t>
            </a:r>
            <a:endParaRPr lang="en-US" sz="1050" dirty="0"/>
          </a:p>
        </p:txBody>
      </p:sp>
      <p:sp>
        <p:nvSpPr>
          <p:cNvPr id="15" name="Shape 13"/>
          <p:cNvSpPr/>
          <p:nvPr/>
        </p:nvSpPr>
        <p:spPr>
          <a:xfrm>
            <a:off x="7360920" y="1965960"/>
            <a:ext cx="1554480" cy="1554480"/>
          </a:xfrm>
          <a:prstGeom prst="ellipse">
            <a:avLst/>
          </a:prstGeom>
          <a:solidFill>
            <a:srgbClr val="0E7C86"/>
          </a:solidFill>
          <a:ln/>
        </p:spPr>
        <p:txBody>
          <a:bodyPr/>
          <a:lstStyle/>
          <a:p>
            <a:endParaRPr lang="en-IN"/>
          </a:p>
        </p:txBody>
      </p:sp>
      <p:sp>
        <p:nvSpPr>
          <p:cNvPr id="16" name="Text 14"/>
          <p:cNvSpPr/>
          <p:nvPr/>
        </p:nvSpPr>
        <p:spPr>
          <a:xfrm>
            <a:off x="7360920" y="1965960"/>
            <a:ext cx="1554480" cy="1554480"/>
          </a:xfrm>
          <a:prstGeom prst="rect">
            <a:avLst/>
          </a:prstGeom>
          <a:noFill/>
          <a:ln/>
        </p:spPr>
        <p:txBody>
          <a:bodyPr wrap="square" lIns="0" tIns="0" rIns="0" bIns="0"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a:t>
            </a:r>
            <a:endParaRPr lang="en-US" sz="6000" dirty="0"/>
          </a:p>
        </p:txBody>
      </p:sp>
      <p:sp>
        <p:nvSpPr>
          <p:cNvPr id="17" name="Text 15"/>
          <p:cNvSpPr/>
          <p:nvPr/>
        </p:nvSpPr>
        <p:spPr>
          <a:xfrm>
            <a:off x="7360920" y="3566160"/>
            <a:ext cx="3474720" cy="365760"/>
          </a:xfrm>
          <a:prstGeom prst="rect">
            <a:avLst/>
          </a:prstGeom>
          <a:noFill/>
          <a:ln/>
        </p:spPr>
        <p:txBody>
          <a:bodyPr wrap="square" lIns="0" tIns="0" rIns="0" bIns="0" rtlCol="0" anchor="ctr"/>
          <a:lstStyle/>
          <a:p>
            <a:pPr marL="0" indent="0" algn="ctr">
              <a:buNone/>
            </a:pPr>
            <a:r>
              <a:rPr lang="en-US" sz="1150" b="1" dirty="0">
                <a:solidFill>
                  <a:srgbClr val="0E7C86"/>
                </a:solidFill>
                <a:latin typeface="Calibri" pitchFamily="34" charset="0"/>
                <a:ea typeface="Calibri" pitchFamily="34" charset="-122"/>
                <a:cs typeface="Calibri" pitchFamily="34" charset="-120"/>
              </a:rPr>
              <a:t>Final status: unique dataset</a:t>
            </a:r>
            <a:endParaRPr lang="en-US" sz="1150" dirty="0"/>
          </a:p>
        </p:txBody>
      </p:sp>
      <p:sp>
        <p:nvSpPr>
          <p:cNvPr id="18" name="Text 16"/>
          <p:cNvSpPr/>
          <p:nvPr/>
        </p:nvSpPr>
        <p:spPr>
          <a:xfrm>
            <a:off x="457200" y="4160520"/>
            <a:ext cx="6583680" cy="274320"/>
          </a:xfrm>
          <a:prstGeom prst="rect">
            <a:avLst/>
          </a:prstGeom>
          <a:noFill/>
          <a:ln/>
        </p:spPr>
        <p:txBody>
          <a:bodyPr wrap="square" lIns="0" tIns="0" rIns="0" bIns="0" rtlCol="0" anchor="ctr"/>
          <a:lstStyle/>
          <a:p>
            <a:pPr marL="0" indent="0">
              <a:buNone/>
            </a:pPr>
            <a:r>
              <a:rPr lang="en-US" sz="1100" b="1" dirty="0">
                <a:solidFill>
                  <a:srgbClr val="132347"/>
                </a:solidFill>
                <a:latin typeface="Calibri" pitchFamily="34" charset="0"/>
                <a:ea typeface="Calibri" pitchFamily="34" charset="-122"/>
                <a:cs typeface="Calibri" pitchFamily="34" charset="-120"/>
              </a:rPr>
              <a:t>DATASET → CHECK DUPLICATES → DUPLICATES FOUND?</a:t>
            </a:r>
            <a:endParaRPr lang="en-US" sz="1100" dirty="0"/>
          </a:p>
        </p:txBody>
      </p:sp>
      <p:sp>
        <p:nvSpPr>
          <p:cNvPr id="19" name="Shape 17"/>
          <p:cNvSpPr/>
          <p:nvPr/>
        </p:nvSpPr>
        <p:spPr>
          <a:xfrm>
            <a:off x="457200" y="4526280"/>
            <a:ext cx="3017520" cy="502920"/>
          </a:xfrm>
          <a:prstGeom prst="roundRect">
            <a:avLst>
              <a:gd name="adj" fmla="val 10909"/>
            </a:avLst>
          </a:prstGeom>
          <a:solidFill>
            <a:srgbClr val="6B7484"/>
          </a:solidFill>
          <a:ln/>
        </p:spPr>
        <p:txBody>
          <a:bodyPr/>
          <a:lstStyle/>
          <a:p>
            <a:endParaRPr lang="en-IN"/>
          </a:p>
        </p:txBody>
      </p:sp>
      <p:sp>
        <p:nvSpPr>
          <p:cNvPr id="20" name="Text 18"/>
          <p:cNvSpPr/>
          <p:nvPr/>
        </p:nvSpPr>
        <p:spPr>
          <a:xfrm>
            <a:off x="457200" y="4526280"/>
            <a:ext cx="30175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YES → REMOVE</a:t>
            </a:r>
            <a:endParaRPr lang="en-US" sz="1200" dirty="0"/>
          </a:p>
        </p:txBody>
      </p:sp>
      <p:sp>
        <p:nvSpPr>
          <p:cNvPr id="21" name="Shape 19"/>
          <p:cNvSpPr/>
          <p:nvPr/>
        </p:nvSpPr>
        <p:spPr>
          <a:xfrm>
            <a:off x="3520440" y="4649724"/>
            <a:ext cx="457200" cy="256032"/>
          </a:xfrm>
          <a:prstGeom prst="rightArrow">
            <a:avLst/>
          </a:prstGeom>
          <a:solidFill>
            <a:srgbClr val="6B7484"/>
          </a:solidFill>
          <a:ln/>
        </p:spPr>
        <p:txBody>
          <a:bodyPr/>
          <a:lstStyle/>
          <a:p>
            <a:endParaRPr lang="en-IN"/>
          </a:p>
        </p:txBody>
      </p:sp>
      <p:sp>
        <p:nvSpPr>
          <p:cNvPr id="22" name="Shape 20"/>
          <p:cNvSpPr/>
          <p:nvPr/>
        </p:nvSpPr>
        <p:spPr>
          <a:xfrm>
            <a:off x="4023360" y="4526280"/>
            <a:ext cx="3017520" cy="502920"/>
          </a:xfrm>
          <a:prstGeom prst="roundRect">
            <a:avLst>
              <a:gd name="adj" fmla="val 10909"/>
            </a:avLst>
          </a:prstGeom>
          <a:solidFill>
            <a:srgbClr val="0E7C86"/>
          </a:solidFill>
          <a:ln/>
        </p:spPr>
        <p:txBody>
          <a:bodyPr/>
          <a:lstStyle/>
          <a:p>
            <a:endParaRPr lang="en-IN"/>
          </a:p>
        </p:txBody>
      </p:sp>
      <p:sp>
        <p:nvSpPr>
          <p:cNvPr id="23" name="Text 21"/>
          <p:cNvSpPr/>
          <p:nvPr/>
        </p:nvSpPr>
        <p:spPr>
          <a:xfrm>
            <a:off x="4023360" y="4526280"/>
            <a:ext cx="30175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NO → KEEP  ✓</a:t>
            </a:r>
            <a:endParaRPr lang="en-US" sz="1200" dirty="0"/>
          </a:p>
        </p:txBody>
      </p:sp>
      <p:sp>
        <p:nvSpPr>
          <p:cNvPr id="24" name="Shape 22"/>
          <p:cNvSpPr/>
          <p:nvPr/>
        </p:nvSpPr>
        <p:spPr>
          <a:xfrm>
            <a:off x="457200" y="5257800"/>
            <a:ext cx="10817352" cy="914400"/>
          </a:xfrm>
          <a:prstGeom prst="roundRect">
            <a:avLst>
              <a:gd name="adj" fmla="val 8000"/>
            </a:avLst>
          </a:prstGeom>
          <a:solidFill>
            <a:srgbClr val="F5F7F9"/>
          </a:solidFill>
          <a:ln w="12700">
            <a:solidFill>
              <a:srgbClr val="DCE2E8"/>
            </a:solidFill>
            <a:prstDash val="solid"/>
          </a:ln>
        </p:spPr>
        <p:txBody>
          <a:bodyPr/>
          <a:lstStyle/>
          <a:p>
            <a:endParaRPr lang="en-IN"/>
          </a:p>
        </p:txBody>
      </p:sp>
      <p:sp>
        <p:nvSpPr>
          <p:cNvPr id="25" name="Text 23"/>
          <p:cNvSpPr/>
          <p:nvPr/>
        </p:nvSpPr>
        <p:spPr>
          <a:xfrm>
            <a:off x="640080" y="5349240"/>
            <a:ext cx="10451592" cy="219456"/>
          </a:xfrm>
          <a:prstGeom prst="rect">
            <a:avLst/>
          </a:prstGeom>
          <a:noFill/>
          <a:ln/>
        </p:spPr>
        <p:txBody>
          <a:bodyPr wrap="square" lIns="0" tIns="0" rIns="0" bIns="0" rtlCol="0" anchor="ctr"/>
          <a:lstStyle/>
          <a:p>
            <a:pPr marL="0" indent="0">
              <a:buNone/>
            </a:pPr>
            <a:r>
              <a:rPr lang="en-US" sz="900" b="1" kern="0" spc="10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26" name="Text 24"/>
          <p:cNvSpPr/>
          <p:nvPr/>
        </p:nvSpPr>
        <p:spPr>
          <a:xfrm>
            <a:off x="640080" y="5550408"/>
            <a:ext cx="10451592" cy="292608"/>
          </a:xfrm>
          <a:prstGeom prst="rect">
            <a:avLst/>
          </a:prstGeom>
          <a:noFill/>
          <a:ln/>
        </p:spPr>
        <p:txBody>
          <a:bodyPr wrap="square" lIns="0" tIns="0" rIns="0" bIns="0" rtlCol="0" anchor="t">
            <a:normAutofit/>
          </a:bodyPr>
          <a:lstStyle/>
          <a:p>
            <a:pPr marL="0" indent="0">
              <a:buNone/>
            </a:pPr>
            <a:r>
              <a:rPr lang="en-US" sz="1250" dirty="0">
                <a:solidFill>
                  <a:srgbClr val="132347"/>
                </a:solidFill>
                <a:latin typeface="Courier New" pitchFamily="34" charset="0"/>
                <a:ea typeface="Courier New" pitchFamily="34" charset="-122"/>
                <a:cs typeface="Courier New" pitchFamily="34" charset="-120"/>
              </a:rPr>
              <a:t>=SUMPRODUCT((COUNTIFS($B$2:$B$526565,$B$2:$B$526565)&gt;1)*1)   →   Result: 0</a:t>
            </a:r>
            <a:endParaRPr lang="en-US" sz="1250" dirty="0"/>
          </a:p>
        </p:txBody>
      </p:sp>
      <p:sp>
        <p:nvSpPr>
          <p:cNvPr id="27" name="Text 25"/>
          <p:cNvSpPr/>
          <p:nvPr/>
        </p:nvSpPr>
        <p:spPr>
          <a:xfrm>
            <a:off x="640080" y="5861304"/>
            <a:ext cx="10451592" cy="256032"/>
          </a:xfrm>
          <a:prstGeom prst="rect">
            <a:avLst/>
          </a:prstGeom>
          <a:noFill/>
          <a:ln/>
        </p:spPr>
        <p:txBody>
          <a:bodyPr wrap="square" lIns="0" tIns="0" rIns="0" bIns="0" rtlCol="0" anchor="ctr"/>
          <a:lstStyle/>
          <a:p>
            <a:pPr marL="0" indent="0">
              <a:buNone/>
            </a:pPr>
            <a:r>
              <a:rPr lang="en-US" sz="950" i="1" dirty="0">
                <a:solidFill>
                  <a:srgbClr val="6B7484"/>
                </a:solidFill>
                <a:latin typeface="Calibri" pitchFamily="34" charset="0"/>
                <a:ea typeface="Calibri" pitchFamily="34" charset="-122"/>
                <a:cs typeface="Calibri" pitchFamily="34" charset="-120"/>
              </a:rPr>
              <a:t>Cross-checked on full-row match, Product_id, and URL alone — all three return zero duplicates.</a:t>
            </a:r>
            <a:endParaRPr lang="en-US" sz="950" dirty="0"/>
          </a:p>
        </p:txBody>
      </p:sp>
      <p:sp>
        <p:nvSpPr>
          <p:cNvPr id="28" name="Text 26"/>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7484"/>
                </a:solidFill>
                <a:latin typeface="Calibri" pitchFamily="34" charset="0"/>
                <a:ea typeface="Calibri" pitchFamily="34" charset="-122"/>
                <a:cs typeface="Calibri" pitchFamily="34" charset="-120"/>
              </a:rPr>
              <a:t>Data Cleaning — Q1</a:t>
            </a:r>
            <a:endParaRPr lang="en-US" sz="900" dirty="0"/>
          </a:p>
        </p:txBody>
      </p:sp>
      <p:sp>
        <p:nvSpPr>
          <p:cNvPr id="29" name="Text 27"/>
          <p:cNvSpPr/>
          <p:nvPr/>
        </p:nvSpPr>
        <p:spPr>
          <a:xfrm>
            <a:off x="11000232" y="6473952"/>
            <a:ext cx="822960" cy="274320"/>
          </a:xfrm>
          <a:prstGeom prst="rect">
            <a:avLst/>
          </a:prstGeom>
          <a:noFill/>
          <a:ln/>
        </p:spPr>
        <p:txBody>
          <a:bodyPr wrap="square" rtlCol="0" anchor="ctr"/>
          <a:lstStyle/>
          <a:p>
            <a:pPr marL="0" indent="0" algn="r">
              <a:buNone/>
            </a:pPr>
            <a:r>
              <a:rPr lang="en-US" sz="900" dirty="0">
                <a:solidFill>
                  <a:srgbClr val="6B7484"/>
                </a:solidFill>
                <a:latin typeface="Calibri" pitchFamily="34" charset="0"/>
                <a:ea typeface="Calibri" pitchFamily="34" charset="-122"/>
                <a:cs typeface="Calibri" pitchFamily="34" charset="-120"/>
              </a:rPr>
              <a:t>03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txBody>
          <a:bodyPr/>
          <a:lstStyle/>
          <a:p>
            <a:endParaRPr lang="en-IN"/>
          </a:p>
        </p:txBody>
      </p:sp>
      <p:sp>
        <p:nvSpPr>
          <p:cNvPr id="3" name="Text 1"/>
          <p:cNvSpPr/>
          <p:nvPr/>
        </p:nvSpPr>
        <p:spPr>
          <a:xfrm>
            <a:off x="457200" y="384048"/>
            <a:ext cx="8686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 · Q2</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marL="0" indent="0" algn="l">
              <a:buNone/>
            </a:pPr>
            <a:r>
              <a:rPr lang="en-US" sz="2200" b="1" dirty="0">
                <a:solidFill>
                  <a:srgbClr val="132347"/>
                </a:solidFill>
                <a:latin typeface="Cambria" pitchFamily="34" charset="0"/>
                <a:ea typeface="Cambria" pitchFamily="34" charset="-122"/>
                <a:cs typeface="Cambria" pitchFamily="34" charset="-120"/>
              </a:rPr>
              <a:t>Standardize the "DiscountOffer" Column</a:t>
            </a:r>
            <a:endParaRPr lang="en-US" sz="2200" dirty="0"/>
          </a:p>
        </p:txBody>
      </p:sp>
      <p:sp>
        <p:nvSpPr>
          <p:cNvPr id="5" name="Shape 3"/>
          <p:cNvSpPr/>
          <p:nvPr/>
        </p:nvSpPr>
        <p:spPr>
          <a:xfrm>
            <a:off x="457200" y="1097280"/>
            <a:ext cx="10817352" cy="566928"/>
          </a:xfrm>
          <a:prstGeom prst="roundRect">
            <a:avLst>
              <a:gd name="adj" fmla="val 9677"/>
            </a:avLst>
          </a:prstGeom>
          <a:solidFill>
            <a:srgbClr val="E5F3F2"/>
          </a:solidFill>
          <a:ln/>
        </p:spPr>
        <p:txBody>
          <a:bodyPr/>
          <a:lstStyle/>
          <a:p>
            <a:endParaRPr lang="en-IN"/>
          </a:p>
        </p:txBody>
      </p:sp>
      <p:sp>
        <p:nvSpPr>
          <p:cNvPr id="6" name="Text 4"/>
          <p:cNvSpPr/>
          <p:nvPr/>
        </p:nvSpPr>
        <p:spPr>
          <a:xfrm>
            <a:off x="640080" y="1097280"/>
            <a:ext cx="10424160" cy="566928"/>
          </a:xfrm>
          <a:prstGeom prst="rect">
            <a:avLst/>
          </a:prstGeom>
          <a:noFill/>
          <a:ln/>
        </p:spPr>
        <p:txBody>
          <a:bodyPr wrap="square" lIns="0" tIns="0" rIns="0" bIns="0" rtlCol="0" anchor="ctr"/>
          <a:lstStyle/>
          <a:p>
            <a:pPr marL="0" indent="0">
              <a:buNone/>
            </a:pPr>
            <a:r>
              <a:rPr lang="en-US" sz="1300" i="1" dirty="0">
                <a:solidFill>
                  <a:srgbClr val="132347"/>
                </a:solidFill>
                <a:latin typeface="Calibri" pitchFamily="34" charset="0"/>
                <a:ea typeface="Calibri" pitchFamily="34" charset="-122"/>
                <a:cs typeface="Calibri" pitchFamily="34" charset="-120"/>
              </a:rPr>
              <a:t>"Standardize the DiscountOffer column to a single format, ensuring all values are uniform."</a:t>
            </a:r>
            <a:endParaRPr lang="en-US" sz="1300" dirty="0"/>
          </a:p>
        </p:txBody>
      </p:sp>
      <p:sp>
        <p:nvSpPr>
          <p:cNvPr id="7" name="Shape 5"/>
          <p:cNvSpPr/>
          <p:nvPr/>
        </p:nvSpPr>
        <p:spPr>
          <a:xfrm>
            <a:off x="457200" y="1965960"/>
            <a:ext cx="2514600" cy="1371600"/>
          </a:xfrm>
          <a:prstGeom prst="roundRect">
            <a:avLst>
              <a:gd name="adj" fmla="val 6667"/>
            </a:avLst>
          </a:prstGeom>
          <a:solidFill>
            <a:srgbClr val="132347"/>
          </a:solidFill>
          <a:ln/>
          <a:effectLst>
            <a:outerShdw blurRad="76200" dist="38100" dir="5400000" algn="bl" rotWithShape="0">
              <a:srgbClr val="1B2233">
                <a:alpha val="25000"/>
              </a:srgbClr>
            </a:outerShdw>
          </a:effectLst>
        </p:spPr>
        <p:txBody>
          <a:bodyPr/>
          <a:lstStyle/>
          <a:p>
            <a:endParaRPr lang="en-IN"/>
          </a:p>
        </p:txBody>
      </p:sp>
      <p:sp>
        <p:nvSpPr>
          <p:cNvPr id="8" name="Text 6"/>
          <p:cNvSpPr/>
          <p:nvPr/>
        </p:nvSpPr>
        <p:spPr>
          <a:xfrm>
            <a:off x="685800" y="2130552"/>
            <a:ext cx="2057400" cy="274320"/>
          </a:xfrm>
          <a:prstGeom prst="rect">
            <a:avLst/>
          </a:prstGeom>
          <a:noFill/>
          <a:ln/>
        </p:spPr>
        <p:txBody>
          <a:bodyPr wrap="square" lIns="0" tIns="0" rIns="0" bIns="0" rtlCol="0" anchor="ctr"/>
          <a:lstStyle/>
          <a:p>
            <a:pPr marL="0" indent="0" algn="l">
              <a:buNone/>
            </a:pPr>
            <a:r>
              <a:rPr lang="en-US" sz="1100" b="1" kern="0" spc="100" dirty="0">
                <a:solidFill>
                  <a:srgbClr val="17A398"/>
                </a:solidFill>
                <a:latin typeface="Calibri" pitchFamily="34" charset="0"/>
                <a:ea typeface="Calibri" pitchFamily="34" charset="-122"/>
                <a:cs typeface="Calibri" pitchFamily="34" charset="-120"/>
              </a:rPr>
              <a:t>UNIQUE RAW FORMATS</a:t>
            </a:r>
            <a:endParaRPr lang="en-US" sz="1100" dirty="0"/>
          </a:p>
        </p:txBody>
      </p:sp>
      <p:sp>
        <p:nvSpPr>
          <p:cNvPr id="9" name="Text 7"/>
          <p:cNvSpPr/>
          <p:nvPr/>
        </p:nvSpPr>
        <p:spPr>
          <a:xfrm>
            <a:off x="685800" y="2350008"/>
            <a:ext cx="2057400" cy="68580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1,418</a:t>
            </a:r>
            <a:endParaRPr lang="en-US" sz="3400" dirty="0"/>
          </a:p>
        </p:txBody>
      </p:sp>
      <p:sp>
        <p:nvSpPr>
          <p:cNvPr id="10" name="Text 8"/>
          <p:cNvSpPr/>
          <p:nvPr/>
        </p:nvSpPr>
        <p:spPr>
          <a:xfrm>
            <a:off x="685800" y="3008376"/>
            <a:ext cx="2057400" cy="274320"/>
          </a:xfrm>
          <a:prstGeom prst="rect">
            <a:avLst/>
          </a:prstGeom>
          <a:noFill/>
          <a:ln/>
        </p:spPr>
        <p:txBody>
          <a:bodyPr wrap="square" lIns="0" tIns="0" rIns="0" bIns="0" rtlCol="0" anchor="ctr"/>
          <a:lstStyle/>
          <a:p>
            <a:pPr marL="0" indent="0" algn="l">
              <a:buNone/>
            </a:pPr>
            <a:r>
              <a:rPr lang="en-US" sz="1050" dirty="0">
                <a:solidFill>
                  <a:srgbClr val="C9D6E3"/>
                </a:solidFill>
                <a:latin typeface="Calibri" pitchFamily="34" charset="0"/>
                <a:ea typeface="Calibri" pitchFamily="34" charset="-122"/>
                <a:cs typeface="Calibri" pitchFamily="34" charset="-120"/>
              </a:rPr>
              <a:t>across 4 pattern types</a:t>
            </a:r>
            <a:endParaRPr lang="en-US" sz="1050" dirty="0"/>
          </a:p>
        </p:txBody>
      </p:sp>
      <p:sp>
        <p:nvSpPr>
          <p:cNvPr id="11" name="Shape 9"/>
          <p:cNvSpPr/>
          <p:nvPr/>
        </p:nvSpPr>
        <p:spPr>
          <a:xfrm>
            <a:off x="3108960" y="1965960"/>
            <a:ext cx="2514600" cy="1371600"/>
          </a:xfrm>
          <a:prstGeom prst="roundRect">
            <a:avLst>
              <a:gd name="adj" fmla="val 6667"/>
            </a:avLst>
          </a:prstGeom>
          <a:solidFill>
            <a:srgbClr val="132347"/>
          </a:solidFill>
          <a:ln/>
          <a:effectLst>
            <a:outerShdw blurRad="76200" dist="38100" dir="5400000" algn="bl" rotWithShape="0">
              <a:srgbClr val="1B2233">
                <a:alpha val="25000"/>
              </a:srgbClr>
            </a:outerShdw>
          </a:effectLst>
        </p:spPr>
        <p:txBody>
          <a:bodyPr/>
          <a:lstStyle/>
          <a:p>
            <a:endParaRPr lang="en-IN"/>
          </a:p>
        </p:txBody>
      </p:sp>
      <p:sp>
        <p:nvSpPr>
          <p:cNvPr id="12" name="Text 10"/>
          <p:cNvSpPr/>
          <p:nvPr/>
        </p:nvSpPr>
        <p:spPr>
          <a:xfrm>
            <a:off x="3337560" y="2130552"/>
            <a:ext cx="2057400" cy="274320"/>
          </a:xfrm>
          <a:prstGeom prst="rect">
            <a:avLst/>
          </a:prstGeom>
          <a:noFill/>
          <a:ln/>
        </p:spPr>
        <p:txBody>
          <a:bodyPr wrap="square" lIns="0" tIns="0" rIns="0" bIns="0" rtlCol="0" anchor="ctr"/>
          <a:lstStyle/>
          <a:p>
            <a:pPr marL="0" indent="0" algn="l">
              <a:buNone/>
            </a:pPr>
            <a:r>
              <a:rPr lang="en-US" sz="1100" b="1" kern="0" spc="100" dirty="0">
                <a:solidFill>
                  <a:srgbClr val="17A398"/>
                </a:solidFill>
                <a:latin typeface="Calibri" pitchFamily="34" charset="0"/>
                <a:ea typeface="Calibri" pitchFamily="34" charset="-122"/>
                <a:cs typeface="Calibri" pitchFamily="34" charset="-120"/>
              </a:rPr>
              <a:t>NON-BLANK ENTRIES</a:t>
            </a:r>
            <a:endParaRPr lang="en-US" sz="1100" dirty="0"/>
          </a:p>
        </p:txBody>
      </p:sp>
      <p:sp>
        <p:nvSpPr>
          <p:cNvPr id="13" name="Text 11"/>
          <p:cNvSpPr/>
          <p:nvPr/>
        </p:nvSpPr>
        <p:spPr>
          <a:xfrm>
            <a:off x="3337560" y="2350008"/>
            <a:ext cx="2057400" cy="68580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452,258</a:t>
            </a:r>
            <a:endParaRPr lang="en-US" sz="3400" dirty="0"/>
          </a:p>
        </p:txBody>
      </p:sp>
      <p:sp>
        <p:nvSpPr>
          <p:cNvPr id="14" name="Text 12"/>
          <p:cNvSpPr/>
          <p:nvPr/>
        </p:nvSpPr>
        <p:spPr>
          <a:xfrm>
            <a:off x="3337560" y="3008376"/>
            <a:ext cx="2057400" cy="274320"/>
          </a:xfrm>
          <a:prstGeom prst="rect">
            <a:avLst/>
          </a:prstGeom>
          <a:noFill/>
          <a:ln/>
        </p:spPr>
        <p:txBody>
          <a:bodyPr wrap="square" lIns="0" tIns="0" rIns="0" bIns="0" rtlCol="0" anchor="ctr"/>
          <a:lstStyle/>
          <a:p>
            <a:pPr marL="0" indent="0" algn="l">
              <a:buNone/>
            </a:pPr>
            <a:r>
              <a:rPr lang="en-US" sz="1050" dirty="0">
                <a:solidFill>
                  <a:srgbClr val="C9D6E3"/>
                </a:solidFill>
                <a:latin typeface="Calibri" pitchFamily="34" charset="0"/>
                <a:ea typeface="Calibri" pitchFamily="34" charset="-122"/>
                <a:cs typeface="Calibri" pitchFamily="34" charset="-120"/>
              </a:rPr>
              <a:t>of 526,564 (74,306 blank)</a:t>
            </a:r>
            <a:endParaRPr lang="en-US" sz="1050" dirty="0"/>
          </a:p>
        </p:txBody>
      </p:sp>
      <p:sp>
        <p:nvSpPr>
          <p:cNvPr id="15" name="Shape 13"/>
          <p:cNvSpPr/>
          <p:nvPr/>
        </p:nvSpPr>
        <p:spPr>
          <a:xfrm>
            <a:off x="5760720" y="1985838"/>
            <a:ext cx="5513832" cy="1828800"/>
          </a:xfrm>
          <a:prstGeom prst="roundRect">
            <a:avLst>
              <a:gd name="adj" fmla="val 3000"/>
            </a:avLst>
          </a:prstGeom>
          <a:solidFill>
            <a:srgbClr val="F5F7F9"/>
          </a:solidFill>
          <a:ln w="12700">
            <a:solidFill>
              <a:srgbClr val="DCE2E8"/>
            </a:solidFill>
            <a:prstDash val="solid"/>
          </a:ln>
        </p:spPr>
        <p:txBody>
          <a:bodyPr/>
          <a:lstStyle/>
          <a:p>
            <a:endParaRPr lang="en-IN"/>
          </a:p>
        </p:txBody>
      </p:sp>
      <p:sp>
        <p:nvSpPr>
          <p:cNvPr id="16" name="Text 14"/>
          <p:cNvSpPr/>
          <p:nvPr/>
        </p:nvSpPr>
        <p:spPr>
          <a:xfrm>
            <a:off x="5943600" y="2029968"/>
            <a:ext cx="5120640" cy="237744"/>
          </a:xfrm>
          <a:prstGeom prst="rect">
            <a:avLst/>
          </a:prstGeom>
          <a:noFill/>
          <a:ln/>
        </p:spPr>
        <p:txBody>
          <a:bodyPr wrap="square" lIns="0" tIns="0" rIns="0" bIns="0" rtlCol="0" anchor="ctr"/>
          <a:lstStyle/>
          <a:p>
            <a:pPr marL="0" indent="0">
              <a:buNone/>
            </a:pPr>
            <a:r>
              <a:rPr lang="en-US" sz="900" b="1" kern="0" spc="100" dirty="0">
                <a:solidFill>
                  <a:srgbClr val="0E7C86"/>
                </a:solidFill>
                <a:latin typeface="Calibri" pitchFamily="34" charset="0"/>
                <a:ea typeface="Calibri" pitchFamily="34" charset="-122"/>
                <a:cs typeface="Calibri" pitchFamily="34" charset="-120"/>
              </a:rPr>
              <a:t>4 RAW PATTERNS FOUND</a:t>
            </a:r>
            <a:endParaRPr lang="en-US" sz="900" dirty="0"/>
          </a:p>
        </p:txBody>
      </p:sp>
      <p:sp>
        <p:nvSpPr>
          <p:cNvPr id="17" name="Text 15"/>
          <p:cNvSpPr/>
          <p:nvPr/>
        </p:nvSpPr>
        <p:spPr>
          <a:xfrm>
            <a:off x="5943600" y="2286000"/>
            <a:ext cx="2286000" cy="329184"/>
          </a:xfrm>
          <a:prstGeom prst="rect">
            <a:avLst/>
          </a:prstGeom>
          <a:noFill/>
          <a:ln/>
        </p:spPr>
        <p:txBody>
          <a:bodyPr wrap="square" lIns="0" tIns="0" rIns="0" bIns="0" rtlCol="0" anchor="ctr"/>
          <a:lstStyle/>
          <a:p>
            <a:pPr marL="0" indent="0">
              <a:buNone/>
            </a:pPr>
            <a:r>
              <a:rPr lang="en-US" sz="1100" dirty="0">
                <a:solidFill>
                  <a:srgbClr val="132347"/>
                </a:solidFill>
                <a:latin typeface="Courier New" pitchFamily="34" charset="0"/>
                <a:ea typeface="Courier New" pitchFamily="34" charset="-122"/>
                <a:cs typeface="Courier New" pitchFamily="34" charset="-120"/>
              </a:rPr>
              <a:t>"45% OFF"</a:t>
            </a:r>
            <a:endParaRPr lang="en-US" sz="1100" dirty="0"/>
          </a:p>
        </p:txBody>
      </p:sp>
      <p:sp>
        <p:nvSpPr>
          <p:cNvPr id="18" name="Text 16"/>
          <p:cNvSpPr/>
          <p:nvPr/>
        </p:nvSpPr>
        <p:spPr>
          <a:xfrm>
            <a:off x="8229600" y="2286000"/>
            <a:ext cx="1097280" cy="329184"/>
          </a:xfrm>
          <a:prstGeom prst="rect">
            <a:avLst/>
          </a:prstGeom>
          <a:noFill/>
          <a:ln/>
        </p:spPr>
        <p:txBody>
          <a:bodyPr wrap="square" lIns="0" tIns="0" rIns="0" bIns="0" rtlCol="0" anchor="ctr"/>
          <a:lstStyle/>
          <a:p>
            <a:pPr marL="0" indent="0">
              <a:buNone/>
            </a:pPr>
            <a:r>
              <a:rPr lang="en-US" sz="1100" b="1" dirty="0">
                <a:solidFill>
                  <a:srgbClr val="1B2233"/>
                </a:solidFill>
                <a:latin typeface="Calibri" pitchFamily="34" charset="0"/>
                <a:ea typeface="Calibri" pitchFamily="34" charset="-122"/>
                <a:cs typeface="Calibri" pitchFamily="34" charset="-120"/>
              </a:rPr>
              <a:t>427,349</a:t>
            </a:r>
            <a:endParaRPr lang="en-US" sz="1100" dirty="0"/>
          </a:p>
        </p:txBody>
      </p:sp>
      <p:sp>
        <p:nvSpPr>
          <p:cNvPr id="19" name="Text 17"/>
          <p:cNvSpPr/>
          <p:nvPr/>
        </p:nvSpPr>
        <p:spPr>
          <a:xfrm>
            <a:off x="9326880" y="2286000"/>
            <a:ext cx="1828800" cy="329184"/>
          </a:xfrm>
          <a:prstGeom prst="rect">
            <a:avLst/>
          </a:prstGeom>
          <a:noFill/>
          <a:ln/>
        </p:spPr>
        <p:txBody>
          <a:bodyPr wrap="square" lIns="0" tIns="0" rIns="0" bIns="0" rtlCol="0" anchor="ctr"/>
          <a:lstStyle/>
          <a:p>
            <a:pPr marL="0" indent="0">
              <a:buNone/>
            </a:pPr>
            <a:r>
              <a:rPr lang="en-US" sz="1000" i="1" dirty="0">
                <a:solidFill>
                  <a:srgbClr val="0E7C86"/>
                </a:solidFill>
                <a:latin typeface="Calibri" pitchFamily="34" charset="0"/>
                <a:ea typeface="Calibri" pitchFamily="34" charset="-122"/>
                <a:cs typeface="Calibri" pitchFamily="34" charset="-120"/>
              </a:rPr>
              <a:t>→  45</a:t>
            </a:r>
            <a:endParaRPr lang="en-US" sz="1000" dirty="0"/>
          </a:p>
        </p:txBody>
      </p:sp>
      <p:sp>
        <p:nvSpPr>
          <p:cNvPr id="20" name="Text 18"/>
          <p:cNvSpPr/>
          <p:nvPr/>
        </p:nvSpPr>
        <p:spPr>
          <a:xfrm>
            <a:off x="5943600" y="2651760"/>
            <a:ext cx="2286000" cy="329184"/>
          </a:xfrm>
          <a:prstGeom prst="rect">
            <a:avLst/>
          </a:prstGeom>
          <a:noFill/>
          <a:ln/>
        </p:spPr>
        <p:txBody>
          <a:bodyPr wrap="square" lIns="0" tIns="0" rIns="0" bIns="0" rtlCol="0" anchor="ctr"/>
          <a:lstStyle/>
          <a:p>
            <a:pPr marL="0" indent="0">
              <a:buNone/>
            </a:pPr>
            <a:r>
              <a:rPr lang="en-US" sz="1100" dirty="0">
                <a:solidFill>
                  <a:srgbClr val="132347"/>
                </a:solidFill>
                <a:latin typeface="Courier New" pitchFamily="34" charset="0"/>
                <a:ea typeface="Courier New" pitchFamily="34" charset="-122"/>
                <a:cs typeface="Courier New" pitchFamily="34" charset="-120"/>
              </a:rPr>
              <a:t>"Rs. 500 OFF"</a:t>
            </a:r>
            <a:endParaRPr lang="en-US" sz="1100" dirty="0"/>
          </a:p>
        </p:txBody>
      </p:sp>
      <p:sp>
        <p:nvSpPr>
          <p:cNvPr id="21" name="Text 19"/>
          <p:cNvSpPr/>
          <p:nvPr/>
        </p:nvSpPr>
        <p:spPr>
          <a:xfrm>
            <a:off x="8229600" y="2651760"/>
            <a:ext cx="1097280" cy="329184"/>
          </a:xfrm>
          <a:prstGeom prst="rect">
            <a:avLst/>
          </a:prstGeom>
          <a:noFill/>
          <a:ln/>
        </p:spPr>
        <p:txBody>
          <a:bodyPr wrap="square" lIns="0" tIns="0" rIns="0" bIns="0" rtlCol="0" anchor="ctr"/>
          <a:lstStyle/>
          <a:p>
            <a:pPr marL="0" indent="0">
              <a:buNone/>
            </a:pPr>
            <a:r>
              <a:rPr lang="en-US" sz="1100" b="1" dirty="0">
                <a:solidFill>
                  <a:srgbClr val="1B2233"/>
                </a:solidFill>
                <a:latin typeface="Calibri" pitchFamily="34" charset="0"/>
                <a:ea typeface="Calibri" pitchFamily="34" charset="-122"/>
                <a:cs typeface="Calibri" pitchFamily="34" charset="-120"/>
              </a:rPr>
              <a:t>19,444</a:t>
            </a:r>
            <a:endParaRPr lang="en-US" sz="1100" dirty="0"/>
          </a:p>
        </p:txBody>
      </p:sp>
      <p:sp>
        <p:nvSpPr>
          <p:cNvPr id="22" name="Text 20"/>
          <p:cNvSpPr/>
          <p:nvPr/>
        </p:nvSpPr>
        <p:spPr>
          <a:xfrm>
            <a:off x="9326880" y="2651760"/>
            <a:ext cx="1828800" cy="329184"/>
          </a:xfrm>
          <a:prstGeom prst="rect">
            <a:avLst/>
          </a:prstGeom>
          <a:noFill/>
          <a:ln/>
        </p:spPr>
        <p:txBody>
          <a:bodyPr wrap="square" lIns="0" tIns="0" rIns="0" bIns="0" rtlCol="0" anchor="ctr"/>
          <a:lstStyle/>
          <a:p>
            <a:pPr marL="0" indent="0">
              <a:buNone/>
            </a:pPr>
            <a:r>
              <a:rPr lang="en-US" sz="1000" i="1" dirty="0">
                <a:solidFill>
                  <a:srgbClr val="0E7C86"/>
                </a:solidFill>
                <a:latin typeface="Calibri" pitchFamily="34" charset="0"/>
                <a:ea typeface="Calibri" pitchFamily="34" charset="-122"/>
                <a:cs typeface="Calibri" pitchFamily="34" charset="-120"/>
              </a:rPr>
              <a:t>→  Rs/Orig.Price</a:t>
            </a:r>
            <a:endParaRPr lang="en-US" sz="1000" dirty="0"/>
          </a:p>
        </p:txBody>
      </p:sp>
      <p:sp>
        <p:nvSpPr>
          <p:cNvPr id="23" name="Text 21"/>
          <p:cNvSpPr/>
          <p:nvPr/>
        </p:nvSpPr>
        <p:spPr>
          <a:xfrm>
            <a:off x="5943600" y="3017520"/>
            <a:ext cx="2286000" cy="329184"/>
          </a:xfrm>
          <a:prstGeom prst="rect">
            <a:avLst/>
          </a:prstGeom>
          <a:noFill/>
          <a:ln/>
        </p:spPr>
        <p:txBody>
          <a:bodyPr wrap="square" lIns="0" tIns="0" rIns="0" bIns="0" rtlCol="0" anchor="ctr"/>
          <a:lstStyle/>
          <a:p>
            <a:pPr marL="0" indent="0">
              <a:buNone/>
            </a:pPr>
            <a:r>
              <a:rPr lang="en-US" sz="1100" dirty="0">
                <a:solidFill>
                  <a:srgbClr val="132347"/>
                </a:solidFill>
                <a:latin typeface="Courier New" pitchFamily="34" charset="0"/>
                <a:ea typeface="Courier New" pitchFamily="34" charset="-122"/>
                <a:cs typeface="Courier New" pitchFamily="34" charset="-120"/>
              </a:rPr>
              <a:t>"60% OFF, Hurry*"</a:t>
            </a:r>
            <a:endParaRPr lang="en-US" sz="1100" dirty="0"/>
          </a:p>
        </p:txBody>
      </p:sp>
      <p:sp>
        <p:nvSpPr>
          <p:cNvPr id="24" name="Text 22"/>
          <p:cNvSpPr/>
          <p:nvPr/>
        </p:nvSpPr>
        <p:spPr>
          <a:xfrm>
            <a:off x="8229600" y="3017520"/>
            <a:ext cx="1097280" cy="329184"/>
          </a:xfrm>
          <a:prstGeom prst="rect">
            <a:avLst/>
          </a:prstGeom>
          <a:noFill/>
          <a:ln/>
        </p:spPr>
        <p:txBody>
          <a:bodyPr wrap="square" lIns="0" tIns="0" rIns="0" bIns="0" rtlCol="0" anchor="ctr"/>
          <a:lstStyle/>
          <a:p>
            <a:pPr marL="0" indent="0">
              <a:buNone/>
            </a:pPr>
            <a:r>
              <a:rPr lang="en-US" sz="1100" b="1" dirty="0">
                <a:solidFill>
                  <a:srgbClr val="1B2233"/>
                </a:solidFill>
                <a:latin typeface="Calibri" pitchFamily="34" charset="0"/>
                <a:ea typeface="Calibri" pitchFamily="34" charset="-122"/>
                <a:cs typeface="Calibri" pitchFamily="34" charset="-120"/>
              </a:rPr>
              <a:t>3,375</a:t>
            </a:r>
            <a:endParaRPr lang="en-US" sz="1100" dirty="0"/>
          </a:p>
        </p:txBody>
      </p:sp>
      <p:sp>
        <p:nvSpPr>
          <p:cNvPr id="25" name="Text 23"/>
          <p:cNvSpPr/>
          <p:nvPr/>
        </p:nvSpPr>
        <p:spPr>
          <a:xfrm>
            <a:off x="9326880" y="3017520"/>
            <a:ext cx="1828800" cy="329184"/>
          </a:xfrm>
          <a:prstGeom prst="rect">
            <a:avLst/>
          </a:prstGeom>
          <a:noFill/>
          <a:ln/>
        </p:spPr>
        <p:txBody>
          <a:bodyPr wrap="square" lIns="0" tIns="0" rIns="0" bIns="0" rtlCol="0" anchor="ctr"/>
          <a:lstStyle/>
          <a:p>
            <a:pPr marL="0" indent="0">
              <a:buNone/>
            </a:pPr>
            <a:r>
              <a:rPr lang="en-US" sz="1000" i="1" dirty="0">
                <a:solidFill>
                  <a:srgbClr val="0E7C86"/>
                </a:solidFill>
                <a:latin typeface="Calibri" pitchFamily="34" charset="0"/>
                <a:ea typeface="Calibri" pitchFamily="34" charset="-122"/>
                <a:cs typeface="Calibri" pitchFamily="34" charset="-120"/>
              </a:rPr>
              <a:t>→  60</a:t>
            </a:r>
            <a:endParaRPr lang="en-US" sz="1000" dirty="0"/>
          </a:p>
        </p:txBody>
      </p:sp>
      <p:sp>
        <p:nvSpPr>
          <p:cNvPr id="26" name="Text 24"/>
          <p:cNvSpPr/>
          <p:nvPr/>
        </p:nvSpPr>
        <p:spPr>
          <a:xfrm>
            <a:off x="5943600" y="3383280"/>
            <a:ext cx="2286000" cy="329184"/>
          </a:xfrm>
          <a:prstGeom prst="rect">
            <a:avLst/>
          </a:prstGeom>
          <a:noFill/>
          <a:ln/>
        </p:spPr>
        <p:txBody>
          <a:bodyPr wrap="square" lIns="0" tIns="0" rIns="0" bIns="0" rtlCol="0" anchor="ctr"/>
          <a:lstStyle/>
          <a:p>
            <a:pPr marL="0" indent="0">
              <a:buNone/>
            </a:pPr>
            <a:r>
              <a:rPr lang="en-US" sz="1100" dirty="0">
                <a:solidFill>
                  <a:srgbClr val="132347"/>
                </a:solidFill>
                <a:latin typeface="Courier New" pitchFamily="34" charset="0"/>
                <a:ea typeface="Courier New" pitchFamily="34" charset="-122"/>
                <a:cs typeface="Courier New" pitchFamily="34" charset="-120"/>
              </a:rPr>
              <a:t>" 45 % OFF "</a:t>
            </a:r>
            <a:endParaRPr lang="en-US" sz="1100" dirty="0"/>
          </a:p>
        </p:txBody>
      </p:sp>
      <p:sp>
        <p:nvSpPr>
          <p:cNvPr id="27" name="Text 25"/>
          <p:cNvSpPr/>
          <p:nvPr/>
        </p:nvSpPr>
        <p:spPr>
          <a:xfrm>
            <a:off x="8229600" y="3383280"/>
            <a:ext cx="1097280" cy="329184"/>
          </a:xfrm>
          <a:prstGeom prst="rect">
            <a:avLst/>
          </a:prstGeom>
          <a:noFill/>
          <a:ln/>
        </p:spPr>
        <p:txBody>
          <a:bodyPr wrap="square" lIns="0" tIns="0" rIns="0" bIns="0" rtlCol="0" anchor="ctr"/>
          <a:lstStyle/>
          <a:p>
            <a:pPr marL="0" indent="0">
              <a:buNone/>
            </a:pPr>
            <a:r>
              <a:rPr lang="en-US" sz="1100" b="1" dirty="0">
                <a:solidFill>
                  <a:srgbClr val="1B2233"/>
                </a:solidFill>
                <a:latin typeface="Calibri" pitchFamily="34" charset="0"/>
                <a:ea typeface="Calibri" pitchFamily="34" charset="-122"/>
                <a:cs typeface="Calibri" pitchFamily="34" charset="-120"/>
              </a:rPr>
              <a:t>2,090</a:t>
            </a:r>
            <a:endParaRPr lang="en-US" sz="1100" dirty="0"/>
          </a:p>
        </p:txBody>
      </p:sp>
      <p:sp>
        <p:nvSpPr>
          <p:cNvPr id="28" name="Text 26"/>
          <p:cNvSpPr/>
          <p:nvPr/>
        </p:nvSpPr>
        <p:spPr>
          <a:xfrm>
            <a:off x="9326880" y="3383280"/>
            <a:ext cx="1828800" cy="329184"/>
          </a:xfrm>
          <a:prstGeom prst="rect">
            <a:avLst/>
          </a:prstGeom>
          <a:noFill/>
          <a:ln/>
        </p:spPr>
        <p:txBody>
          <a:bodyPr wrap="square" lIns="0" tIns="0" rIns="0" bIns="0" rtlCol="0" anchor="ctr"/>
          <a:lstStyle/>
          <a:p>
            <a:pPr marL="0" indent="0">
              <a:buNone/>
            </a:pPr>
            <a:r>
              <a:rPr lang="en-US" sz="1000" i="1" dirty="0">
                <a:solidFill>
                  <a:srgbClr val="0E7C86"/>
                </a:solidFill>
                <a:latin typeface="Calibri" pitchFamily="34" charset="0"/>
                <a:ea typeface="Calibri" pitchFamily="34" charset="-122"/>
                <a:cs typeface="Calibri" pitchFamily="34" charset="-120"/>
              </a:rPr>
              <a:t>→  45</a:t>
            </a:r>
            <a:endParaRPr lang="en-US" sz="1000" dirty="0"/>
          </a:p>
        </p:txBody>
      </p:sp>
      <p:sp>
        <p:nvSpPr>
          <p:cNvPr id="29" name="Text 27"/>
          <p:cNvSpPr/>
          <p:nvPr/>
        </p:nvSpPr>
        <p:spPr>
          <a:xfrm>
            <a:off x="457200" y="3913632"/>
            <a:ext cx="10817352" cy="868680"/>
          </a:xfrm>
          <a:prstGeom prst="rect">
            <a:avLst/>
          </a:prstGeom>
          <a:noFill/>
          <a:ln/>
        </p:spPr>
        <p:txBody>
          <a:bodyPr wrap="square" lIns="0" tIns="0" rIns="0" bIns="0" rtlCol="0" anchor="t"/>
          <a:lstStyle/>
          <a:p>
            <a:pPr marL="0" indent="0" algn="l">
              <a:lnSpc>
                <a:spcPct val="115000"/>
              </a:lnSpc>
              <a:buNone/>
            </a:pPr>
            <a:r>
              <a:rPr lang="en-US" sz="1250" dirty="0">
                <a:solidFill>
                  <a:srgbClr val="1B2233"/>
                </a:solidFill>
                <a:latin typeface="Calibri" pitchFamily="34" charset="0"/>
                <a:ea typeface="Calibri" pitchFamily="34" charset="-122"/>
                <a:cs typeface="Calibri" pitchFamily="34" charset="-120"/>
              </a:rPr>
              <a:t>Three of the four patterns are percentage-based (plain, with extra spaces, or with a "Hurry*" suffix) — all strip to a clean numeric percentage. The fourth, an absolute "Rs. NNN OFF" (19,444 rows), is converted to a comparable percentage using DiscountOffer_Rs ÷ Original Price, so every row lands on one uniform 0–1 scale.</a:t>
            </a:r>
            <a:endParaRPr lang="en-US" sz="1250" dirty="0"/>
          </a:p>
        </p:txBody>
      </p:sp>
      <p:sp>
        <p:nvSpPr>
          <p:cNvPr id="30" name="Shape 28"/>
          <p:cNvSpPr/>
          <p:nvPr/>
        </p:nvSpPr>
        <p:spPr>
          <a:xfrm>
            <a:off x="457200" y="4892040"/>
            <a:ext cx="10817352" cy="1234440"/>
          </a:xfrm>
          <a:prstGeom prst="roundRect">
            <a:avLst>
              <a:gd name="adj" fmla="val 5926"/>
            </a:avLst>
          </a:prstGeom>
          <a:solidFill>
            <a:srgbClr val="F5F7F9"/>
          </a:solidFill>
          <a:ln w="12700">
            <a:solidFill>
              <a:srgbClr val="DCE2E8"/>
            </a:solidFill>
            <a:prstDash val="solid"/>
          </a:ln>
        </p:spPr>
        <p:txBody>
          <a:bodyPr/>
          <a:lstStyle/>
          <a:p>
            <a:endParaRPr lang="en-IN"/>
          </a:p>
        </p:txBody>
      </p:sp>
      <p:sp>
        <p:nvSpPr>
          <p:cNvPr id="31" name="Text 29"/>
          <p:cNvSpPr/>
          <p:nvPr/>
        </p:nvSpPr>
        <p:spPr>
          <a:xfrm>
            <a:off x="640080" y="4983480"/>
            <a:ext cx="10451592" cy="219456"/>
          </a:xfrm>
          <a:prstGeom prst="rect">
            <a:avLst/>
          </a:prstGeom>
          <a:noFill/>
          <a:ln/>
        </p:spPr>
        <p:txBody>
          <a:bodyPr wrap="square" lIns="0" tIns="0" rIns="0" bIns="0" rtlCol="0" anchor="ctr"/>
          <a:lstStyle/>
          <a:p>
            <a:pPr marL="0" indent="0">
              <a:buNone/>
            </a:pPr>
            <a:r>
              <a:rPr lang="en-US" sz="900" b="1" kern="0" spc="10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32" name="Text 30"/>
          <p:cNvSpPr/>
          <p:nvPr/>
        </p:nvSpPr>
        <p:spPr>
          <a:xfrm>
            <a:off x="640080" y="5184648"/>
            <a:ext cx="10451592" cy="612648"/>
          </a:xfrm>
          <a:prstGeom prst="rect">
            <a:avLst/>
          </a:prstGeom>
          <a:noFill/>
          <a:ln/>
        </p:spPr>
        <p:txBody>
          <a:bodyPr wrap="square" lIns="0" tIns="0" rIns="0" bIns="0" rtlCol="0" anchor="t">
            <a:normAutofit/>
          </a:bodyPr>
          <a:lstStyle/>
          <a:p>
            <a:pPr marL="0" indent="0">
              <a:buNone/>
            </a:pPr>
            <a:r>
              <a:rPr lang="en-US" sz="1250" dirty="0">
                <a:solidFill>
                  <a:srgbClr val="132347"/>
                </a:solidFill>
                <a:latin typeface="Courier New" pitchFamily="34" charset="0"/>
                <a:ea typeface="Courier New" pitchFamily="34" charset="-122"/>
                <a:cs typeface="Courier New" pitchFamily="34" charset="-120"/>
              </a:rPr>
              <a:t>=IFERROR(VALUE(SUBSTITUTE(SUBSTITUTE(TRIM(J2)," OFF",""),"%",""))/100,</a:t>
            </a:r>
            <a:endParaRPr lang="en-US" sz="1250" dirty="0"/>
          </a:p>
          <a:p>
            <a:pPr marL="0" indent="0">
              <a:buNone/>
            </a:pPr>
            <a:r>
              <a:rPr lang="en-US" sz="1250" dirty="0">
                <a:solidFill>
                  <a:srgbClr val="132347"/>
                </a:solidFill>
                <a:latin typeface="Courier New" pitchFamily="34" charset="0"/>
                <a:ea typeface="Courier New" pitchFamily="34" charset="-122"/>
                <a:cs typeface="Courier New" pitchFamily="34" charset="-120"/>
              </a:rPr>
              <a:t>  VALUE(SUBSTITUTE(SUBSTITUTE(J2,"Rs. ",""),"OFF",""))/I2)</a:t>
            </a:r>
            <a:endParaRPr lang="en-US" sz="1250" dirty="0"/>
          </a:p>
        </p:txBody>
      </p:sp>
      <p:sp>
        <p:nvSpPr>
          <p:cNvPr id="33" name="Text 31"/>
          <p:cNvSpPr/>
          <p:nvPr/>
        </p:nvSpPr>
        <p:spPr>
          <a:xfrm>
            <a:off x="640080" y="5815584"/>
            <a:ext cx="10451592" cy="256032"/>
          </a:xfrm>
          <a:prstGeom prst="rect">
            <a:avLst/>
          </a:prstGeom>
          <a:noFill/>
          <a:ln/>
        </p:spPr>
        <p:txBody>
          <a:bodyPr wrap="square" lIns="0" tIns="0" rIns="0" bIns="0" rtlCol="0" anchor="ctr"/>
          <a:lstStyle/>
          <a:p>
            <a:pPr marL="0" indent="0">
              <a:buNone/>
            </a:pPr>
            <a:r>
              <a:rPr lang="en-US" sz="950" i="1" dirty="0">
                <a:solidFill>
                  <a:srgbClr val="6B7484"/>
                </a:solidFill>
                <a:latin typeface="Calibri" pitchFamily="34" charset="0"/>
                <a:ea typeface="Calibri" pitchFamily="34" charset="-122"/>
                <a:cs typeface="Calibri" pitchFamily="34" charset="-120"/>
              </a:rPr>
              <a:t>J = DiscountOffer, I = Original Price. First branch handles all % formats (Hurry*/extra-space text is stripped first); IFERROR falls through to the Rs.-amount branch.</a:t>
            </a:r>
            <a:endParaRPr lang="en-US" sz="950" dirty="0"/>
          </a:p>
        </p:txBody>
      </p:sp>
      <p:sp>
        <p:nvSpPr>
          <p:cNvPr id="34" name="Text 32"/>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7484"/>
                </a:solidFill>
                <a:latin typeface="Calibri" pitchFamily="34" charset="0"/>
                <a:ea typeface="Calibri" pitchFamily="34" charset="-122"/>
                <a:cs typeface="Calibri" pitchFamily="34" charset="-120"/>
              </a:rPr>
              <a:t>Data Cleaning — Q2</a:t>
            </a:r>
            <a:endParaRPr lang="en-US" sz="900" dirty="0"/>
          </a:p>
        </p:txBody>
      </p:sp>
      <p:sp>
        <p:nvSpPr>
          <p:cNvPr id="35" name="Text 33"/>
          <p:cNvSpPr/>
          <p:nvPr/>
        </p:nvSpPr>
        <p:spPr>
          <a:xfrm>
            <a:off x="11000232" y="6473952"/>
            <a:ext cx="822960" cy="274320"/>
          </a:xfrm>
          <a:prstGeom prst="rect">
            <a:avLst/>
          </a:prstGeom>
          <a:noFill/>
          <a:ln/>
        </p:spPr>
        <p:txBody>
          <a:bodyPr wrap="square" rtlCol="0" anchor="ctr"/>
          <a:lstStyle/>
          <a:p>
            <a:pPr marL="0" indent="0" algn="r">
              <a:buNone/>
            </a:pPr>
            <a:r>
              <a:rPr lang="en-US" sz="900" dirty="0">
                <a:solidFill>
                  <a:srgbClr val="6B7484"/>
                </a:solidFill>
                <a:latin typeface="Calibri" pitchFamily="34" charset="0"/>
                <a:ea typeface="Calibri" pitchFamily="34" charset="-122"/>
                <a:cs typeface="Calibri" pitchFamily="34" charset="-120"/>
              </a:rPr>
              <a:t>04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txBody>
          <a:bodyPr/>
          <a:lstStyle/>
          <a:p>
            <a:endParaRPr lang="en-IN"/>
          </a:p>
        </p:txBody>
      </p:sp>
      <p:sp>
        <p:nvSpPr>
          <p:cNvPr id="3" name="Text 1"/>
          <p:cNvSpPr/>
          <p:nvPr/>
        </p:nvSpPr>
        <p:spPr>
          <a:xfrm>
            <a:off x="457200" y="384048"/>
            <a:ext cx="8686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 · Q3</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marL="0" indent="0" algn="l">
              <a:buNone/>
            </a:pPr>
            <a:r>
              <a:rPr lang="en-US" sz="2200" b="1" dirty="0">
                <a:solidFill>
                  <a:srgbClr val="132347"/>
                </a:solidFill>
                <a:latin typeface="Cambria" pitchFamily="34" charset="0"/>
                <a:ea typeface="Cambria" pitchFamily="34" charset="-122"/>
                <a:cs typeface="Cambria" pitchFamily="34" charset="-120"/>
              </a:rPr>
              <a:t>Fill DiscountPrice Using Category Average</a:t>
            </a:r>
            <a:endParaRPr lang="en-US" sz="2200" dirty="0"/>
          </a:p>
        </p:txBody>
      </p:sp>
      <p:sp>
        <p:nvSpPr>
          <p:cNvPr id="5" name="Shape 3"/>
          <p:cNvSpPr/>
          <p:nvPr/>
        </p:nvSpPr>
        <p:spPr>
          <a:xfrm>
            <a:off x="457200" y="1051560"/>
            <a:ext cx="10817352" cy="685800"/>
          </a:xfrm>
          <a:prstGeom prst="roundRect">
            <a:avLst>
              <a:gd name="adj" fmla="val 8000"/>
            </a:avLst>
          </a:prstGeom>
          <a:solidFill>
            <a:srgbClr val="E5F3F2"/>
          </a:solidFill>
          <a:ln/>
        </p:spPr>
        <p:txBody>
          <a:bodyPr/>
          <a:lstStyle/>
          <a:p>
            <a:endParaRPr lang="en-IN"/>
          </a:p>
        </p:txBody>
      </p:sp>
      <p:sp>
        <p:nvSpPr>
          <p:cNvPr id="6" name="Text 4"/>
          <p:cNvSpPr/>
          <p:nvPr/>
        </p:nvSpPr>
        <p:spPr>
          <a:xfrm>
            <a:off x="640080" y="1051560"/>
            <a:ext cx="10424160" cy="685800"/>
          </a:xfrm>
          <a:prstGeom prst="rect">
            <a:avLst/>
          </a:prstGeom>
          <a:noFill/>
          <a:ln/>
        </p:spPr>
        <p:txBody>
          <a:bodyPr wrap="square" lIns="0" tIns="0" rIns="0" bIns="0" rtlCol="0" anchor="ctr"/>
          <a:lstStyle/>
          <a:p>
            <a:pPr marL="0" indent="0">
              <a:buNone/>
            </a:pPr>
            <a:r>
              <a:rPr lang="en-US" sz="1250" i="1" dirty="0">
                <a:solidFill>
                  <a:srgbClr val="132347"/>
                </a:solidFill>
                <a:latin typeface="Calibri" pitchFamily="34" charset="0"/>
                <a:ea typeface="Calibri" pitchFamily="34" charset="-122"/>
                <a:cs typeface="Calibri" pitchFamily="34" charset="-120"/>
              </a:rPr>
              <a:t>"Identify rows where both DiscountPrice and DiscountOffer are null and fill DiscountPrice with the average discount price of the respective category."</a:t>
            </a:r>
            <a:endParaRPr lang="en-US" sz="1250" dirty="0"/>
          </a:p>
        </p:txBody>
      </p:sp>
      <p:sp>
        <p:nvSpPr>
          <p:cNvPr id="7" name="Shape 5"/>
          <p:cNvSpPr/>
          <p:nvPr/>
        </p:nvSpPr>
        <p:spPr>
          <a:xfrm>
            <a:off x="457200" y="1920240"/>
            <a:ext cx="2651760" cy="1234440"/>
          </a:xfrm>
          <a:prstGeom prst="roundRect">
            <a:avLst>
              <a:gd name="adj" fmla="val 7407"/>
            </a:avLst>
          </a:prstGeom>
          <a:solidFill>
            <a:srgbClr val="132347"/>
          </a:solidFill>
          <a:ln/>
          <a:effectLst>
            <a:outerShdw blurRad="76200" dist="38100" dir="5400000" algn="bl" rotWithShape="0">
              <a:srgbClr val="1B2233">
                <a:alpha val="25000"/>
              </a:srgbClr>
            </a:outerShdw>
          </a:effectLst>
        </p:spPr>
        <p:txBody>
          <a:bodyPr/>
          <a:lstStyle/>
          <a:p>
            <a:endParaRPr lang="en-IN"/>
          </a:p>
        </p:txBody>
      </p:sp>
      <p:sp>
        <p:nvSpPr>
          <p:cNvPr id="8" name="Text 6"/>
          <p:cNvSpPr/>
          <p:nvPr/>
        </p:nvSpPr>
        <p:spPr>
          <a:xfrm>
            <a:off x="685800" y="2084832"/>
            <a:ext cx="2194560" cy="274320"/>
          </a:xfrm>
          <a:prstGeom prst="rect">
            <a:avLst/>
          </a:prstGeom>
          <a:noFill/>
          <a:ln/>
        </p:spPr>
        <p:txBody>
          <a:bodyPr wrap="square" lIns="0" tIns="0" rIns="0" bIns="0" rtlCol="0" anchor="ctr"/>
          <a:lstStyle/>
          <a:p>
            <a:pPr marL="0" indent="0" algn="l">
              <a:buNone/>
            </a:pPr>
            <a:r>
              <a:rPr lang="en-US" sz="1100" b="1" kern="0" spc="100" dirty="0">
                <a:solidFill>
                  <a:srgbClr val="17A398"/>
                </a:solidFill>
                <a:latin typeface="Calibri" pitchFamily="34" charset="0"/>
                <a:ea typeface="Calibri" pitchFamily="34" charset="-122"/>
                <a:cs typeface="Calibri" pitchFamily="34" charset="-120"/>
              </a:rPr>
              <a:t>AFFECTED ROWS</a:t>
            </a:r>
            <a:endParaRPr lang="en-US" sz="1100" dirty="0"/>
          </a:p>
        </p:txBody>
      </p:sp>
      <p:sp>
        <p:nvSpPr>
          <p:cNvPr id="9" name="Text 7"/>
          <p:cNvSpPr/>
          <p:nvPr/>
        </p:nvSpPr>
        <p:spPr>
          <a:xfrm>
            <a:off x="685800" y="2304288"/>
            <a:ext cx="2194560" cy="5486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74,122</a:t>
            </a:r>
            <a:endParaRPr lang="en-US" sz="3400" dirty="0"/>
          </a:p>
        </p:txBody>
      </p:sp>
      <p:sp>
        <p:nvSpPr>
          <p:cNvPr id="10" name="Text 8"/>
          <p:cNvSpPr/>
          <p:nvPr/>
        </p:nvSpPr>
        <p:spPr>
          <a:xfrm>
            <a:off x="685800" y="2825496"/>
            <a:ext cx="2194560" cy="274320"/>
          </a:xfrm>
          <a:prstGeom prst="rect">
            <a:avLst/>
          </a:prstGeom>
          <a:noFill/>
          <a:ln/>
        </p:spPr>
        <p:txBody>
          <a:bodyPr wrap="square" lIns="0" tIns="0" rIns="0" bIns="0" rtlCol="0" anchor="ctr"/>
          <a:lstStyle/>
          <a:p>
            <a:pPr marL="0" indent="0" algn="l">
              <a:buNone/>
            </a:pPr>
            <a:r>
              <a:rPr lang="en-US" sz="1050" dirty="0">
                <a:solidFill>
                  <a:srgbClr val="C9D6E3"/>
                </a:solidFill>
                <a:latin typeface="Calibri" pitchFamily="34" charset="0"/>
                <a:ea typeface="Calibri" pitchFamily="34" charset="-122"/>
                <a:cs typeface="Calibri" pitchFamily="34" charset="-120"/>
              </a:rPr>
              <a:t>both fields blank</a:t>
            </a:r>
            <a:endParaRPr lang="en-US" sz="1050" dirty="0"/>
          </a:p>
        </p:txBody>
      </p:sp>
      <p:sp>
        <p:nvSpPr>
          <p:cNvPr id="11" name="Shape 9"/>
          <p:cNvSpPr/>
          <p:nvPr/>
        </p:nvSpPr>
        <p:spPr>
          <a:xfrm>
            <a:off x="3337560" y="1920240"/>
            <a:ext cx="2377440" cy="292608"/>
          </a:xfrm>
          <a:prstGeom prst="roundRect">
            <a:avLst>
              <a:gd name="adj" fmla="val 18750"/>
            </a:avLst>
          </a:prstGeom>
          <a:solidFill>
            <a:srgbClr val="132347"/>
          </a:solidFill>
          <a:ln w="12700">
            <a:solidFill>
              <a:srgbClr val="0E7C86"/>
            </a:solidFill>
            <a:prstDash val="solid"/>
          </a:ln>
        </p:spPr>
        <p:txBody>
          <a:bodyPr/>
          <a:lstStyle/>
          <a:p>
            <a:endParaRPr lang="en-IN"/>
          </a:p>
        </p:txBody>
      </p:sp>
      <p:sp>
        <p:nvSpPr>
          <p:cNvPr id="12" name="Text 10"/>
          <p:cNvSpPr/>
          <p:nvPr/>
        </p:nvSpPr>
        <p:spPr>
          <a:xfrm>
            <a:off x="3429000" y="1920240"/>
            <a:ext cx="219456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Both NULL</a:t>
            </a:r>
            <a:endParaRPr lang="en-US" sz="950" dirty="0"/>
          </a:p>
        </p:txBody>
      </p:sp>
      <p:sp>
        <p:nvSpPr>
          <p:cNvPr id="13" name="Shape 11"/>
          <p:cNvSpPr/>
          <p:nvPr/>
        </p:nvSpPr>
        <p:spPr>
          <a:xfrm>
            <a:off x="4443984" y="2225192"/>
            <a:ext cx="164592" cy="57607"/>
          </a:xfrm>
          <a:prstGeom prst="downArrow">
            <a:avLst/>
          </a:prstGeom>
          <a:solidFill>
            <a:srgbClr val="0E7C86"/>
          </a:solidFill>
          <a:ln/>
        </p:spPr>
        <p:txBody>
          <a:bodyPr/>
          <a:lstStyle/>
          <a:p>
            <a:endParaRPr lang="en-IN"/>
          </a:p>
        </p:txBody>
      </p:sp>
      <p:sp>
        <p:nvSpPr>
          <p:cNvPr id="14" name="Shape 12"/>
          <p:cNvSpPr/>
          <p:nvPr/>
        </p:nvSpPr>
        <p:spPr>
          <a:xfrm>
            <a:off x="3337560" y="2295144"/>
            <a:ext cx="2377440" cy="292608"/>
          </a:xfrm>
          <a:prstGeom prst="roundRect">
            <a:avLst>
              <a:gd name="adj" fmla="val 18750"/>
            </a:avLst>
          </a:prstGeom>
          <a:solidFill>
            <a:srgbClr val="E5F3F2"/>
          </a:solidFill>
          <a:ln w="12700">
            <a:solidFill>
              <a:srgbClr val="0E7C86"/>
            </a:solidFill>
            <a:prstDash val="solid"/>
          </a:ln>
        </p:spPr>
        <p:txBody>
          <a:bodyPr/>
          <a:lstStyle/>
          <a:p>
            <a:endParaRPr lang="en-IN"/>
          </a:p>
        </p:txBody>
      </p:sp>
      <p:sp>
        <p:nvSpPr>
          <p:cNvPr id="15" name="Text 13"/>
          <p:cNvSpPr/>
          <p:nvPr/>
        </p:nvSpPr>
        <p:spPr>
          <a:xfrm>
            <a:off x="3429000" y="2295144"/>
            <a:ext cx="2194560" cy="292608"/>
          </a:xfrm>
          <a:prstGeom prst="rect">
            <a:avLst/>
          </a:prstGeom>
          <a:noFill/>
          <a:ln/>
        </p:spPr>
        <p:txBody>
          <a:bodyPr wrap="square" lIns="0" tIns="0" rIns="0" bIns="0" rtlCol="0" anchor="ctr"/>
          <a:lstStyle/>
          <a:p>
            <a:pPr marL="0" indent="0" algn="ctr">
              <a:buNone/>
            </a:pPr>
            <a:r>
              <a:rPr lang="en-US" sz="950" b="1" dirty="0">
                <a:solidFill>
                  <a:srgbClr val="132347"/>
                </a:solidFill>
                <a:latin typeface="Calibri" pitchFamily="34" charset="0"/>
                <a:ea typeface="Calibri" pitchFamily="34" charset="-122"/>
                <a:cs typeface="Calibri" pitchFamily="34" charset="-120"/>
              </a:rPr>
              <a:t>Find Category</a:t>
            </a:r>
            <a:endParaRPr lang="en-US" sz="950" dirty="0"/>
          </a:p>
        </p:txBody>
      </p:sp>
      <p:sp>
        <p:nvSpPr>
          <p:cNvPr id="16" name="Shape 14"/>
          <p:cNvSpPr/>
          <p:nvPr/>
        </p:nvSpPr>
        <p:spPr>
          <a:xfrm>
            <a:off x="4443984" y="2600096"/>
            <a:ext cx="164592" cy="57607"/>
          </a:xfrm>
          <a:prstGeom prst="downArrow">
            <a:avLst/>
          </a:prstGeom>
          <a:solidFill>
            <a:srgbClr val="0E7C86"/>
          </a:solidFill>
          <a:ln/>
        </p:spPr>
        <p:txBody>
          <a:bodyPr/>
          <a:lstStyle/>
          <a:p>
            <a:endParaRPr lang="en-IN"/>
          </a:p>
        </p:txBody>
      </p:sp>
      <p:sp>
        <p:nvSpPr>
          <p:cNvPr id="17" name="Shape 15"/>
          <p:cNvSpPr/>
          <p:nvPr/>
        </p:nvSpPr>
        <p:spPr>
          <a:xfrm>
            <a:off x="3337560" y="2670048"/>
            <a:ext cx="2377440" cy="292608"/>
          </a:xfrm>
          <a:prstGeom prst="roundRect">
            <a:avLst>
              <a:gd name="adj" fmla="val 18750"/>
            </a:avLst>
          </a:prstGeom>
          <a:solidFill>
            <a:srgbClr val="E5F3F2"/>
          </a:solidFill>
          <a:ln w="12700">
            <a:solidFill>
              <a:srgbClr val="0E7C86"/>
            </a:solidFill>
            <a:prstDash val="solid"/>
          </a:ln>
        </p:spPr>
        <p:txBody>
          <a:bodyPr/>
          <a:lstStyle/>
          <a:p>
            <a:endParaRPr lang="en-IN"/>
          </a:p>
        </p:txBody>
      </p:sp>
      <p:sp>
        <p:nvSpPr>
          <p:cNvPr id="18" name="Text 16"/>
          <p:cNvSpPr/>
          <p:nvPr/>
        </p:nvSpPr>
        <p:spPr>
          <a:xfrm>
            <a:off x="3429000" y="2670048"/>
            <a:ext cx="2194560" cy="292608"/>
          </a:xfrm>
          <a:prstGeom prst="rect">
            <a:avLst/>
          </a:prstGeom>
          <a:noFill/>
          <a:ln/>
        </p:spPr>
        <p:txBody>
          <a:bodyPr wrap="square" lIns="0" tIns="0" rIns="0" bIns="0" rtlCol="0" anchor="ctr"/>
          <a:lstStyle/>
          <a:p>
            <a:pPr marL="0" indent="0" algn="ctr">
              <a:buNone/>
            </a:pPr>
            <a:r>
              <a:rPr lang="en-US" sz="950" b="1" dirty="0">
                <a:solidFill>
                  <a:srgbClr val="132347"/>
                </a:solidFill>
                <a:latin typeface="Calibri" pitchFamily="34" charset="0"/>
                <a:ea typeface="Calibri" pitchFamily="34" charset="-122"/>
                <a:cs typeface="Calibri" pitchFamily="34" charset="-120"/>
              </a:rPr>
              <a:t>Category AVG</a:t>
            </a:r>
            <a:endParaRPr lang="en-US" sz="950" dirty="0"/>
          </a:p>
        </p:txBody>
      </p:sp>
      <p:sp>
        <p:nvSpPr>
          <p:cNvPr id="19" name="Shape 17"/>
          <p:cNvSpPr/>
          <p:nvPr/>
        </p:nvSpPr>
        <p:spPr>
          <a:xfrm>
            <a:off x="4443984" y="2975000"/>
            <a:ext cx="164592" cy="57607"/>
          </a:xfrm>
          <a:prstGeom prst="downArrow">
            <a:avLst/>
          </a:prstGeom>
          <a:solidFill>
            <a:srgbClr val="0E7C86"/>
          </a:solidFill>
          <a:ln/>
        </p:spPr>
        <p:txBody>
          <a:bodyPr/>
          <a:lstStyle/>
          <a:p>
            <a:endParaRPr lang="en-IN"/>
          </a:p>
        </p:txBody>
      </p:sp>
      <p:sp>
        <p:nvSpPr>
          <p:cNvPr id="20" name="Shape 18"/>
          <p:cNvSpPr/>
          <p:nvPr/>
        </p:nvSpPr>
        <p:spPr>
          <a:xfrm>
            <a:off x="3337560" y="3044952"/>
            <a:ext cx="2377440" cy="292608"/>
          </a:xfrm>
          <a:prstGeom prst="roundRect">
            <a:avLst>
              <a:gd name="adj" fmla="val 18750"/>
            </a:avLst>
          </a:prstGeom>
          <a:solidFill>
            <a:srgbClr val="0E7C86"/>
          </a:solidFill>
          <a:ln w="12700">
            <a:solidFill>
              <a:srgbClr val="0E7C86"/>
            </a:solidFill>
            <a:prstDash val="solid"/>
          </a:ln>
        </p:spPr>
        <p:txBody>
          <a:bodyPr/>
          <a:lstStyle/>
          <a:p>
            <a:endParaRPr lang="en-IN"/>
          </a:p>
        </p:txBody>
      </p:sp>
      <p:sp>
        <p:nvSpPr>
          <p:cNvPr id="21" name="Text 19"/>
          <p:cNvSpPr/>
          <p:nvPr/>
        </p:nvSpPr>
        <p:spPr>
          <a:xfrm>
            <a:off x="3429000" y="3044952"/>
            <a:ext cx="219456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Fill Price</a:t>
            </a:r>
            <a:endParaRPr lang="en-US" sz="950" dirty="0"/>
          </a:p>
        </p:txBody>
      </p:sp>
      <p:graphicFrame>
        <p:nvGraphicFramePr>
          <p:cNvPr id="22" name="Chart 0"/>
          <p:cNvGraphicFramePr/>
          <p:nvPr/>
        </p:nvGraphicFramePr>
        <p:xfrm>
          <a:off x="5989320" y="1874520"/>
          <a:ext cx="562356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23" name="Text 20"/>
          <p:cNvSpPr/>
          <p:nvPr/>
        </p:nvSpPr>
        <p:spPr>
          <a:xfrm>
            <a:off x="457200" y="3337560"/>
            <a:ext cx="5349240" cy="1965960"/>
          </a:xfrm>
          <a:prstGeom prst="rect">
            <a:avLst/>
          </a:prstGeom>
          <a:noFill/>
          <a:ln/>
        </p:spPr>
        <p:txBody>
          <a:bodyPr wrap="square" lIns="0" tIns="0" rIns="0" bIns="0" rtlCol="0" anchor="t"/>
          <a:lstStyle/>
          <a:p>
            <a:pPr marL="0" indent="0" algn="l">
              <a:lnSpc>
                <a:spcPct val="115000"/>
              </a:lnSpc>
              <a:buNone/>
            </a:pPr>
            <a:r>
              <a:rPr lang="en-US" sz="1250" dirty="0">
                <a:solidFill>
                  <a:srgbClr val="1B2233"/>
                </a:solidFill>
                <a:latin typeface="Calibri" pitchFamily="34" charset="0"/>
                <a:ea typeface="Calibri" pitchFamily="34" charset="-122"/>
                <a:cs typeface="Calibri" pitchFamily="34" charset="-120"/>
              </a:rPr>
              <a:t>Rows are grouped by "Category" (8 groups) and the mean of all non-blank Discount Price values in that group is computed, then written into the blank cells.</a:t>
            </a:r>
            <a:endParaRPr lang="en-US" sz="1250" dirty="0"/>
          </a:p>
          <a:p>
            <a:pPr marL="0" indent="0" algn="l">
              <a:lnSpc>
                <a:spcPct val="115000"/>
              </a:lnSpc>
              <a:buNone/>
            </a:pPr>
            <a:endParaRPr lang="en-US" sz="1250" dirty="0"/>
          </a:p>
          <a:p>
            <a:pPr marL="0" indent="0" algn="l">
              <a:lnSpc>
                <a:spcPct val="115000"/>
              </a:lnSpc>
              <a:buNone/>
            </a:pPr>
            <a:r>
              <a:rPr lang="en-US" sz="1250" dirty="0">
                <a:solidFill>
                  <a:srgbClr val="1B2233"/>
                </a:solidFill>
                <a:latin typeface="Calibri" pitchFamily="34" charset="0"/>
                <a:ea typeface="Calibri" pitchFamily="34" charset="-122"/>
                <a:cs typeface="Calibri" pitchFamily="34" charset="-120"/>
              </a:rPr>
              <a:t>All 8 categories have sufficient non-blank data in the full dataset to compute a valid average — "Western" (the largest affected group, 21,909 rows) averages ₹1,790.09.</a:t>
            </a:r>
            <a:endParaRPr lang="en-US" sz="1250" dirty="0"/>
          </a:p>
        </p:txBody>
      </p:sp>
      <p:sp>
        <p:nvSpPr>
          <p:cNvPr id="24" name="Shape 21"/>
          <p:cNvSpPr/>
          <p:nvPr/>
        </p:nvSpPr>
        <p:spPr>
          <a:xfrm>
            <a:off x="457200" y="5394960"/>
            <a:ext cx="10817352" cy="868680"/>
          </a:xfrm>
          <a:prstGeom prst="roundRect">
            <a:avLst>
              <a:gd name="adj" fmla="val 8421"/>
            </a:avLst>
          </a:prstGeom>
          <a:solidFill>
            <a:srgbClr val="F5F7F9"/>
          </a:solidFill>
          <a:ln w="12700">
            <a:solidFill>
              <a:srgbClr val="DCE2E8"/>
            </a:solidFill>
            <a:prstDash val="solid"/>
          </a:ln>
        </p:spPr>
        <p:txBody>
          <a:bodyPr/>
          <a:lstStyle/>
          <a:p>
            <a:endParaRPr lang="en-IN"/>
          </a:p>
        </p:txBody>
      </p:sp>
      <p:sp>
        <p:nvSpPr>
          <p:cNvPr id="25" name="Text 22"/>
          <p:cNvSpPr/>
          <p:nvPr/>
        </p:nvSpPr>
        <p:spPr>
          <a:xfrm>
            <a:off x="640080" y="5486400"/>
            <a:ext cx="10451592" cy="219456"/>
          </a:xfrm>
          <a:prstGeom prst="rect">
            <a:avLst/>
          </a:prstGeom>
          <a:noFill/>
          <a:ln/>
        </p:spPr>
        <p:txBody>
          <a:bodyPr wrap="square" lIns="0" tIns="0" rIns="0" bIns="0" rtlCol="0" anchor="ctr"/>
          <a:lstStyle/>
          <a:p>
            <a:pPr marL="0" indent="0">
              <a:buNone/>
            </a:pPr>
            <a:r>
              <a:rPr lang="en-US" sz="900" b="1" kern="0" spc="10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26" name="Text 23"/>
          <p:cNvSpPr/>
          <p:nvPr/>
        </p:nvSpPr>
        <p:spPr>
          <a:xfrm>
            <a:off x="640080" y="5687568"/>
            <a:ext cx="10451592" cy="246888"/>
          </a:xfrm>
          <a:prstGeom prst="rect">
            <a:avLst/>
          </a:prstGeom>
          <a:noFill/>
          <a:ln/>
        </p:spPr>
        <p:txBody>
          <a:bodyPr wrap="square" lIns="0" tIns="0" rIns="0" bIns="0" rtlCol="0" anchor="t">
            <a:normAutofit/>
          </a:bodyPr>
          <a:lstStyle/>
          <a:p>
            <a:pPr marL="0" indent="0">
              <a:buNone/>
            </a:pPr>
            <a:r>
              <a:rPr lang="en-US" sz="1250" dirty="0">
                <a:solidFill>
                  <a:srgbClr val="132347"/>
                </a:solidFill>
                <a:latin typeface="Courier New" pitchFamily="34" charset="0"/>
                <a:ea typeface="Courier New" pitchFamily="34" charset="-122"/>
                <a:cs typeface="Courier New" pitchFamily="34" charset="-120"/>
              </a:rPr>
              <a:t>=IF(AND(H2="",J2=""), AVERAGEIF($D$2:$D$526565,D2,$H$2:$H$526565), H2)</a:t>
            </a:r>
            <a:endParaRPr lang="en-US" sz="1250" dirty="0"/>
          </a:p>
        </p:txBody>
      </p:sp>
      <p:sp>
        <p:nvSpPr>
          <p:cNvPr id="27" name="Text 24"/>
          <p:cNvSpPr/>
          <p:nvPr/>
        </p:nvSpPr>
        <p:spPr>
          <a:xfrm>
            <a:off x="640080" y="5952744"/>
            <a:ext cx="10451592" cy="256032"/>
          </a:xfrm>
          <a:prstGeom prst="rect">
            <a:avLst/>
          </a:prstGeom>
          <a:noFill/>
          <a:ln/>
        </p:spPr>
        <p:txBody>
          <a:bodyPr wrap="square" lIns="0" tIns="0" rIns="0" bIns="0" rtlCol="0" anchor="ctr"/>
          <a:lstStyle/>
          <a:p>
            <a:pPr marL="0" indent="0">
              <a:buNone/>
            </a:pPr>
            <a:r>
              <a:rPr lang="en-US" sz="950" i="1" dirty="0">
                <a:solidFill>
                  <a:srgbClr val="6B7484"/>
                </a:solidFill>
                <a:latin typeface="Calibri" pitchFamily="34" charset="0"/>
                <a:ea typeface="Calibri" pitchFamily="34" charset="-122"/>
                <a:cs typeface="Calibri" pitchFamily="34" charset="-120"/>
              </a:rPr>
              <a:t>D = Category, H = DiscountPrice, J = DiscountOffer. Applied and filled down across all 526,564 rows.</a:t>
            </a:r>
            <a:endParaRPr lang="en-US" sz="950" dirty="0"/>
          </a:p>
        </p:txBody>
      </p:sp>
      <p:sp>
        <p:nvSpPr>
          <p:cNvPr id="28" name="Text 25"/>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7484"/>
                </a:solidFill>
                <a:latin typeface="Calibri" pitchFamily="34" charset="0"/>
                <a:ea typeface="Calibri" pitchFamily="34" charset="-122"/>
                <a:cs typeface="Calibri" pitchFamily="34" charset="-120"/>
              </a:rPr>
              <a:t>Data Cleaning — Q3</a:t>
            </a:r>
            <a:endParaRPr lang="en-US" sz="900" dirty="0"/>
          </a:p>
        </p:txBody>
      </p:sp>
      <p:sp>
        <p:nvSpPr>
          <p:cNvPr id="29" name="Text 26"/>
          <p:cNvSpPr/>
          <p:nvPr/>
        </p:nvSpPr>
        <p:spPr>
          <a:xfrm>
            <a:off x="11000232" y="6473952"/>
            <a:ext cx="822960" cy="274320"/>
          </a:xfrm>
          <a:prstGeom prst="rect">
            <a:avLst/>
          </a:prstGeom>
          <a:noFill/>
          <a:ln/>
        </p:spPr>
        <p:txBody>
          <a:bodyPr wrap="square" rtlCol="0" anchor="ctr"/>
          <a:lstStyle/>
          <a:p>
            <a:pPr marL="0" indent="0" algn="r">
              <a:buNone/>
            </a:pPr>
            <a:r>
              <a:rPr lang="en-US" sz="900" dirty="0">
                <a:solidFill>
                  <a:srgbClr val="6B7484"/>
                </a:solidFill>
                <a:latin typeface="Calibri" pitchFamily="34" charset="0"/>
                <a:ea typeface="Calibri" pitchFamily="34" charset="-122"/>
                <a:cs typeface="Calibri" pitchFamily="34" charset="-120"/>
              </a:rPr>
              <a:t>05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txBody>
          <a:bodyPr/>
          <a:lstStyle/>
          <a:p>
            <a:endParaRPr lang="en-IN"/>
          </a:p>
        </p:txBody>
      </p:sp>
      <p:sp>
        <p:nvSpPr>
          <p:cNvPr id="3" name="Text 1"/>
          <p:cNvSpPr/>
          <p:nvPr/>
        </p:nvSpPr>
        <p:spPr>
          <a:xfrm>
            <a:off x="457200" y="384048"/>
            <a:ext cx="8686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 · Q4</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marL="0" indent="0" algn="l">
              <a:buNone/>
            </a:pPr>
            <a:r>
              <a:rPr lang="en-US" sz="2200" b="1" dirty="0">
                <a:solidFill>
                  <a:srgbClr val="132347"/>
                </a:solidFill>
                <a:latin typeface="Cambria" pitchFamily="34" charset="0"/>
                <a:ea typeface="Cambria" pitchFamily="34" charset="-122"/>
                <a:cs typeface="Cambria" pitchFamily="34" charset="-120"/>
              </a:rPr>
              <a:t>Replace Nulls in "SizeOption" with "Not Available"</a:t>
            </a:r>
            <a:endParaRPr lang="en-US" sz="2200" dirty="0"/>
          </a:p>
        </p:txBody>
      </p:sp>
      <p:sp>
        <p:nvSpPr>
          <p:cNvPr id="5" name="Shape 3"/>
          <p:cNvSpPr/>
          <p:nvPr/>
        </p:nvSpPr>
        <p:spPr>
          <a:xfrm>
            <a:off x="457200" y="1097280"/>
            <a:ext cx="10817352" cy="566928"/>
          </a:xfrm>
          <a:prstGeom prst="roundRect">
            <a:avLst>
              <a:gd name="adj" fmla="val 9677"/>
            </a:avLst>
          </a:prstGeom>
          <a:solidFill>
            <a:srgbClr val="E5F3F2"/>
          </a:solidFill>
          <a:ln/>
        </p:spPr>
        <p:txBody>
          <a:bodyPr/>
          <a:lstStyle/>
          <a:p>
            <a:endParaRPr lang="en-IN"/>
          </a:p>
        </p:txBody>
      </p:sp>
      <p:sp>
        <p:nvSpPr>
          <p:cNvPr id="6" name="Text 4"/>
          <p:cNvSpPr/>
          <p:nvPr/>
        </p:nvSpPr>
        <p:spPr>
          <a:xfrm>
            <a:off x="640080" y="1097280"/>
            <a:ext cx="10424160" cy="566928"/>
          </a:xfrm>
          <a:prstGeom prst="rect">
            <a:avLst/>
          </a:prstGeom>
          <a:noFill/>
          <a:ln/>
        </p:spPr>
        <p:txBody>
          <a:bodyPr wrap="square" lIns="0" tIns="0" rIns="0" bIns="0" rtlCol="0" anchor="ctr"/>
          <a:lstStyle/>
          <a:p>
            <a:pPr marL="0" indent="0">
              <a:buNone/>
            </a:pPr>
            <a:r>
              <a:rPr lang="en-US" sz="1300" i="1" dirty="0">
                <a:solidFill>
                  <a:srgbClr val="132347"/>
                </a:solidFill>
                <a:latin typeface="Calibri" pitchFamily="34" charset="0"/>
                <a:ea typeface="Calibri" pitchFamily="34" charset="-122"/>
                <a:cs typeface="Calibri" pitchFamily="34" charset="-120"/>
              </a:rPr>
              <a:t>"Replace all null values in the SizeOption column with the text \"Not Available\"."</a:t>
            </a:r>
            <a:endParaRPr lang="en-US" sz="1300" dirty="0"/>
          </a:p>
        </p:txBody>
      </p:sp>
      <p:sp>
        <p:nvSpPr>
          <p:cNvPr id="7" name="Shape 5"/>
          <p:cNvSpPr/>
          <p:nvPr/>
        </p:nvSpPr>
        <p:spPr>
          <a:xfrm>
            <a:off x="457200" y="1965960"/>
            <a:ext cx="3108960" cy="1463040"/>
          </a:xfrm>
          <a:prstGeom prst="roundRect">
            <a:avLst>
              <a:gd name="adj" fmla="val 6250"/>
            </a:avLst>
          </a:prstGeom>
          <a:solidFill>
            <a:srgbClr val="132347"/>
          </a:solidFill>
          <a:ln/>
          <a:effectLst>
            <a:outerShdw blurRad="76200" dist="38100" dir="5400000" algn="bl" rotWithShape="0">
              <a:srgbClr val="1B2233">
                <a:alpha val="25000"/>
              </a:srgbClr>
            </a:outerShdw>
          </a:effectLst>
        </p:spPr>
        <p:txBody>
          <a:bodyPr/>
          <a:lstStyle/>
          <a:p>
            <a:endParaRPr lang="en-IN"/>
          </a:p>
        </p:txBody>
      </p:sp>
      <p:sp>
        <p:nvSpPr>
          <p:cNvPr id="8" name="Text 6"/>
          <p:cNvSpPr/>
          <p:nvPr/>
        </p:nvSpPr>
        <p:spPr>
          <a:xfrm>
            <a:off x="685800" y="2130552"/>
            <a:ext cx="2651760" cy="274320"/>
          </a:xfrm>
          <a:prstGeom prst="rect">
            <a:avLst/>
          </a:prstGeom>
          <a:noFill/>
          <a:ln/>
        </p:spPr>
        <p:txBody>
          <a:bodyPr wrap="square" lIns="0" tIns="0" rIns="0" bIns="0" rtlCol="0" anchor="ctr"/>
          <a:lstStyle/>
          <a:p>
            <a:pPr marL="0" indent="0" algn="l">
              <a:buNone/>
            </a:pPr>
            <a:r>
              <a:rPr lang="en-US" sz="1100" b="1" kern="0" spc="100" dirty="0">
                <a:solidFill>
                  <a:srgbClr val="17A398"/>
                </a:solidFill>
                <a:latin typeface="Calibri" pitchFamily="34" charset="0"/>
                <a:ea typeface="Calibri" pitchFamily="34" charset="-122"/>
                <a:cs typeface="Calibri" pitchFamily="34" charset="-120"/>
              </a:rPr>
              <a:t>NULLS BEFORE CLEANING</a:t>
            </a:r>
            <a:endParaRPr lang="en-US" sz="1100" dirty="0"/>
          </a:p>
        </p:txBody>
      </p:sp>
      <p:sp>
        <p:nvSpPr>
          <p:cNvPr id="9" name="Text 7"/>
          <p:cNvSpPr/>
          <p:nvPr/>
        </p:nvSpPr>
        <p:spPr>
          <a:xfrm>
            <a:off x="685800" y="2350008"/>
            <a:ext cx="2651760"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0</a:t>
            </a:r>
            <a:endParaRPr lang="en-US" sz="3400" dirty="0"/>
          </a:p>
        </p:txBody>
      </p:sp>
      <p:sp>
        <p:nvSpPr>
          <p:cNvPr id="10" name="Text 8"/>
          <p:cNvSpPr/>
          <p:nvPr/>
        </p:nvSpPr>
        <p:spPr>
          <a:xfrm>
            <a:off x="685800" y="3099816"/>
            <a:ext cx="2651760" cy="274320"/>
          </a:xfrm>
          <a:prstGeom prst="rect">
            <a:avLst/>
          </a:prstGeom>
          <a:noFill/>
          <a:ln/>
        </p:spPr>
        <p:txBody>
          <a:bodyPr wrap="square" lIns="0" tIns="0" rIns="0" bIns="0" rtlCol="0" anchor="ctr"/>
          <a:lstStyle/>
          <a:p>
            <a:pPr marL="0" indent="0" algn="l">
              <a:buNone/>
            </a:pPr>
            <a:r>
              <a:rPr lang="en-US" sz="1050" dirty="0">
                <a:solidFill>
                  <a:srgbClr val="C9D6E3"/>
                </a:solidFill>
                <a:latin typeface="Calibri" pitchFamily="34" charset="0"/>
                <a:ea typeface="Calibri" pitchFamily="34" charset="-122"/>
                <a:cs typeface="Calibri" pitchFamily="34" charset="-120"/>
              </a:rPr>
              <a:t>of 526,564 rows</a:t>
            </a:r>
            <a:endParaRPr lang="en-US" sz="1050" dirty="0"/>
          </a:p>
        </p:txBody>
      </p:sp>
      <p:sp>
        <p:nvSpPr>
          <p:cNvPr id="11" name="Shape 9"/>
          <p:cNvSpPr/>
          <p:nvPr/>
        </p:nvSpPr>
        <p:spPr>
          <a:xfrm>
            <a:off x="3794760" y="1965960"/>
            <a:ext cx="3108960" cy="1463040"/>
          </a:xfrm>
          <a:prstGeom prst="roundRect">
            <a:avLst>
              <a:gd name="adj" fmla="val 6250"/>
            </a:avLst>
          </a:prstGeom>
          <a:solidFill>
            <a:srgbClr val="132347"/>
          </a:solidFill>
          <a:ln/>
          <a:effectLst>
            <a:outerShdw blurRad="76200" dist="38100" dir="5400000" algn="bl" rotWithShape="0">
              <a:srgbClr val="1B2233">
                <a:alpha val="25000"/>
              </a:srgbClr>
            </a:outerShdw>
          </a:effectLst>
        </p:spPr>
        <p:txBody>
          <a:bodyPr/>
          <a:lstStyle/>
          <a:p>
            <a:endParaRPr lang="en-IN"/>
          </a:p>
        </p:txBody>
      </p:sp>
      <p:sp>
        <p:nvSpPr>
          <p:cNvPr id="12" name="Text 10"/>
          <p:cNvSpPr/>
          <p:nvPr/>
        </p:nvSpPr>
        <p:spPr>
          <a:xfrm>
            <a:off x="4023360" y="2130552"/>
            <a:ext cx="2651760" cy="274320"/>
          </a:xfrm>
          <a:prstGeom prst="rect">
            <a:avLst/>
          </a:prstGeom>
          <a:noFill/>
          <a:ln/>
        </p:spPr>
        <p:txBody>
          <a:bodyPr wrap="square" lIns="0" tIns="0" rIns="0" bIns="0" rtlCol="0" anchor="ctr"/>
          <a:lstStyle/>
          <a:p>
            <a:pPr marL="0" indent="0" algn="l">
              <a:buNone/>
            </a:pPr>
            <a:r>
              <a:rPr lang="en-US" sz="1100" b="1" kern="0" spc="100" dirty="0">
                <a:solidFill>
                  <a:srgbClr val="17A398"/>
                </a:solidFill>
                <a:latin typeface="Calibri" pitchFamily="34" charset="0"/>
                <a:ea typeface="Calibri" pitchFamily="34" charset="-122"/>
                <a:cs typeface="Calibri" pitchFamily="34" charset="-120"/>
              </a:rPr>
              <a:t>NULLS AFTER CLEANING</a:t>
            </a:r>
            <a:endParaRPr lang="en-US" sz="1100" dirty="0"/>
          </a:p>
        </p:txBody>
      </p:sp>
      <p:sp>
        <p:nvSpPr>
          <p:cNvPr id="13" name="Text 11"/>
          <p:cNvSpPr/>
          <p:nvPr/>
        </p:nvSpPr>
        <p:spPr>
          <a:xfrm>
            <a:off x="4023360" y="2350008"/>
            <a:ext cx="2651760"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0</a:t>
            </a:r>
            <a:endParaRPr lang="en-US" sz="3400" dirty="0"/>
          </a:p>
        </p:txBody>
      </p:sp>
      <p:sp>
        <p:nvSpPr>
          <p:cNvPr id="14" name="Text 12"/>
          <p:cNvSpPr/>
          <p:nvPr/>
        </p:nvSpPr>
        <p:spPr>
          <a:xfrm>
            <a:off x="4023360" y="3099816"/>
            <a:ext cx="2651760" cy="274320"/>
          </a:xfrm>
          <a:prstGeom prst="rect">
            <a:avLst/>
          </a:prstGeom>
          <a:noFill/>
          <a:ln/>
        </p:spPr>
        <p:txBody>
          <a:bodyPr wrap="square" lIns="0" tIns="0" rIns="0" bIns="0" rtlCol="0" anchor="ctr"/>
          <a:lstStyle/>
          <a:p>
            <a:pPr marL="0" indent="0" algn="l">
              <a:buNone/>
            </a:pPr>
            <a:r>
              <a:rPr lang="en-US" sz="1050" dirty="0">
                <a:solidFill>
                  <a:srgbClr val="C9D6E3"/>
                </a:solidFill>
                <a:latin typeface="Calibri" pitchFamily="34" charset="0"/>
                <a:ea typeface="Calibri" pitchFamily="34" charset="-122"/>
                <a:cs typeface="Calibri" pitchFamily="34" charset="-120"/>
              </a:rPr>
              <a:t>no replacement needed</a:t>
            </a:r>
            <a:endParaRPr lang="en-US" sz="1050" dirty="0"/>
          </a:p>
        </p:txBody>
      </p:sp>
      <p:graphicFrame>
        <p:nvGraphicFramePr>
          <p:cNvPr id="15" name="Chart 0"/>
          <p:cNvGraphicFramePr/>
          <p:nvPr/>
        </p:nvGraphicFramePr>
        <p:xfrm>
          <a:off x="7360920" y="1874520"/>
          <a:ext cx="393192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3"/>
          <p:cNvSpPr/>
          <p:nvPr/>
        </p:nvSpPr>
        <p:spPr>
          <a:xfrm>
            <a:off x="457200" y="3657600"/>
            <a:ext cx="6583680" cy="1280160"/>
          </a:xfrm>
          <a:prstGeom prst="rect">
            <a:avLst/>
          </a:prstGeom>
          <a:noFill/>
          <a:ln/>
        </p:spPr>
        <p:txBody>
          <a:bodyPr wrap="square" lIns="0" tIns="0" rIns="0" bIns="0" rtlCol="0" anchor="t"/>
          <a:lstStyle/>
          <a:p>
            <a:pPr marL="0" indent="0" algn="l">
              <a:lnSpc>
                <a:spcPct val="115000"/>
              </a:lnSpc>
              <a:buNone/>
            </a:pPr>
            <a:r>
              <a:rPr lang="en-US" sz="1250" dirty="0">
                <a:solidFill>
                  <a:srgbClr val="1B2233"/>
                </a:solidFill>
                <a:latin typeface="Calibri" pitchFamily="34" charset="0"/>
                <a:ea typeface="Calibri" pitchFamily="34" charset="-122"/>
                <a:cs typeface="Calibri" pitchFamily="34" charset="-120"/>
              </a:rPr>
              <a:t>An ISBLANK / COUNTBLANK audit of the SizeOption column returns zero blanks across all 526,564 rows — every product already lists at least one size. The cleaning formula below is applied regardless (as the task requires) and safely returns the original value for every row since no blanks exist.</a:t>
            </a:r>
            <a:endParaRPr lang="en-US" sz="1250" dirty="0"/>
          </a:p>
        </p:txBody>
      </p:sp>
      <p:sp>
        <p:nvSpPr>
          <p:cNvPr id="17" name="Shape 14"/>
          <p:cNvSpPr/>
          <p:nvPr/>
        </p:nvSpPr>
        <p:spPr>
          <a:xfrm>
            <a:off x="457200" y="5257800"/>
            <a:ext cx="10817352" cy="914400"/>
          </a:xfrm>
          <a:prstGeom prst="roundRect">
            <a:avLst>
              <a:gd name="adj" fmla="val 8000"/>
            </a:avLst>
          </a:prstGeom>
          <a:solidFill>
            <a:srgbClr val="F5F7F9"/>
          </a:solidFill>
          <a:ln w="12700">
            <a:solidFill>
              <a:srgbClr val="DCE2E8"/>
            </a:solidFill>
            <a:prstDash val="solid"/>
          </a:ln>
        </p:spPr>
        <p:txBody>
          <a:bodyPr/>
          <a:lstStyle/>
          <a:p>
            <a:endParaRPr lang="en-IN"/>
          </a:p>
        </p:txBody>
      </p:sp>
      <p:sp>
        <p:nvSpPr>
          <p:cNvPr id="18" name="Text 15"/>
          <p:cNvSpPr/>
          <p:nvPr/>
        </p:nvSpPr>
        <p:spPr>
          <a:xfrm>
            <a:off x="640080" y="5349240"/>
            <a:ext cx="10451592" cy="219456"/>
          </a:xfrm>
          <a:prstGeom prst="rect">
            <a:avLst/>
          </a:prstGeom>
          <a:noFill/>
          <a:ln/>
        </p:spPr>
        <p:txBody>
          <a:bodyPr wrap="square" lIns="0" tIns="0" rIns="0" bIns="0" rtlCol="0" anchor="ctr"/>
          <a:lstStyle/>
          <a:p>
            <a:pPr marL="0" indent="0">
              <a:buNone/>
            </a:pPr>
            <a:r>
              <a:rPr lang="en-US" sz="900" b="1" kern="0" spc="10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19" name="Text 16"/>
          <p:cNvSpPr/>
          <p:nvPr/>
        </p:nvSpPr>
        <p:spPr>
          <a:xfrm>
            <a:off x="640080" y="5550408"/>
            <a:ext cx="10451592" cy="292608"/>
          </a:xfrm>
          <a:prstGeom prst="rect">
            <a:avLst/>
          </a:prstGeom>
          <a:noFill/>
          <a:ln/>
        </p:spPr>
        <p:txBody>
          <a:bodyPr wrap="square" lIns="0" tIns="0" rIns="0" bIns="0" rtlCol="0" anchor="t">
            <a:normAutofit/>
          </a:bodyPr>
          <a:lstStyle/>
          <a:p>
            <a:pPr marL="0" indent="0">
              <a:buNone/>
            </a:pPr>
            <a:r>
              <a:rPr lang="en-US" sz="1250" dirty="0">
                <a:solidFill>
                  <a:srgbClr val="132347"/>
                </a:solidFill>
                <a:latin typeface="Courier New" pitchFamily="34" charset="0"/>
                <a:ea typeface="Courier New" pitchFamily="34" charset="-122"/>
                <a:cs typeface="Courier New" pitchFamily="34" charset="-120"/>
              </a:rPr>
              <a:t>=IF(ISBLANK(K2),"Not Available",K2)      Nulls found: =COUNTBLANK(K2:K526565) → 0</a:t>
            </a:r>
            <a:endParaRPr lang="en-US" sz="1250" dirty="0"/>
          </a:p>
        </p:txBody>
      </p:sp>
      <p:sp>
        <p:nvSpPr>
          <p:cNvPr id="20" name="Text 17"/>
          <p:cNvSpPr/>
          <p:nvPr/>
        </p:nvSpPr>
        <p:spPr>
          <a:xfrm>
            <a:off x="640080" y="5861304"/>
            <a:ext cx="10451592" cy="256032"/>
          </a:xfrm>
          <a:prstGeom prst="rect">
            <a:avLst/>
          </a:prstGeom>
          <a:noFill/>
          <a:ln/>
        </p:spPr>
        <p:txBody>
          <a:bodyPr wrap="square" lIns="0" tIns="0" rIns="0" bIns="0" rtlCol="0" anchor="ctr"/>
          <a:lstStyle/>
          <a:p>
            <a:pPr marL="0" indent="0">
              <a:buNone/>
            </a:pPr>
            <a:r>
              <a:rPr lang="en-US" sz="950" i="1" dirty="0">
                <a:solidFill>
                  <a:srgbClr val="6B7484"/>
                </a:solidFill>
                <a:latin typeface="Calibri" pitchFamily="34" charset="0"/>
                <a:ea typeface="Calibri" pitchFamily="34" charset="-122"/>
                <a:cs typeface="Calibri" pitchFamily="34" charset="-120"/>
              </a:rPr>
              <a:t>K = SizeOption column.</a:t>
            </a:r>
            <a:endParaRPr lang="en-US" sz="950" dirty="0"/>
          </a:p>
        </p:txBody>
      </p:sp>
      <p:sp>
        <p:nvSpPr>
          <p:cNvPr id="21" name="Text 18"/>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7484"/>
                </a:solidFill>
                <a:latin typeface="Calibri" pitchFamily="34" charset="0"/>
                <a:ea typeface="Calibri" pitchFamily="34" charset="-122"/>
                <a:cs typeface="Calibri" pitchFamily="34" charset="-120"/>
              </a:rPr>
              <a:t>Data Cleaning — Q4</a:t>
            </a:r>
            <a:endParaRPr lang="en-US" sz="900" dirty="0"/>
          </a:p>
        </p:txBody>
      </p:sp>
      <p:sp>
        <p:nvSpPr>
          <p:cNvPr id="22" name="Text 19"/>
          <p:cNvSpPr/>
          <p:nvPr/>
        </p:nvSpPr>
        <p:spPr>
          <a:xfrm>
            <a:off x="11000232" y="6473952"/>
            <a:ext cx="822960" cy="274320"/>
          </a:xfrm>
          <a:prstGeom prst="rect">
            <a:avLst/>
          </a:prstGeom>
          <a:noFill/>
          <a:ln/>
        </p:spPr>
        <p:txBody>
          <a:bodyPr wrap="square" rtlCol="0" anchor="ctr"/>
          <a:lstStyle/>
          <a:p>
            <a:pPr marL="0" indent="0" algn="r">
              <a:buNone/>
            </a:pPr>
            <a:r>
              <a:rPr lang="en-US" sz="900" dirty="0">
                <a:solidFill>
                  <a:srgbClr val="6B7484"/>
                </a:solidFill>
                <a:latin typeface="Calibri" pitchFamily="34" charset="0"/>
                <a:ea typeface="Calibri" pitchFamily="34" charset="-122"/>
                <a:cs typeface="Calibri" pitchFamily="34" charset="-120"/>
              </a:rPr>
              <a:t>06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txBody>
          <a:bodyPr/>
          <a:lstStyle/>
          <a:p>
            <a:endParaRPr lang="en-IN"/>
          </a:p>
        </p:txBody>
      </p:sp>
      <p:sp>
        <p:nvSpPr>
          <p:cNvPr id="3" name="Text 1"/>
          <p:cNvSpPr/>
          <p:nvPr/>
        </p:nvSpPr>
        <p:spPr>
          <a:xfrm>
            <a:off x="457200" y="384048"/>
            <a:ext cx="8686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 · Q5</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marL="0" indent="0" algn="l">
              <a:buNone/>
            </a:pPr>
            <a:r>
              <a:rPr lang="en-US" sz="2200" b="1" dirty="0">
                <a:solidFill>
                  <a:srgbClr val="132347"/>
                </a:solidFill>
                <a:latin typeface="Cambria" pitchFamily="34" charset="0"/>
                <a:ea typeface="Cambria" pitchFamily="34" charset="-122"/>
                <a:cs typeface="Cambria" pitchFamily="34" charset="-120"/>
              </a:rPr>
              <a:t>Average Original Price for Ratings &gt; 4</a:t>
            </a:r>
            <a:endParaRPr lang="en-US" sz="2200" dirty="0"/>
          </a:p>
        </p:txBody>
      </p:sp>
      <p:sp>
        <p:nvSpPr>
          <p:cNvPr id="5" name="Shape 3"/>
          <p:cNvSpPr/>
          <p:nvPr/>
        </p:nvSpPr>
        <p:spPr>
          <a:xfrm>
            <a:off x="457200" y="1097280"/>
            <a:ext cx="10817352" cy="566928"/>
          </a:xfrm>
          <a:prstGeom prst="roundRect">
            <a:avLst>
              <a:gd name="adj" fmla="val 9677"/>
            </a:avLst>
          </a:prstGeom>
          <a:solidFill>
            <a:srgbClr val="E5F3F2"/>
          </a:solidFill>
          <a:ln/>
        </p:spPr>
        <p:txBody>
          <a:bodyPr/>
          <a:lstStyle/>
          <a:p>
            <a:endParaRPr lang="en-IN"/>
          </a:p>
        </p:txBody>
      </p:sp>
      <p:sp>
        <p:nvSpPr>
          <p:cNvPr id="6" name="Text 4"/>
          <p:cNvSpPr/>
          <p:nvPr/>
        </p:nvSpPr>
        <p:spPr>
          <a:xfrm>
            <a:off x="640080" y="1097280"/>
            <a:ext cx="10424160" cy="566928"/>
          </a:xfrm>
          <a:prstGeom prst="rect">
            <a:avLst/>
          </a:prstGeom>
          <a:noFill/>
          <a:ln/>
        </p:spPr>
        <p:txBody>
          <a:bodyPr wrap="square" lIns="0" tIns="0" rIns="0" bIns="0" rtlCol="0" anchor="ctr"/>
          <a:lstStyle/>
          <a:p>
            <a:pPr marL="0" indent="0">
              <a:buNone/>
            </a:pPr>
            <a:r>
              <a:rPr lang="en-US" sz="1300" i="1" dirty="0">
                <a:solidFill>
                  <a:srgbClr val="132347"/>
                </a:solidFill>
                <a:latin typeface="Calibri" pitchFamily="34" charset="0"/>
                <a:ea typeface="Calibri" pitchFamily="34" charset="-122"/>
                <a:cs typeface="Calibri" pitchFamily="34" charset="-120"/>
              </a:rPr>
              <a:t>"Calculate the overall average original price for products with ratings greater than 4."</a:t>
            </a:r>
            <a:endParaRPr lang="en-US" sz="1300" dirty="0"/>
          </a:p>
        </p:txBody>
      </p:sp>
      <p:sp>
        <p:nvSpPr>
          <p:cNvPr id="7" name="Shape 5"/>
          <p:cNvSpPr/>
          <p:nvPr/>
        </p:nvSpPr>
        <p:spPr>
          <a:xfrm>
            <a:off x="457200" y="1965960"/>
            <a:ext cx="3291840" cy="1645920"/>
          </a:xfrm>
          <a:prstGeom prst="roundRect">
            <a:avLst>
              <a:gd name="adj" fmla="val 5556"/>
            </a:avLst>
          </a:prstGeom>
          <a:solidFill>
            <a:srgbClr val="132347"/>
          </a:solidFill>
          <a:ln/>
          <a:effectLst>
            <a:outerShdw blurRad="76200" dist="38100" dir="5400000" algn="bl" rotWithShape="0">
              <a:srgbClr val="1B2233">
                <a:alpha val="25000"/>
              </a:srgbClr>
            </a:outerShdw>
          </a:effectLst>
        </p:spPr>
        <p:txBody>
          <a:bodyPr/>
          <a:lstStyle/>
          <a:p>
            <a:endParaRPr lang="en-IN"/>
          </a:p>
        </p:txBody>
      </p:sp>
      <p:sp>
        <p:nvSpPr>
          <p:cNvPr id="8" name="Text 6"/>
          <p:cNvSpPr/>
          <p:nvPr/>
        </p:nvSpPr>
        <p:spPr>
          <a:xfrm>
            <a:off x="685800" y="2130552"/>
            <a:ext cx="2834640" cy="274320"/>
          </a:xfrm>
          <a:prstGeom prst="rect">
            <a:avLst/>
          </a:prstGeom>
          <a:noFill/>
          <a:ln/>
        </p:spPr>
        <p:txBody>
          <a:bodyPr wrap="square" lIns="0" tIns="0" rIns="0" bIns="0" rtlCol="0" anchor="ctr"/>
          <a:lstStyle/>
          <a:p>
            <a:pPr marL="0" indent="0" algn="l">
              <a:buNone/>
            </a:pPr>
            <a:r>
              <a:rPr lang="en-US" sz="1100" b="1" kern="0" spc="100" dirty="0">
                <a:solidFill>
                  <a:srgbClr val="17A398"/>
                </a:solidFill>
                <a:latin typeface="Calibri" pitchFamily="34" charset="0"/>
                <a:ea typeface="Calibri" pitchFamily="34" charset="-122"/>
                <a:cs typeface="Calibri" pitchFamily="34" charset="-120"/>
              </a:rPr>
              <a:t>AVERAGE ORIGINAL PRICE</a:t>
            </a:r>
            <a:endParaRPr lang="en-US" sz="1100" dirty="0"/>
          </a:p>
          <a:p>
            <a:pPr marL="0" indent="0" algn="l">
              <a:buNone/>
            </a:pPr>
            <a:r>
              <a:rPr lang="en-US" sz="1100" b="1" kern="0" spc="100" dirty="0">
                <a:solidFill>
                  <a:srgbClr val="17A398"/>
                </a:solidFill>
                <a:latin typeface="Calibri" pitchFamily="34" charset="0"/>
                <a:ea typeface="Calibri" pitchFamily="34" charset="-122"/>
                <a:cs typeface="Calibri" pitchFamily="34" charset="-120"/>
              </a:rPr>
              <a:t>(RATING &gt; 4)</a:t>
            </a:r>
            <a:endParaRPr lang="en-US" sz="1100" dirty="0"/>
          </a:p>
        </p:txBody>
      </p:sp>
      <p:sp>
        <p:nvSpPr>
          <p:cNvPr id="9" name="Text 7"/>
          <p:cNvSpPr/>
          <p:nvPr/>
        </p:nvSpPr>
        <p:spPr>
          <a:xfrm>
            <a:off x="685800" y="2350008"/>
            <a:ext cx="2834640" cy="96012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₹1,967</a:t>
            </a:r>
            <a:endParaRPr lang="en-US" sz="3400" dirty="0"/>
          </a:p>
        </p:txBody>
      </p:sp>
      <p:sp>
        <p:nvSpPr>
          <p:cNvPr id="10" name="Text 8"/>
          <p:cNvSpPr/>
          <p:nvPr/>
        </p:nvSpPr>
        <p:spPr>
          <a:xfrm>
            <a:off x="685800" y="3282696"/>
            <a:ext cx="2834640" cy="274320"/>
          </a:xfrm>
          <a:prstGeom prst="rect">
            <a:avLst/>
          </a:prstGeom>
          <a:noFill/>
          <a:ln/>
        </p:spPr>
        <p:txBody>
          <a:bodyPr wrap="square" lIns="0" tIns="0" rIns="0" bIns="0" rtlCol="0" anchor="ctr"/>
          <a:lstStyle/>
          <a:p>
            <a:pPr marL="0" indent="0" algn="l">
              <a:buNone/>
            </a:pPr>
            <a:r>
              <a:rPr lang="en-US" sz="1050" dirty="0">
                <a:solidFill>
                  <a:srgbClr val="C9D6E3"/>
                </a:solidFill>
                <a:latin typeface="Calibri" pitchFamily="34" charset="0"/>
                <a:ea typeface="Calibri" pitchFamily="34" charset="-122"/>
                <a:cs typeface="Calibri" pitchFamily="34" charset="-120"/>
              </a:rPr>
              <a:t>precise: ₹1,966.67 · n = 117,248</a:t>
            </a:r>
            <a:endParaRPr lang="en-US" sz="1050" dirty="0"/>
          </a:p>
        </p:txBody>
      </p:sp>
      <p:graphicFrame>
        <p:nvGraphicFramePr>
          <p:cNvPr id="11" name="Chart 0"/>
          <p:cNvGraphicFramePr/>
          <p:nvPr/>
        </p:nvGraphicFramePr>
        <p:xfrm>
          <a:off x="4023360" y="1874520"/>
          <a:ext cx="72237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9"/>
          <p:cNvSpPr/>
          <p:nvPr/>
        </p:nvSpPr>
        <p:spPr>
          <a:xfrm>
            <a:off x="457200" y="3794760"/>
            <a:ext cx="3291840" cy="1371600"/>
          </a:xfrm>
          <a:prstGeom prst="rect">
            <a:avLst/>
          </a:prstGeom>
          <a:noFill/>
          <a:ln/>
        </p:spPr>
        <p:txBody>
          <a:bodyPr wrap="square" lIns="0" tIns="0" rIns="0" bIns="0" rtlCol="0" anchor="t"/>
          <a:lstStyle/>
          <a:p>
            <a:pPr marL="0" indent="0" algn="l">
              <a:lnSpc>
                <a:spcPct val="115000"/>
              </a:lnSpc>
              <a:buNone/>
            </a:pPr>
            <a:r>
              <a:rPr lang="en-US" sz="1250" dirty="0">
                <a:solidFill>
                  <a:srgbClr val="1B2233"/>
                </a:solidFill>
                <a:latin typeface="Calibri" pitchFamily="34" charset="0"/>
                <a:ea typeface="Calibri" pitchFamily="34" charset="-122"/>
                <a:cs typeface="Calibri" pitchFamily="34" charset="-120"/>
              </a:rPr>
              <a:t>Higher-rated products (&gt;4★) average about 18.5% LOWER than the full catalog average — rating is not tied to a price premium in this dataset.</a:t>
            </a:r>
            <a:endParaRPr lang="en-US" sz="1250" dirty="0"/>
          </a:p>
        </p:txBody>
      </p:sp>
      <p:sp>
        <p:nvSpPr>
          <p:cNvPr id="13" name="Shape 10"/>
          <p:cNvSpPr/>
          <p:nvPr/>
        </p:nvSpPr>
        <p:spPr>
          <a:xfrm>
            <a:off x="457200" y="5257800"/>
            <a:ext cx="10817352" cy="914400"/>
          </a:xfrm>
          <a:prstGeom prst="roundRect">
            <a:avLst>
              <a:gd name="adj" fmla="val 8000"/>
            </a:avLst>
          </a:prstGeom>
          <a:solidFill>
            <a:srgbClr val="F5F7F9"/>
          </a:solidFill>
          <a:ln w="12700">
            <a:solidFill>
              <a:srgbClr val="DCE2E8"/>
            </a:solidFill>
            <a:prstDash val="solid"/>
          </a:ln>
        </p:spPr>
        <p:txBody>
          <a:bodyPr/>
          <a:lstStyle/>
          <a:p>
            <a:endParaRPr lang="en-IN"/>
          </a:p>
        </p:txBody>
      </p:sp>
      <p:sp>
        <p:nvSpPr>
          <p:cNvPr id="14" name="Text 11"/>
          <p:cNvSpPr/>
          <p:nvPr/>
        </p:nvSpPr>
        <p:spPr>
          <a:xfrm>
            <a:off x="640080" y="5349240"/>
            <a:ext cx="10451592" cy="219456"/>
          </a:xfrm>
          <a:prstGeom prst="rect">
            <a:avLst/>
          </a:prstGeom>
          <a:noFill/>
          <a:ln/>
        </p:spPr>
        <p:txBody>
          <a:bodyPr wrap="square" lIns="0" tIns="0" rIns="0" bIns="0" rtlCol="0" anchor="ctr"/>
          <a:lstStyle/>
          <a:p>
            <a:pPr marL="0" indent="0">
              <a:buNone/>
            </a:pPr>
            <a:r>
              <a:rPr lang="en-US" sz="900" b="1" kern="0" spc="10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15" name="Text 12"/>
          <p:cNvSpPr/>
          <p:nvPr/>
        </p:nvSpPr>
        <p:spPr>
          <a:xfrm>
            <a:off x="640080" y="5550408"/>
            <a:ext cx="10451592" cy="292608"/>
          </a:xfrm>
          <a:prstGeom prst="rect">
            <a:avLst/>
          </a:prstGeom>
          <a:noFill/>
          <a:ln/>
        </p:spPr>
        <p:txBody>
          <a:bodyPr wrap="square" lIns="0" tIns="0" rIns="0" bIns="0" rtlCol="0" anchor="t">
            <a:normAutofit/>
          </a:bodyPr>
          <a:lstStyle/>
          <a:p>
            <a:pPr marL="0" indent="0">
              <a:buNone/>
            </a:pPr>
            <a:r>
              <a:rPr lang="en-US" sz="1250" dirty="0">
                <a:solidFill>
                  <a:srgbClr val="132347"/>
                </a:solidFill>
                <a:latin typeface="Courier New" pitchFamily="34" charset="0"/>
                <a:ea typeface="Courier New" pitchFamily="34" charset="-122"/>
                <a:cs typeface="Courier New" pitchFamily="34" charset="-120"/>
              </a:rPr>
              <a:t>=AVERAGEIF(L2:L526565,"&gt;4",I2:I526565)   →   Result: ₹1,966.6675</a:t>
            </a:r>
            <a:endParaRPr lang="en-US" sz="1250" dirty="0"/>
          </a:p>
        </p:txBody>
      </p:sp>
      <p:sp>
        <p:nvSpPr>
          <p:cNvPr id="16" name="Text 13"/>
          <p:cNvSpPr/>
          <p:nvPr/>
        </p:nvSpPr>
        <p:spPr>
          <a:xfrm>
            <a:off x="640080" y="5861304"/>
            <a:ext cx="10451592" cy="256032"/>
          </a:xfrm>
          <a:prstGeom prst="rect">
            <a:avLst/>
          </a:prstGeom>
          <a:noFill/>
          <a:ln/>
        </p:spPr>
        <p:txBody>
          <a:bodyPr wrap="square" lIns="0" tIns="0" rIns="0" bIns="0" rtlCol="0" anchor="ctr"/>
          <a:lstStyle/>
          <a:p>
            <a:pPr marL="0" indent="0">
              <a:buNone/>
            </a:pPr>
            <a:r>
              <a:rPr lang="en-US" sz="950" i="1" dirty="0">
                <a:solidFill>
                  <a:srgbClr val="6B7484"/>
                </a:solidFill>
                <a:latin typeface="Calibri" pitchFamily="34" charset="0"/>
                <a:ea typeface="Calibri" pitchFamily="34" charset="-122"/>
                <a:cs typeface="Calibri" pitchFamily="34" charset="-120"/>
              </a:rPr>
              <a:t>L = Ratings, I = Original Price (in Rs). 117,248 of 190,412 rated products have a rating &gt; 4.</a:t>
            </a:r>
            <a:endParaRPr lang="en-US" sz="950" dirty="0"/>
          </a:p>
        </p:txBody>
      </p:sp>
      <p:sp>
        <p:nvSpPr>
          <p:cNvPr id="17" name="Text 14"/>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7484"/>
                </a:solidFill>
                <a:latin typeface="Calibri" pitchFamily="34" charset="0"/>
                <a:ea typeface="Calibri" pitchFamily="34" charset="-122"/>
                <a:cs typeface="Calibri" pitchFamily="34" charset="-120"/>
              </a:rPr>
              <a:t>Data Analysis — Q5</a:t>
            </a:r>
            <a:endParaRPr lang="en-US" sz="900" dirty="0"/>
          </a:p>
        </p:txBody>
      </p:sp>
      <p:sp>
        <p:nvSpPr>
          <p:cNvPr id="18" name="Text 15"/>
          <p:cNvSpPr/>
          <p:nvPr/>
        </p:nvSpPr>
        <p:spPr>
          <a:xfrm>
            <a:off x="11000232" y="6473952"/>
            <a:ext cx="822960" cy="274320"/>
          </a:xfrm>
          <a:prstGeom prst="rect">
            <a:avLst/>
          </a:prstGeom>
          <a:noFill/>
          <a:ln/>
        </p:spPr>
        <p:txBody>
          <a:bodyPr wrap="square" rtlCol="0" anchor="ctr"/>
          <a:lstStyle/>
          <a:p>
            <a:pPr marL="0" indent="0" algn="r">
              <a:buNone/>
            </a:pPr>
            <a:r>
              <a:rPr lang="en-US" sz="900" dirty="0">
                <a:solidFill>
                  <a:srgbClr val="6B7484"/>
                </a:solidFill>
                <a:latin typeface="Calibri" pitchFamily="34" charset="0"/>
                <a:ea typeface="Calibri" pitchFamily="34" charset="-122"/>
                <a:cs typeface="Calibri" pitchFamily="34" charset="-120"/>
              </a:rPr>
              <a:t>07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txBody>
          <a:bodyPr/>
          <a:lstStyle/>
          <a:p>
            <a:endParaRPr lang="en-IN"/>
          </a:p>
        </p:txBody>
      </p:sp>
      <p:sp>
        <p:nvSpPr>
          <p:cNvPr id="3" name="Text 1"/>
          <p:cNvSpPr/>
          <p:nvPr/>
        </p:nvSpPr>
        <p:spPr>
          <a:xfrm>
            <a:off x="457200" y="384048"/>
            <a:ext cx="8686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 · Q6</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marL="0" indent="0" algn="l">
              <a:buNone/>
            </a:pPr>
            <a:r>
              <a:rPr lang="en-US" sz="2200" b="1" dirty="0">
                <a:solidFill>
                  <a:srgbClr val="132347"/>
                </a:solidFill>
                <a:latin typeface="Cambria" pitchFamily="34" charset="0"/>
                <a:ea typeface="Cambria" pitchFamily="34" charset="-122"/>
                <a:cs typeface="Cambria" pitchFamily="34" charset="-120"/>
              </a:rPr>
              <a:t>Products with a Discount Offer Greater than 50%</a:t>
            </a:r>
            <a:endParaRPr lang="en-US" sz="2200" dirty="0"/>
          </a:p>
        </p:txBody>
      </p:sp>
      <p:sp>
        <p:nvSpPr>
          <p:cNvPr id="5" name="Shape 3"/>
          <p:cNvSpPr/>
          <p:nvPr/>
        </p:nvSpPr>
        <p:spPr>
          <a:xfrm>
            <a:off x="457200" y="1097280"/>
            <a:ext cx="10817352" cy="502920"/>
          </a:xfrm>
          <a:prstGeom prst="roundRect">
            <a:avLst>
              <a:gd name="adj" fmla="val 10909"/>
            </a:avLst>
          </a:prstGeom>
          <a:solidFill>
            <a:srgbClr val="E5F3F2"/>
          </a:solidFill>
          <a:ln/>
        </p:spPr>
        <p:txBody>
          <a:bodyPr/>
          <a:lstStyle/>
          <a:p>
            <a:endParaRPr lang="en-IN"/>
          </a:p>
        </p:txBody>
      </p:sp>
      <p:sp>
        <p:nvSpPr>
          <p:cNvPr id="6" name="Text 4"/>
          <p:cNvSpPr/>
          <p:nvPr/>
        </p:nvSpPr>
        <p:spPr>
          <a:xfrm>
            <a:off x="640080" y="1097280"/>
            <a:ext cx="10424160" cy="502920"/>
          </a:xfrm>
          <a:prstGeom prst="rect">
            <a:avLst/>
          </a:prstGeom>
          <a:noFill/>
          <a:ln/>
        </p:spPr>
        <p:txBody>
          <a:bodyPr wrap="square" lIns="0" tIns="0" rIns="0" bIns="0" rtlCol="0" anchor="ctr"/>
          <a:lstStyle/>
          <a:p>
            <a:pPr marL="0" indent="0">
              <a:buNone/>
            </a:pPr>
            <a:r>
              <a:rPr lang="en-US" sz="1250" i="1" dirty="0">
                <a:solidFill>
                  <a:srgbClr val="132347"/>
                </a:solidFill>
                <a:latin typeface="Calibri" pitchFamily="34" charset="0"/>
                <a:ea typeface="Calibri" pitchFamily="34" charset="-122"/>
                <a:cs typeface="Calibri" pitchFamily="34" charset="-120"/>
              </a:rPr>
              <a:t>"Count the number of products with a discount offer greater than 50% OFF."</a:t>
            </a:r>
            <a:endParaRPr lang="en-US" sz="1250" dirty="0"/>
          </a:p>
        </p:txBody>
      </p:sp>
      <p:sp>
        <p:nvSpPr>
          <p:cNvPr id="7" name="Shape 5"/>
          <p:cNvSpPr/>
          <p:nvPr/>
        </p:nvSpPr>
        <p:spPr>
          <a:xfrm>
            <a:off x="457200" y="1755648"/>
            <a:ext cx="3520440" cy="1417320"/>
          </a:xfrm>
          <a:prstGeom prst="roundRect">
            <a:avLst>
              <a:gd name="adj" fmla="val 6452"/>
            </a:avLst>
          </a:prstGeom>
          <a:solidFill>
            <a:srgbClr val="132347"/>
          </a:solidFill>
          <a:ln/>
          <a:effectLst>
            <a:outerShdw blurRad="76200" dist="38100" dir="5400000" algn="bl" rotWithShape="0">
              <a:srgbClr val="1B2233">
                <a:alpha val="25000"/>
              </a:srgbClr>
            </a:outerShdw>
          </a:effectLst>
        </p:spPr>
        <p:txBody>
          <a:bodyPr/>
          <a:lstStyle/>
          <a:p>
            <a:endParaRPr lang="en-IN"/>
          </a:p>
        </p:txBody>
      </p:sp>
      <p:sp>
        <p:nvSpPr>
          <p:cNvPr id="8" name="Text 6"/>
          <p:cNvSpPr/>
          <p:nvPr/>
        </p:nvSpPr>
        <p:spPr>
          <a:xfrm>
            <a:off x="685800" y="1920240"/>
            <a:ext cx="3063240" cy="274320"/>
          </a:xfrm>
          <a:prstGeom prst="rect">
            <a:avLst/>
          </a:prstGeom>
          <a:noFill/>
          <a:ln/>
        </p:spPr>
        <p:txBody>
          <a:bodyPr wrap="square" lIns="0" tIns="0" rIns="0" bIns="0" rtlCol="0" anchor="ctr"/>
          <a:lstStyle/>
          <a:p>
            <a:pPr marL="0" indent="0" algn="l">
              <a:buNone/>
            </a:pPr>
            <a:r>
              <a:rPr lang="en-US" sz="1100" b="1" kern="0" spc="100" dirty="0">
                <a:solidFill>
                  <a:srgbClr val="17A398"/>
                </a:solidFill>
                <a:latin typeface="Calibri" pitchFamily="34" charset="0"/>
                <a:ea typeface="Calibri" pitchFamily="34" charset="-122"/>
                <a:cs typeface="Calibri" pitchFamily="34" charset="-120"/>
              </a:rPr>
              <a:t>% INTERPRETATION</a:t>
            </a:r>
            <a:endParaRPr lang="en-US" sz="1100" dirty="0"/>
          </a:p>
        </p:txBody>
      </p:sp>
      <p:sp>
        <p:nvSpPr>
          <p:cNvPr id="9" name="Text 7"/>
          <p:cNvSpPr/>
          <p:nvPr/>
        </p:nvSpPr>
        <p:spPr>
          <a:xfrm>
            <a:off x="685800" y="2139696"/>
            <a:ext cx="3063240" cy="73152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221,864</a:t>
            </a:r>
            <a:endParaRPr lang="en-US" sz="3400" dirty="0"/>
          </a:p>
        </p:txBody>
      </p:sp>
      <p:sp>
        <p:nvSpPr>
          <p:cNvPr id="10" name="Text 8"/>
          <p:cNvSpPr/>
          <p:nvPr/>
        </p:nvSpPr>
        <p:spPr>
          <a:xfrm>
            <a:off x="685800" y="2843784"/>
            <a:ext cx="3063240" cy="274320"/>
          </a:xfrm>
          <a:prstGeom prst="rect">
            <a:avLst/>
          </a:prstGeom>
          <a:noFill/>
          <a:ln/>
        </p:spPr>
        <p:txBody>
          <a:bodyPr wrap="square" lIns="0" tIns="0" rIns="0" bIns="0" rtlCol="0" anchor="ctr"/>
          <a:lstStyle/>
          <a:p>
            <a:pPr marL="0" indent="0" algn="l">
              <a:buNone/>
            </a:pPr>
            <a:r>
              <a:rPr lang="en-US" sz="1050" dirty="0">
                <a:solidFill>
                  <a:srgbClr val="C9D6E3"/>
                </a:solidFill>
                <a:latin typeface="Calibri" pitchFamily="34" charset="0"/>
                <a:ea typeface="Calibri" pitchFamily="34" charset="-122"/>
                <a:cs typeface="Calibri" pitchFamily="34" charset="-120"/>
              </a:rPr>
              <a:t>Rs.-off rows converted to true %</a:t>
            </a:r>
            <a:endParaRPr lang="en-US" sz="1050" dirty="0"/>
          </a:p>
        </p:txBody>
      </p:sp>
      <p:sp>
        <p:nvSpPr>
          <p:cNvPr id="11" name="Shape 9"/>
          <p:cNvSpPr/>
          <p:nvPr/>
        </p:nvSpPr>
        <p:spPr>
          <a:xfrm>
            <a:off x="4160520" y="1755648"/>
            <a:ext cx="3520440" cy="1417320"/>
          </a:xfrm>
          <a:prstGeom prst="roundRect">
            <a:avLst>
              <a:gd name="adj" fmla="val 6452"/>
            </a:avLst>
          </a:prstGeom>
          <a:solidFill>
            <a:srgbClr val="E07A2C"/>
          </a:solidFill>
          <a:ln/>
          <a:effectLst>
            <a:outerShdw blurRad="76200" dist="38100" dir="5400000" algn="bl" rotWithShape="0">
              <a:srgbClr val="1B2233">
                <a:alpha val="25000"/>
              </a:srgbClr>
            </a:outerShdw>
          </a:effectLst>
        </p:spPr>
        <p:txBody>
          <a:bodyPr/>
          <a:lstStyle/>
          <a:p>
            <a:endParaRPr lang="en-IN"/>
          </a:p>
        </p:txBody>
      </p:sp>
      <p:sp>
        <p:nvSpPr>
          <p:cNvPr id="12" name="Text 10"/>
          <p:cNvSpPr/>
          <p:nvPr/>
        </p:nvSpPr>
        <p:spPr>
          <a:xfrm>
            <a:off x="4389120" y="1920240"/>
            <a:ext cx="3063240" cy="274320"/>
          </a:xfrm>
          <a:prstGeom prst="rect">
            <a:avLst/>
          </a:prstGeom>
          <a:noFill/>
          <a:ln/>
        </p:spPr>
        <p:txBody>
          <a:bodyPr wrap="square" lIns="0" tIns="0" rIns="0" bIns="0" rtlCol="0" anchor="ctr"/>
          <a:lstStyle/>
          <a:p>
            <a:pPr marL="0" indent="0">
              <a:buNone/>
            </a:pPr>
            <a:r>
              <a:rPr lang="en-US" sz="1100" b="1" kern="0" spc="100" dirty="0">
                <a:solidFill>
                  <a:srgbClr val="FFE9D6"/>
                </a:solidFill>
                <a:latin typeface="Calibri" pitchFamily="34" charset="0"/>
                <a:ea typeface="Calibri" pitchFamily="34" charset="-122"/>
                <a:cs typeface="Calibri" pitchFamily="34" charset="-120"/>
              </a:rPr>
              <a:t>TEXT-COUNTIF INTERPRETATION</a:t>
            </a:r>
            <a:endParaRPr lang="en-US" sz="1100" dirty="0"/>
          </a:p>
        </p:txBody>
      </p:sp>
      <p:sp>
        <p:nvSpPr>
          <p:cNvPr id="13" name="Text 11"/>
          <p:cNvSpPr/>
          <p:nvPr/>
        </p:nvSpPr>
        <p:spPr>
          <a:xfrm>
            <a:off x="4389120" y="2139696"/>
            <a:ext cx="306324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230,080</a:t>
            </a:r>
            <a:endParaRPr lang="en-US" sz="3400" dirty="0"/>
          </a:p>
        </p:txBody>
      </p:sp>
      <p:sp>
        <p:nvSpPr>
          <p:cNvPr id="14" name="Text 12"/>
          <p:cNvSpPr/>
          <p:nvPr/>
        </p:nvSpPr>
        <p:spPr>
          <a:xfrm>
            <a:off x="4389120" y="2843784"/>
            <a:ext cx="3063240" cy="274320"/>
          </a:xfrm>
          <a:prstGeom prst="rect">
            <a:avLst/>
          </a:prstGeom>
          <a:noFill/>
          <a:ln/>
        </p:spPr>
        <p:txBody>
          <a:bodyPr wrap="square" lIns="0" tIns="0" rIns="0" bIns="0" rtlCol="0" anchor="ctr"/>
          <a:lstStyle/>
          <a:p>
            <a:pPr marL="0" indent="0">
              <a:buNone/>
            </a:pPr>
            <a:r>
              <a:rPr lang="en-US" sz="1050" dirty="0">
                <a:solidFill>
                  <a:srgbClr val="FFE9D6"/>
                </a:solidFill>
                <a:latin typeface="Calibri" pitchFamily="34" charset="0"/>
                <a:ea typeface="Calibri" pitchFamily="34" charset="-122"/>
                <a:cs typeface="Calibri" pitchFamily="34" charset="-120"/>
              </a:rPr>
              <a:t>Rs.-off rows auto-counted as text</a:t>
            </a:r>
            <a:endParaRPr lang="en-US" sz="1050" dirty="0"/>
          </a:p>
        </p:txBody>
      </p:sp>
      <p:graphicFrame>
        <p:nvGraphicFramePr>
          <p:cNvPr id="15" name="Chart 0"/>
          <p:cNvGraphicFramePr/>
          <p:nvPr/>
        </p:nvGraphicFramePr>
        <p:xfrm>
          <a:off x="7909560" y="1755648"/>
          <a:ext cx="3364992" cy="160020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3"/>
          <p:cNvSpPr/>
          <p:nvPr/>
        </p:nvSpPr>
        <p:spPr>
          <a:xfrm>
            <a:off x="457200" y="3310128"/>
            <a:ext cx="10817352" cy="777240"/>
          </a:xfrm>
          <a:prstGeom prst="rect">
            <a:avLst/>
          </a:prstGeom>
          <a:noFill/>
          <a:ln/>
        </p:spPr>
        <p:txBody>
          <a:bodyPr wrap="square" lIns="0" tIns="0" rIns="0" bIns="0" rtlCol="0" anchor="t"/>
          <a:lstStyle/>
          <a:p>
            <a:pPr marL="0" indent="0" algn="l">
              <a:lnSpc>
                <a:spcPct val="115000"/>
              </a:lnSpc>
              <a:buNone/>
            </a:pPr>
            <a:r>
              <a:rPr lang="en-US" sz="1250" dirty="0">
                <a:solidFill>
                  <a:srgbClr val="1B2233"/>
                </a:solidFill>
                <a:latin typeface="Calibri" pitchFamily="34" charset="0"/>
                <a:ea typeface="Calibri" pitchFamily="34" charset="-122"/>
                <a:cs typeface="Calibri" pitchFamily="34" charset="-120"/>
              </a:rPr>
              <a:t>The two numbers diverge only on the 19,444 "Rs. NNN OFF" (absolute-rupee) rows. Converting those to a true percentage (Rs ÷ Original Price) and checking &gt;50% gives 221,864. A plain =COUNTIF(range,"&gt;50") run on a column where Rs.-rows are still text instead makes Excel treat every one of those 19,444 text values as automatically "greater than 50" — regardless of their real discount — inflating the count to 230,080.</a:t>
            </a:r>
            <a:endParaRPr lang="en-US" sz="1250" dirty="0"/>
          </a:p>
        </p:txBody>
      </p:sp>
      <p:sp>
        <p:nvSpPr>
          <p:cNvPr id="17" name="Shape 14"/>
          <p:cNvSpPr/>
          <p:nvPr/>
        </p:nvSpPr>
        <p:spPr>
          <a:xfrm>
            <a:off x="457200" y="4160520"/>
            <a:ext cx="10817352" cy="621792"/>
          </a:xfrm>
          <a:prstGeom prst="roundRect">
            <a:avLst>
              <a:gd name="adj" fmla="val 8824"/>
            </a:avLst>
          </a:prstGeom>
          <a:solidFill>
            <a:srgbClr val="F5F7F9"/>
          </a:solidFill>
          <a:ln w="12700">
            <a:solidFill>
              <a:srgbClr val="DCE2E8"/>
            </a:solidFill>
            <a:prstDash val="solid"/>
          </a:ln>
        </p:spPr>
        <p:txBody>
          <a:bodyPr/>
          <a:lstStyle/>
          <a:p>
            <a:endParaRPr lang="en-IN"/>
          </a:p>
        </p:txBody>
      </p:sp>
      <p:sp>
        <p:nvSpPr>
          <p:cNvPr id="18" name="Text 15"/>
          <p:cNvSpPr/>
          <p:nvPr/>
        </p:nvSpPr>
        <p:spPr>
          <a:xfrm>
            <a:off x="640080" y="4160520"/>
            <a:ext cx="10424160" cy="621792"/>
          </a:xfrm>
          <a:prstGeom prst="rect">
            <a:avLst/>
          </a:prstGeom>
          <a:noFill/>
          <a:ln/>
        </p:spPr>
        <p:txBody>
          <a:bodyPr wrap="square" lIns="0" tIns="0" rIns="0" bIns="0" rtlCol="0" anchor="ctr"/>
          <a:lstStyle/>
          <a:p>
            <a:pPr marL="0" indent="0">
              <a:buNone/>
            </a:pPr>
            <a:r>
              <a:rPr lang="en-US" sz="1100" b="1" dirty="0">
                <a:solidFill>
                  <a:srgbClr val="132347"/>
                </a:solidFill>
                <a:latin typeface="Calibri" pitchFamily="34" charset="0"/>
                <a:ea typeface="Calibri" pitchFamily="34" charset="-122"/>
                <a:cs typeface="Calibri" pitchFamily="34" charset="-120"/>
              </a:rPr>
              <a:t>Reconciliation:  </a:t>
            </a:r>
            <a:r>
              <a:rPr lang="en-US" sz="1100" dirty="0">
                <a:solidFill>
                  <a:srgbClr val="1B2233"/>
                </a:solidFill>
                <a:latin typeface="Calibri" pitchFamily="34" charset="0"/>
                <a:ea typeface="Calibri" pitchFamily="34" charset="-122"/>
                <a:cs typeface="Calibri" pitchFamily="34" charset="-120"/>
              </a:rPr>
              <a:t>221,864 + 8,217 (Rs.-off rows that are actually ≤50% but got text-counted) = 230,081 ≈ 230,080</a:t>
            </a:r>
            <a:endParaRPr lang="en-US" sz="1100" dirty="0"/>
          </a:p>
        </p:txBody>
      </p:sp>
      <p:sp>
        <p:nvSpPr>
          <p:cNvPr id="19" name="Shape 16"/>
          <p:cNvSpPr/>
          <p:nvPr/>
        </p:nvSpPr>
        <p:spPr>
          <a:xfrm>
            <a:off x="457200" y="4937760"/>
            <a:ext cx="10817352" cy="1234440"/>
          </a:xfrm>
          <a:prstGeom prst="roundRect">
            <a:avLst>
              <a:gd name="adj" fmla="val 5926"/>
            </a:avLst>
          </a:prstGeom>
          <a:solidFill>
            <a:srgbClr val="F5F7F9"/>
          </a:solidFill>
          <a:ln w="12700">
            <a:solidFill>
              <a:srgbClr val="DCE2E8"/>
            </a:solidFill>
            <a:prstDash val="solid"/>
          </a:ln>
        </p:spPr>
        <p:txBody>
          <a:bodyPr/>
          <a:lstStyle/>
          <a:p>
            <a:endParaRPr lang="en-IN"/>
          </a:p>
        </p:txBody>
      </p:sp>
      <p:sp>
        <p:nvSpPr>
          <p:cNvPr id="20" name="Text 17"/>
          <p:cNvSpPr/>
          <p:nvPr/>
        </p:nvSpPr>
        <p:spPr>
          <a:xfrm>
            <a:off x="640080" y="5029200"/>
            <a:ext cx="10451592" cy="219456"/>
          </a:xfrm>
          <a:prstGeom prst="rect">
            <a:avLst/>
          </a:prstGeom>
          <a:noFill/>
          <a:ln/>
        </p:spPr>
        <p:txBody>
          <a:bodyPr wrap="square" lIns="0" tIns="0" rIns="0" bIns="0" rtlCol="0" anchor="ctr"/>
          <a:lstStyle/>
          <a:p>
            <a:pPr marL="0" indent="0">
              <a:buNone/>
            </a:pPr>
            <a:r>
              <a:rPr lang="en-US" sz="900" b="1" kern="0" spc="10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21" name="Text 18"/>
          <p:cNvSpPr/>
          <p:nvPr/>
        </p:nvSpPr>
        <p:spPr>
          <a:xfrm>
            <a:off x="640080" y="5230368"/>
            <a:ext cx="10451592" cy="612648"/>
          </a:xfrm>
          <a:prstGeom prst="rect">
            <a:avLst/>
          </a:prstGeom>
          <a:noFill/>
          <a:ln/>
        </p:spPr>
        <p:txBody>
          <a:bodyPr wrap="square" lIns="0" tIns="0" rIns="0" bIns="0" rtlCol="0" anchor="t">
            <a:normAutofit/>
          </a:bodyPr>
          <a:lstStyle/>
          <a:p>
            <a:pPr marL="0" indent="0">
              <a:buNone/>
            </a:pPr>
            <a:r>
              <a:rPr lang="en-US" sz="1250" dirty="0">
                <a:solidFill>
                  <a:srgbClr val="132347"/>
                </a:solidFill>
                <a:latin typeface="Courier New" pitchFamily="34" charset="0"/>
                <a:ea typeface="Courier New" pitchFamily="34" charset="-122"/>
                <a:cs typeface="Courier New" pitchFamily="34" charset="-120"/>
              </a:rPr>
              <a:t>% version:  =COUNTIF(StandardizedOffer2:StandardizedOffer526565,"&gt;0.5")  →  221,864</a:t>
            </a:r>
            <a:endParaRPr lang="en-US" sz="1250" dirty="0"/>
          </a:p>
          <a:p>
            <a:pPr marL="0" indent="0">
              <a:buNone/>
            </a:pPr>
            <a:r>
              <a:rPr lang="en-US" sz="1250" dirty="0">
                <a:solidFill>
                  <a:srgbClr val="132347"/>
                </a:solidFill>
                <a:latin typeface="Courier New" pitchFamily="34" charset="0"/>
                <a:ea typeface="Courier New" pitchFamily="34" charset="-122"/>
                <a:cs typeface="Courier New" pitchFamily="34" charset="-120"/>
              </a:rPr>
              <a:t>COUNTIF version:  =COUNTIF(DiscountOffer2:DiscountOffer526565,"&gt;50")  →  230,080 (text rows included)</a:t>
            </a:r>
            <a:endParaRPr lang="en-US" sz="1250" dirty="0"/>
          </a:p>
        </p:txBody>
      </p:sp>
      <p:sp>
        <p:nvSpPr>
          <p:cNvPr id="22" name="Text 19"/>
          <p:cNvSpPr/>
          <p:nvPr/>
        </p:nvSpPr>
        <p:spPr>
          <a:xfrm>
            <a:off x="640080" y="5861304"/>
            <a:ext cx="10451592" cy="256032"/>
          </a:xfrm>
          <a:prstGeom prst="rect">
            <a:avLst/>
          </a:prstGeom>
          <a:noFill/>
          <a:ln/>
        </p:spPr>
        <p:txBody>
          <a:bodyPr wrap="square" lIns="0" tIns="0" rIns="0" bIns="0" rtlCol="0" anchor="ctr"/>
          <a:lstStyle/>
          <a:p>
            <a:pPr marL="0" indent="0">
              <a:buNone/>
            </a:pPr>
            <a:r>
              <a:rPr lang="en-US" sz="950" i="1" dirty="0">
                <a:solidFill>
                  <a:srgbClr val="6B7484"/>
                </a:solidFill>
                <a:latin typeface="Calibri" pitchFamily="34" charset="0"/>
                <a:ea typeface="Calibri" pitchFamily="34" charset="-122"/>
                <a:cs typeface="Calibri" pitchFamily="34" charset="-120"/>
              </a:rPr>
              <a:t>Recommended: the % version (221,864), since it reflects the actual discount depth rather than an Excel text-comparison side-effect.</a:t>
            </a:r>
            <a:endParaRPr lang="en-US" sz="950" dirty="0"/>
          </a:p>
        </p:txBody>
      </p:sp>
      <p:sp>
        <p:nvSpPr>
          <p:cNvPr id="23" name="Text 20"/>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7484"/>
                </a:solidFill>
                <a:latin typeface="Calibri" pitchFamily="34" charset="0"/>
                <a:ea typeface="Calibri" pitchFamily="34" charset="-122"/>
                <a:cs typeface="Calibri" pitchFamily="34" charset="-120"/>
              </a:rPr>
              <a:t>Data Analysis — Q6</a:t>
            </a:r>
            <a:endParaRPr lang="en-US" sz="900" dirty="0"/>
          </a:p>
        </p:txBody>
      </p:sp>
      <p:sp>
        <p:nvSpPr>
          <p:cNvPr id="24" name="Text 21"/>
          <p:cNvSpPr/>
          <p:nvPr/>
        </p:nvSpPr>
        <p:spPr>
          <a:xfrm>
            <a:off x="11000232" y="6473952"/>
            <a:ext cx="822960" cy="274320"/>
          </a:xfrm>
          <a:prstGeom prst="rect">
            <a:avLst/>
          </a:prstGeom>
          <a:noFill/>
          <a:ln/>
        </p:spPr>
        <p:txBody>
          <a:bodyPr wrap="square" rtlCol="0" anchor="ctr"/>
          <a:lstStyle/>
          <a:p>
            <a:pPr marL="0" indent="0" algn="r">
              <a:buNone/>
            </a:pPr>
            <a:r>
              <a:rPr lang="en-US" sz="900" dirty="0">
                <a:solidFill>
                  <a:srgbClr val="6B7484"/>
                </a:solidFill>
                <a:latin typeface="Calibri" pitchFamily="34" charset="0"/>
                <a:ea typeface="Calibri" pitchFamily="34" charset="-122"/>
                <a:cs typeface="Calibri" pitchFamily="34" charset="-120"/>
              </a:rPr>
              <a:t>08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txBody>
          <a:bodyPr/>
          <a:lstStyle/>
          <a:p>
            <a:endParaRPr lang="en-IN"/>
          </a:p>
        </p:txBody>
      </p:sp>
      <p:sp>
        <p:nvSpPr>
          <p:cNvPr id="3" name="Text 1"/>
          <p:cNvSpPr/>
          <p:nvPr/>
        </p:nvSpPr>
        <p:spPr>
          <a:xfrm>
            <a:off x="457200" y="384048"/>
            <a:ext cx="8686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 · Q7</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marL="0" indent="0" algn="l">
              <a:buNone/>
            </a:pPr>
            <a:r>
              <a:rPr lang="en-US" sz="2200" b="1" dirty="0">
                <a:solidFill>
                  <a:srgbClr val="132347"/>
                </a:solidFill>
                <a:latin typeface="Cambria" pitchFamily="34" charset="0"/>
                <a:ea typeface="Cambria" pitchFamily="34" charset="-122"/>
                <a:cs typeface="Cambria" pitchFamily="34" charset="-120"/>
              </a:rPr>
              <a:t>Products Available in Size "M"</a:t>
            </a:r>
            <a:endParaRPr lang="en-US" sz="2200" dirty="0"/>
          </a:p>
        </p:txBody>
      </p:sp>
      <p:sp>
        <p:nvSpPr>
          <p:cNvPr id="5" name="Shape 3"/>
          <p:cNvSpPr/>
          <p:nvPr/>
        </p:nvSpPr>
        <p:spPr>
          <a:xfrm>
            <a:off x="457200" y="1097280"/>
            <a:ext cx="10817352" cy="502920"/>
          </a:xfrm>
          <a:prstGeom prst="roundRect">
            <a:avLst>
              <a:gd name="adj" fmla="val 10909"/>
            </a:avLst>
          </a:prstGeom>
          <a:solidFill>
            <a:srgbClr val="E5F3F2"/>
          </a:solidFill>
          <a:ln/>
        </p:spPr>
        <p:txBody>
          <a:bodyPr/>
          <a:lstStyle/>
          <a:p>
            <a:endParaRPr lang="en-IN"/>
          </a:p>
        </p:txBody>
      </p:sp>
      <p:sp>
        <p:nvSpPr>
          <p:cNvPr id="6" name="Text 4"/>
          <p:cNvSpPr/>
          <p:nvPr/>
        </p:nvSpPr>
        <p:spPr>
          <a:xfrm>
            <a:off x="640080" y="1097280"/>
            <a:ext cx="10424160" cy="502920"/>
          </a:xfrm>
          <a:prstGeom prst="rect">
            <a:avLst/>
          </a:prstGeom>
          <a:noFill/>
          <a:ln/>
        </p:spPr>
        <p:txBody>
          <a:bodyPr wrap="square" lIns="0" tIns="0" rIns="0" bIns="0" rtlCol="0" anchor="ctr"/>
          <a:lstStyle/>
          <a:p>
            <a:pPr marL="0" indent="0">
              <a:buNone/>
            </a:pPr>
            <a:r>
              <a:rPr lang="en-US" sz="1300" i="1" dirty="0">
                <a:solidFill>
                  <a:srgbClr val="132347"/>
                </a:solidFill>
                <a:latin typeface="Calibri" pitchFamily="34" charset="0"/>
                <a:ea typeface="Calibri" pitchFamily="34" charset="-122"/>
                <a:cs typeface="Calibri" pitchFamily="34" charset="-120"/>
              </a:rPr>
              <a:t>"Count the number of products available in size \"M\"."</a:t>
            </a:r>
            <a:endParaRPr lang="en-US" sz="1300" dirty="0"/>
          </a:p>
        </p:txBody>
      </p:sp>
      <p:sp>
        <p:nvSpPr>
          <p:cNvPr id="7" name="Shape 5"/>
          <p:cNvSpPr/>
          <p:nvPr/>
        </p:nvSpPr>
        <p:spPr>
          <a:xfrm>
            <a:off x="457200" y="1755648"/>
            <a:ext cx="3520440" cy="1417320"/>
          </a:xfrm>
          <a:prstGeom prst="roundRect">
            <a:avLst>
              <a:gd name="adj" fmla="val 6452"/>
            </a:avLst>
          </a:prstGeom>
          <a:solidFill>
            <a:srgbClr val="132347"/>
          </a:solidFill>
          <a:ln/>
          <a:effectLst>
            <a:outerShdw blurRad="76200" dist="38100" dir="5400000" algn="bl" rotWithShape="0">
              <a:srgbClr val="1B2233">
                <a:alpha val="25000"/>
              </a:srgbClr>
            </a:outerShdw>
          </a:effectLst>
        </p:spPr>
        <p:txBody>
          <a:bodyPr/>
          <a:lstStyle/>
          <a:p>
            <a:endParaRPr lang="en-IN"/>
          </a:p>
        </p:txBody>
      </p:sp>
      <p:sp>
        <p:nvSpPr>
          <p:cNvPr id="8" name="Text 6"/>
          <p:cNvSpPr/>
          <p:nvPr/>
        </p:nvSpPr>
        <p:spPr>
          <a:xfrm>
            <a:off x="685800" y="1920240"/>
            <a:ext cx="3063240" cy="274320"/>
          </a:xfrm>
          <a:prstGeom prst="rect">
            <a:avLst/>
          </a:prstGeom>
          <a:noFill/>
          <a:ln/>
        </p:spPr>
        <p:txBody>
          <a:bodyPr wrap="square" lIns="0" tIns="0" rIns="0" bIns="0" rtlCol="0" anchor="ctr"/>
          <a:lstStyle/>
          <a:p>
            <a:pPr marL="0" indent="0" algn="l">
              <a:buNone/>
            </a:pPr>
            <a:r>
              <a:rPr lang="en-US" sz="1100" b="1" kern="0" spc="100" dirty="0">
                <a:solidFill>
                  <a:srgbClr val="17A398"/>
                </a:solidFill>
                <a:latin typeface="Calibri" pitchFamily="34" charset="0"/>
                <a:ea typeface="Calibri" pitchFamily="34" charset="-122"/>
                <a:cs typeface="Calibri" pitchFamily="34" charset="-120"/>
              </a:rPr>
              <a:t>EXACT-TOKEN MATCH</a:t>
            </a:r>
            <a:endParaRPr lang="en-US" sz="1100" dirty="0"/>
          </a:p>
        </p:txBody>
      </p:sp>
      <p:sp>
        <p:nvSpPr>
          <p:cNvPr id="9" name="Text 7"/>
          <p:cNvSpPr/>
          <p:nvPr/>
        </p:nvSpPr>
        <p:spPr>
          <a:xfrm>
            <a:off x="685800" y="2139696"/>
            <a:ext cx="3063240" cy="73152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307,714</a:t>
            </a:r>
            <a:endParaRPr lang="en-US" sz="3400" dirty="0"/>
          </a:p>
        </p:txBody>
      </p:sp>
      <p:sp>
        <p:nvSpPr>
          <p:cNvPr id="10" name="Text 8"/>
          <p:cNvSpPr/>
          <p:nvPr/>
        </p:nvSpPr>
        <p:spPr>
          <a:xfrm>
            <a:off x="685800" y="2843784"/>
            <a:ext cx="3063240" cy="274320"/>
          </a:xfrm>
          <a:prstGeom prst="rect">
            <a:avLst/>
          </a:prstGeom>
          <a:noFill/>
          <a:ln/>
        </p:spPr>
        <p:txBody>
          <a:bodyPr wrap="square" lIns="0" tIns="0" rIns="0" bIns="0" rtlCol="0" anchor="ctr"/>
          <a:lstStyle/>
          <a:p>
            <a:pPr marL="0" indent="0" algn="l">
              <a:buNone/>
            </a:pPr>
            <a:r>
              <a:rPr lang="en-US" sz="1050" dirty="0">
                <a:solidFill>
                  <a:srgbClr val="C9D6E3"/>
                </a:solidFill>
                <a:latin typeface="Calibri" pitchFamily="34" charset="0"/>
                <a:ea typeface="Calibri" pitchFamily="34" charset="-122"/>
                <a:cs typeface="Calibri" pitchFamily="34" charset="-120"/>
              </a:rPr>
              <a:t>"M" as its own list entry</a:t>
            </a:r>
            <a:endParaRPr lang="en-US" sz="1050" dirty="0"/>
          </a:p>
        </p:txBody>
      </p:sp>
      <p:sp>
        <p:nvSpPr>
          <p:cNvPr id="11" name="Shape 9"/>
          <p:cNvSpPr/>
          <p:nvPr/>
        </p:nvSpPr>
        <p:spPr>
          <a:xfrm>
            <a:off x="4160520" y="1755648"/>
            <a:ext cx="3520440" cy="1417320"/>
          </a:xfrm>
          <a:prstGeom prst="roundRect">
            <a:avLst>
              <a:gd name="adj" fmla="val 6452"/>
            </a:avLst>
          </a:prstGeom>
          <a:solidFill>
            <a:srgbClr val="E07A2C"/>
          </a:solidFill>
          <a:ln/>
          <a:effectLst>
            <a:outerShdw blurRad="76200" dist="38100" dir="5400000" algn="bl" rotWithShape="0">
              <a:srgbClr val="1B2233">
                <a:alpha val="25000"/>
              </a:srgbClr>
            </a:outerShdw>
          </a:effectLst>
        </p:spPr>
        <p:txBody>
          <a:bodyPr/>
          <a:lstStyle/>
          <a:p>
            <a:endParaRPr lang="en-IN"/>
          </a:p>
        </p:txBody>
      </p:sp>
      <p:sp>
        <p:nvSpPr>
          <p:cNvPr id="12" name="Text 10"/>
          <p:cNvSpPr/>
          <p:nvPr/>
        </p:nvSpPr>
        <p:spPr>
          <a:xfrm>
            <a:off x="4389120" y="1920240"/>
            <a:ext cx="3063240" cy="274320"/>
          </a:xfrm>
          <a:prstGeom prst="rect">
            <a:avLst/>
          </a:prstGeom>
          <a:noFill/>
          <a:ln/>
        </p:spPr>
        <p:txBody>
          <a:bodyPr wrap="square" lIns="0" tIns="0" rIns="0" bIns="0" rtlCol="0" anchor="ctr"/>
          <a:lstStyle/>
          <a:p>
            <a:pPr marL="0" indent="0">
              <a:buNone/>
            </a:pPr>
            <a:r>
              <a:rPr lang="en-US" sz="1100" b="1" kern="0" spc="100" dirty="0">
                <a:solidFill>
                  <a:srgbClr val="FFE9D6"/>
                </a:solidFill>
                <a:latin typeface="Calibri" pitchFamily="34" charset="0"/>
                <a:ea typeface="Calibri" pitchFamily="34" charset="-122"/>
                <a:cs typeface="Calibri" pitchFamily="34" charset="-120"/>
              </a:rPr>
              <a:t>SUBSTRING MATCH</a:t>
            </a:r>
            <a:endParaRPr lang="en-US" sz="1100" dirty="0"/>
          </a:p>
        </p:txBody>
      </p:sp>
      <p:sp>
        <p:nvSpPr>
          <p:cNvPr id="13" name="Text 11"/>
          <p:cNvSpPr/>
          <p:nvPr/>
        </p:nvSpPr>
        <p:spPr>
          <a:xfrm>
            <a:off x="4389120" y="2139696"/>
            <a:ext cx="306324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308,460</a:t>
            </a:r>
            <a:endParaRPr lang="en-US" sz="3400" dirty="0"/>
          </a:p>
        </p:txBody>
      </p:sp>
      <p:sp>
        <p:nvSpPr>
          <p:cNvPr id="14" name="Text 12"/>
          <p:cNvSpPr/>
          <p:nvPr/>
        </p:nvSpPr>
        <p:spPr>
          <a:xfrm>
            <a:off x="4389120" y="2843784"/>
            <a:ext cx="3063240" cy="274320"/>
          </a:xfrm>
          <a:prstGeom prst="rect">
            <a:avLst/>
          </a:prstGeom>
          <a:noFill/>
          <a:ln/>
        </p:spPr>
        <p:txBody>
          <a:bodyPr wrap="square" lIns="0" tIns="0" rIns="0" bIns="0" rtlCol="0" anchor="ctr"/>
          <a:lstStyle/>
          <a:p>
            <a:pPr marL="0" indent="0">
              <a:buNone/>
            </a:pPr>
            <a:r>
              <a:rPr lang="en-US" sz="1050" dirty="0">
                <a:solidFill>
                  <a:srgbClr val="FFE9D6"/>
                </a:solidFill>
                <a:latin typeface="Calibri" pitchFamily="34" charset="0"/>
                <a:ea typeface="Calibri" pitchFamily="34" charset="-122"/>
                <a:cs typeface="Calibri" pitchFamily="34" charset="-120"/>
              </a:rPr>
              <a:t>"M" anywhere, incl. S/M, M/L codes</a:t>
            </a:r>
            <a:endParaRPr lang="en-US" sz="1050" dirty="0"/>
          </a:p>
        </p:txBody>
      </p:sp>
      <p:graphicFrame>
        <p:nvGraphicFramePr>
          <p:cNvPr id="15" name="Chart 0"/>
          <p:cNvGraphicFramePr/>
          <p:nvPr/>
        </p:nvGraphicFramePr>
        <p:xfrm>
          <a:off x="7909560" y="1691640"/>
          <a:ext cx="3364992" cy="169164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3"/>
          <p:cNvSpPr/>
          <p:nvPr/>
        </p:nvSpPr>
        <p:spPr>
          <a:xfrm>
            <a:off x="457200" y="3310128"/>
            <a:ext cx="10817352" cy="868680"/>
          </a:xfrm>
          <a:prstGeom prst="rect">
            <a:avLst/>
          </a:prstGeom>
          <a:noFill/>
          <a:ln/>
        </p:spPr>
        <p:txBody>
          <a:bodyPr wrap="square" lIns="0" tIns="0" rIns="0" bIns="0" rtlCol="0" anchor="t"/>
          <a:lstStyle/>
          <a:p>
            <a:pPr marL="0" indent="0" algn="l">
              <a:lnSpc>
                <a:spcPct val="115000"/>
              </a:lnSpc>
              <a:buNone/>
            </a:pPr>
            <a:r>
              <a:rPr lang="en-US" sz="1250" dirty="0">
                <a:solidFill>
                  <a:srgbClr val="1B2233"/>
                </a:solidFill>
                <a:latin typeface="Calibri" pitchFamily="34" charset="0"/>
                <a:ea typeface="Calibri" pitchFamily="34" charset="-122"/>
                <a:cs typeface="Calibri" pitchFamily="34" charset="-120"/>
              </a:rPr>
              <a:t>The 746-row gap is entirely combined size-codes that contain the letter "M" without "M" being a standalone size — e.g. "S/M, L/XL" (384 products), "M/L" (68), "XS/S, M/L" (35). A comma-token check (=SEARCH(",M,", ...)) treats these as NOT plain "M"; a plain =SEARCH("M", SizeOption) counts them all in, since it matches the letter anywhere in the text.</a:t>
            </a:r>
            <a:endParaRPr lang="en-US" sz="1250" dirty="0"/>
          </a:p>
        </p:txBody>
      </p:sp>
      <p:sp>
        <p:nvSpPr>
          <p:cNvPr id="17" name="Shape 14"/>
          <p:cNvSpPr/>
          <p:nvPr/>
        </p:nvSpPr>
        <p:spPr>
          <a:xfrm>
            <a:off x="457200" y="4251960"/>
            <a:ext cx="10817352" cy="548640"/>
          </a:xfrm>
          <a:prstGeom prst="roundRect">
            <a:avLst>
              <a:gd name="adj" fmla="val 10000"/>
            </a:avLst>
          </a:prstGeom>
          <a:solidFill>
            <a:srgbClr val="F5F7F9"/>
          </a:solidFill>
          <a:ln w="12700">
            <a:solidFill>
              <a:srgbClr val="DCE2E8"/>
            </a:solidFill>
            <a:prstDash val="solid"/>
          </a:ln>
        </p:spPr>
        <p:txBody>
          <a:bodyPr/>
          <a:lstStyle/>
          <a:p>
            <a:endParaRPr lang="en-IN"/>
          </a:p>
        </p:txBody>
      </p:sp>
      <p:sp>
        <p:nvSpPr>
          <p:cNvPr id="18" name="Text 15"/>
          <p:cNvSpPr/>
          <p:nvPr/>
        </p:nvSpPr>
        <p:spPr>
          <a:xfrm>
            <a:off x="640080" y="4251960"/>
            <a:ext cx="10424160" cy="548640"/>
          </a:xfrm>
          <a:prstGeom prst="rect">
            <a:avLst/>
          </a:prstGeom>
          <a:noFill/>
          <a:ln/>
        </p:spPr>
        <p:txBody>
          <a:bodyPr wrap="square" lIns="0" tIns="0" rIns="0" bIns="0" rtlCol="0" anchor="ctr"/>
          <a:lstStyle/>
          <a:p>
            <a:pPr marL="0" indent="0">
              <a:buNone/>
            </a:pPr>
            <a:r>
              <a:rPr lang="en-US" sz="1100" b="1" dirty="0">
                <a:solidFill>
                  <a:srgbClr val="132347"/>
                </a:solidFill>
                <a:latin typeface="Calibri" pitchFamily="34" charset="0"/>
                <a:ea typeface="Calibri" pitchFamily="34" charset="-122"/>
                <a:cs typeface="Calibri" pitchFamily="34" charset="-120"/>
              </a:rPr>
              <a:t>Reconciliation:  </a:t>
            </a:r>
            <a:r>
              <a:rPr lang="en-US" sz="1100" dirty="0">
                <a:solidFill>
                  <a:srgbClr val="1B2233"/>
                </a:solidFill>
                <a:latin typeface="Calibri" pitchFamily="34" charset="0"/>
                <a:ea typeface="Calibri" pitchFamily="34" charset="-122"/>
                <a:cs typeface="Calibri" pitchFamily="34" charset="-120"/>
              </a:rPr>
              <a:t>307,714 + 746 (rows with "S/M", "M/L" etc. combined codes) = 308,460</a:t>
            </a:r>
            <a:endParaRPr lang="en-US" sz="1100" dirty="0"/>
          </a:p>
        </p:txBody>
      </p:sp>
      <p:sp>
        <p:nvSpPr>
          <p:cNvPr id="19" name="Shape 16"/>
          <p:cNvSpPr/>
          <p:nvPr/>
        </p:nvSpPr>
        <p:spPr>
          <a:xfrm>
            <a:off x="457200" y="4937760"/>
            <a:ext cx="10817352" cy="1234440"/>
          </a:xfrm>
          <a:prstGeom prst="roundRect">
            <a:avLst>
              <a:gd name="adj" fmla="val 5926"/>
            </a:avLst>
          </a:prstGeom>
          <a:solidFill>
            <a:srgbClr val="F5F7F9"/>
          </a:solidFill>
          <a:ln w="12700">
            <a:solidFill>
              <a:srgbClr val="DCE2E8"/>
            </a:solidFill>
            <a:prstDash val="solid"/>
          </a:ln>
        </p:spPr>
        <p:txBody>
          <a:bodyPr/>
          <a:lstStyle/>
          <a:p>
            <a:endParaRPr lang="en-IN"/>
          </a:p>
        </p:txBody>
      </p:sp>
      <p:sp>
        <p:nvSpPr>
          <p:cNvPr id="20" name="Text 17"/>
          <p:cNvSpPr/>
          <p:nvPr/>
        </p:nvSpPr>
        <p:spPr>
          <a:xfrm>
            <a:off x="640080" y="5029200"/>
            <a:ext cx="10451592" cy="219456"/>
          </a:xfrm>
          <a:prstGeom prst="rect">
            <a:avLst/>
          </a:prstGeom>
          <a:noFill/>
          <a:ln/>
        </p:spPr>
        <p:txBody>
          <a:bodyPr wrap="square" lIns="0" tIns="0" rIns="0" bIns="0" rtlCol="0" anchor="ctr"/>
          <a:lstStyle/>
          <a:p>
            <a:pPr marL="0" indent="0">
              <a:buNone/>
            </a:pPr>
            <a:r>
              <a:rPr lang="en-US" sz="900" b="1" kern="0" spc="10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21" name="Text 18"/>
          <p:cNvSpPr/>
          <p:nvPr/>
        </p:nvSpPr>
        <p:spPr>
          <a:xfrm>
            <a:off x="640080" y="5230368"/>
            <a:ext cx="10451592" cy="612648"/>
          </a:xfrm>
          <a:prstGeom prst="rect">
            <a:avLst/>
          </a:prstGeom>
          <a:noFill/>
          <a:ln/>
        </p:spPr>
        <p:txBody>
          <a:bodyPr wrap="square" lIns="0" tIns="0" rIns="0" bIns="0" rtlCol="0" anchor="t">
            <a:normAutofit/>
          </a:bodyPr>
          <a:lstStyle/>
          <a:p>
            <a:pPr marL="0" indent="0">
              <a:buNone/>
            </a:pPr>
            <a:r>
              <a:rPr lang="en-US" sz="1250" dirty="0">
                <a:solidFill>
                  <a:srgbClr val="132347"/>
                </a:solidFill>
                <a:latin typeface="Courier New" pitchFamily="34" charset="0"/>
                <a:ea typeface="Courier New" pitchFamily="34" charset="-122"/>
                <a:cs typeface="Courier New" pitchFamily="34" charset="-120"/>
              </a:rPr>
              <a:t>Exact-token:  =SUMPRODUCT(ISNUMBER(SEARCH(",M,",","&amp;SUBSTITUTE(K2," ","")&amp;",")))  →  307,714</a:t>
            </a:r>
            <a:endParaRPr lang="en-US" sz="1250" dirty="0"/>
          </a:p>
          <a:p>
            <a:pPr marL="0" indent="0">
              <a:buNone/>
            </a:pPr>
            <a:r>
              <a:rPr lang="en-US" sz="1250" dirty="0">
                <a:solidFill>
                  <a:srgbClr val="132347"/>
                </a:solidFill>
                <a:latin typeface="Courier New" pitchFamily="34" charset="0"/>
                <a:ea typeface="Courier New" pitchFamily="34" charset="-122"/>
                <a:cs typeface="Courier New" pitchFamily="34" charset="-120"/>
              </a:rPr>
              <a:t>Substring:  =COUNTIF(K2:K526565,"*M*")  →  308,460</a:t>
            </a:r>
            <a:endParaRPr lang="en-US" sz="1250" dirty="0"/>
          </a:p>
        </p:txBody>
      </p:sp>
      <p:sp>
        <p:nvSpPr>
          <p:cNvPr id="22" name="Text 19"/>
          <p:cNvSpPr/>
          <p:nvPr/>
        </p:nvSpPr>
        <p:spPr>
          <a:xfrm>
            <a:off x="640080" y="5861304"/>
            <a:ext cx="10451592" cy="256032"/>
          </a:xfrm>
          <a:prstGeom prst="rect">
            <a:avLst/>
          </a:prstGeom>
          <a:noFill/>
          <a:ln/>
        </p:spPr>
        <p:txBody>
          <a:bodyPr wrap="square" lIns="0" tIns="0" rIns="0" bIns="0" rtlCol="0" anchor="ctr"/>
          <a:lstStyle/>
          <a:p>
            <a:pPr marL="0" indent="0">
              <a:buNone/>
            </a:pPr>
            <a:r>
              <a:rPr lang="en-US" sz="950" i="1" dirty="0">
                <a:solidFill>
                  <a:srgbClr val="6B7484"/>
                </a:solidFill>
                <a:latin typeface="Calibri" pitchFamily="34" charset="0"/>
                <a:ea typeface="Calibri" pitchFamily="34" charset="-122"/>
                <a:cs typeface="Calibri" pitchFamily="34" charset="-120"/>
              </a:rPr>
              <a:t>Recommended: the exact-token version (307,714), since it counts products that genuinely offer a standalone size M rather than any code containing the letter.</a:t>
            </a:r>
            <a:endParaRPr lang="en-US" sz="950" dirty="0"/>
          </a:p>
        </p:txBody>
      </p:sp>
      <p:sp>
        <p:nvSpPr>
          <p:cNvPr id="23" name="Text 20"/>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7484"/>
                </a:solidFill>
                <a:latin typeface="Calibri" pitchFamily="34" charset="0"/>
                <a:ea typeface="Calibri" pitchFamily="34" charset="-122"/>
                <a:cs typeface="Calibri" pitchFamily="34" charset="-120"/>
              </a:rPr>
              <a:t>Data Analysis — Q7</a:t>
            </a:r>
            <a:endParaRPr lang="en-US" sz="900" dirty="0"/>
          </a:p>
        </p:txBody>
      </p:sp>
      <p:sp>
        <p:nvSpPr>
          <p:cNvPr id="24" name="Text 21"/>
          <p:cNvSpPr/>
          <p:nvPr/>
        </p:nvSpPr>
        <p:spPr>
          <a:xfrm>
            <a:off x="11000232" y="6473952"/>
            <a:ext cx="822960" cy="274320"/>
          </a:xfrm>
          <a:prstGeom prst="rect">
            <a:avLst/>
          </a:prstGeom>
          <a:noFill/>
          <a:ln/>
        </p:spPr>
        <p:txBody>
          <a:bodyPr wrap="square" rtlCol="0" anchor="ctr"/>
          <a:lstStyle/>
          <a:p>
            <a:pPr marL="0" indent="0" algn="r">
              <a:buNone/>
            </a:pPr>
            <a:r>
              <a:rPr lang="en-US" sz="900" dirty="0">
                <a:solidFill>
                  <a:srgbClr val="6B7484"/>
                </a:solidFill>
                <a:latin typeface="Calibri" pitchFamily="34" charset="0"/>
                <a:ea typeface="Calibri" pitchFamily="34" charset="-122"/>
                <a:cs typeface="Calibri" pitchFamily="34" charset="-120"/>
              </a:rPr>
              <a:t>09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txBody>
          <a:bodyPr/>
          <a:lstStyle/>
          <a:p>
            <a:endParaRPr lang="en-IN"/>
          </a:p>
        </p:txBody>
      </p:sp>
      <p:sp>
        <p:nvSpPr>
          <p:cNvPr id="3" name="Text 1"/>
          <p:cNvSpPr/>
          <p:nvPr/>
        </p:nvSpPr>
        <p:spPr>
          <a:xfrm>
            <a:off x="457200" y="384048"/>
            <a:ext cx="8686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 · Q8</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marL="0" indent="0" algn="l">
              <a:buNone/>
            </a:pPr>
            <a:r>
              <a:rPr lang="en-US" sz="2200" b="1" dirty="0">
                <a:solidFill>
                  <a:srgbClr val="132347"/>
                </a:solidFill>
                <a:latin typeface="Cambria" pitchFamily="34" charset="0"/>
                <a:ea typeface="Cambria" pitchFamily="34" charset="-122"/>
                <a:cs typeface="Cambria" pitchFamily="34" charset="-120"/>
              </a:rPr>
              <a:t>Label Products as High Discount / Low Discount</a:t>
            </a:r>
            <a:endParaRPr lang="en-US" sz="2200" dirty="0"/>
          </a:p>
        </p:txBody>
      </p:sp>
      <p:sp>
        <p:nvSpPr>
          <p:cNvPr id="5" name="Shape 3"/>
          <p:cNvSpPr/>
          <p:nvPr/>
        </p:nvSpPr>
        <p:spPr>
          <a:xfrm>
            <a:off x="457200" y="1051560"/>
            <a:ext cx="10817352" cy="658368"/>
          </a:xfrm>
          <a:prstGeom prst="roundRect">
            <a:avLst>
              <a:gd name="adj" fmla="val 8333"/>
            </a:avLst>
          </a:prstGeom>
          <a:solidFill>
            <a:srgbClr val="E5F3F2"/>
          </a:solidFill>
          <a:ln/>
        </p:spPr>
        <p:txBody>
          <a:bodyPr/>
          <a:lstStyle/>
          <a:p>
            <a:endParaRPr lang="en-IN"/>
          </a:p>
        </p:txBody>
      </p:sp>
      <p:sp>
        <p:nvSpPr>
          <p:cNvPr id="6" name="Text 4"/>
          <p:cNvSpPr/>
          <p:nvPr/>
        </p:nvSpPr>
        <p:spPr>
          <a:xfrm>
            <a:off x="640080" y="1051560"/>
            <a:ext cx="10424160" cy="658368"/>
          </a:xfrm>
          <a:prstGeom prst="rect">
            <a:avLst/>
          </a:prstGeom>
          <a:noFill/>
          <a:ln/>
        </p:spPr>
        <p:txBody>
          <a:bodyPr wrap="square" lIns="0" tIns="0" rIns="0" bIns="0" rtlCol="0" anchor="ctr"/>
          <a:lstStyle/>
          <a:p>
            <a:pPr marL="0" indent="0">
              <a:buNone/>
            </a:pPr>
            <a:r>
              <a:rPr lang="en-US" sz="1250" i="1" dirty="0">
                <a:solidFill>
                  <a:srgbClr val="132347"/>
                </a:solidFill>
                <a:latin typeface="Calibri" pitchFamily="34" charset="0"/>
                <a:ea typeface="Calibri" pitchFamily="34" charset="-122"/>
                <a:cs typeface="Calibri" pitchFamily="34" charset="-120"/>
              </a:rPr>
              <a:t>"Create a new column to label the products as \"High Discount\" if the discount offer is greater than 50% OFF, otherwise label them as \"Low Discount\"."</a:t>
            </a:r>
            <a:endParaRPr lang="en-US" sz="1250" dirty="0"/>
          </a:p>
        </p:txBody>
      </p:sp>
      <p:sp>
        <p:nvSpPr>
          <p:cNvPr id="7" name="Shape 5"/>
          <p:cNvSpPr/>
          <p:nvPr/>
        </p:nvSpPr>
        <p:spPr>
          <a:xfrm>
            <a:off x="457200" y="1965960"/>
            <a:ext cx="3108960" cy="1463040"/>
          </a:xfrm>
          <a:prstGeom prst="roundRect">
            <a:avLst>
              <a:gd name="adj" fmla="val 6250"/>
            </a:avLst>
          </a:prstGeom>
          <a:solidFill>
            <a:srgbClr val="132347"/>
          </a:solidFill>
          <a:ln/>
          <a:effectLst>
            <a:outerShdw blurRad="76200" dist="38100" dir="5400000" algn="bl" rotWithShape="0">
              <a:srgbClr val="1B2233">
                <a:alpha val="25000"/>
              </a:srgbClr>
            </a:outerShdw>
          </a:effectLst>
        </p:spPr>
        <p:txBody>
          <a:bodyPr/>
          <a:lstStyle/>
          <a:p>
            <a:endParaRPr lang="en-IN"/>
          </a:p>
        </p:txBody>
      </p:sp>
      <p:sp>
        <p:nvSpPr>
          <p:cNvPr id="8" name="Text 6"/>
          <p:cNvSpPr/>
          <p:nvPr/>
        </p:nvSpPr>
        <p:spPr>
          <a:xfrm>
            <a:off x="685800" y="2130552"/>
            <a:ext cx="2651760" cy="274320"/>
          </a:xfrm>
          <a:prstGeom prst="rect">
            <a:avLst/>
          </a:prstGeom>
          <a:noFill/>
          <a:ln/>
        </p:spPr>
        <p:txBody>
          <a:bodyPr wrap="square" lIns="0" tIns="0" rIns="0" bIns="0" rtlCol="0" anchor="ctr"/>
          <a:lstStyle/>
          <a:p>
            <a:pPr marL="0" indent="0" algn="l">
              <a:buNone/>
            </a:pPr>
            <a:r>
              <a:rPr lang="en-US" sz="1100" b="1" kern="0" spc="100" dirty="0">
                <a:solidFill>
                  <a:srgbClr val="17A398"/>
                </a:solidFill>
                <a:latin typeface="Calibri" pitchFamily="34" charset="0"/>
                <a:ea typeface="Calibri" pitchFamily="34" charset="-122"/>
                <a:cs typeface="Calibri" pitchFamily="34" charset="-120"/>
              </a:rPr>
              <a:t>HIGH DISCOUNT</a:t>
            </a:r>
            <a:endParaRPr lang="en-US" sz="1100" dirty="0"/>
          </a:p>
          <a:p>
            <a:pPr marL="0" indent="0" algn="l">
              <a:buNone/>
            </a:pPr>
            <a:r>
              <a:rPr lang="en-US" sz="1100" b="1" kern="0" spc="100" dirty="0">
                <a:solidFill>
                  <a:srgbClr val="17A398"/>
                </a:solidFill>
                <a:latin typeface="Calibri" pitchFamily="34" charset="0"/>
                <a:ea typeface="Calibri" pitchFamily="34" charset="-122"/>
                <a:cs typeface="Calibri" pitchFamily="34" charset="-120"/>
              </a:rPr>
              <a:t>(&gt; 50%)</a:t>
            </a:r>
            <a:endParaRPr lang="en-US" sz="1100" dirty="0"/>
          </a:p>
        </p:txBody>
      </p:sp>
      <p:sp>
        <p:nvSpPr>
          <p:cNvPr id="9" name="Text 7"/>
          <p:cNvSpPr/>
          <p:nvPr/>
        </p:nvSpPr>
        <p:spPr>
          <a:xfrm>
            <a:off x="685800" y="2350008"/>
            <a:ext cx="2651760"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221,864</a:t>
            </a:r>
            <a:endParaRPr lang="en-US" sz="3400" dirty="0"/>
          </a:p>
        </p:txBody>
      </p:sp>
      <p:sp>
        <p:nvSpPr>
          <p:cNvPr id="10" name="Shape 8"/>
          <p:cNvSpPr/>
          <p:nvPr/>
        </p:nvSpPr>
        <p:spPr>
          <a:xfrm>
            <a:off x="3794760" y="1965960"/>
            <a:ext cx="3108960" cy="1463040"/>
          </a:xfrm>
          <a:prstGeom prst="roundRect">
            <a:avLst>
              <a:gd name="adj" fmla="val 6250"/>
            </a:avLst>
          </a:prstGeom>
          <a:solidFill>
            <a:srgbClr val="132347"/>
          </a:solidFill>
          <a:ln/>
          <a:effectLst>
            <a:outerShdw blurRad="76200" dist="38100" dir="5400000" algn="bl" rotWithShape="0">
              <a:srgbClr val="1B2233">
                <a:alpha val="25000"/>
              </a:srgbClr>
            </a:outerShdw>
          </a:effectLst>
        </p:spPr>
        <p:txBody>
          <a:bodyPr/>
          <a:lstStyle/>
          <a:p>
            <a:endParaRPr lang="en-IN"/>
          </a:p>
        </p:txBody>
      </p:sp>
      <p:sp>
        <p:nvSpPr>
          <p:cNvPr id="11" name="Text 9"/>
          <p:cNvSpPr/>
          <p:nvPr/>
        </p:nvSpPr>
        <p:spPr>
          <a:xfrm>
            <a:off x="4023360" y="2130552"/>
            <a:ext cx="2651760" cy="274320"/>
          </a:xfrm>
          <a:prstGeom prst="rect">
            <a:avLst/>
          </a:prstGeom>
          <a:noFill/>
          <a:ln/>
        </p:spPr>
        <p:txBody>
          <a:bodyPr wrap="square" lIns="0" tIns="0" rIns="0" bIns="0" rtlCol="0" anchor="ctr"/>
          <a:lstStyle/>
          <a:p>
            <a:pPr marL="0" indent="0" algn="l">
              <a:buNone/>
            </a:pPr>
            <a:r>
              <a:rPr lang="en-US" sz="1100" b="1" kern="0" spc="100" dirty="0">
                <a:solidFill>
                  <a:srgbClr val="17A398"/>
                </a:solidFill>
                <a:latin typeface="Calibri" pitchFamily="34" charset="0"/>
                <a:ea typeface="Calibri" pitchFamily="34" charset="-122"/>
                <a:cs typeface="Calibri" pitchFamily="34" charset="-120"/>
              </a:rPr>
              <a:t>LOW DISCOUNT</a:t>
            </a:r>
            <a:endParaRPr lang="en-US" sz="1100" dirty="0"/>
          </a:p>
          <a:p>
            <a:pPr marL="0" indent="0" algn="l">
              <a:buNone/>
            </a:pPr>
            <a:r>
              <a:rPr lang="en-US" sz="1100" b="1" kern="0" spc="100" dirty="0">
                <a:solidFill>
                  <a:srgbClr val="17A398"/>
                </a:solidFill>
                <a:latin typeface="Calibri" pitchFamily="34" charset="0"/>
                <a:ea typeface="Calibri" pitchFamily="34" charset="-122"/>
                <a:cs typeface="Calibri" pitchFamily="34" charset="-120"/>
              </a:rPr>
              <a:t>(≤ 50% OR NONE)</a:t>
            </a:r>
            <a:endParaRPr lang="en-US" sz="1100" dirty="0"/>
          </a:p>
        </p:txBody>
      </p:sp>
      <p:sp>
        <p:nvSpPr>
          <p:cNvPr id="12" name="Text 10"/>
          <p:cNvSpPr/>
          <p:nvPr/>
        </p:nvSpPr>
        <p:spPr>
          <a:xfrm>
            <a:off x="4023360" y="2350008"/>
            <a:ext cx="2651760"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304,700</a:t>
            </a:r>
            <a:endParaRPr lang="en-US" sz="3400" dirty="0"/>
          </a:p>
        </p:txBody>
      </p:sp>
      <p:sp>
        <p:nvSpPr>
          <p:cNvPr id="13" name="Shape 11"/>
          <p:cNvSpPr/>
          <p:nvPr/>
        </p:nvSpPr>
        <p:spPr>
          <a:xfrm>
            <a:off x="3794760" y="1965960"/>
            <a:ext cx="3108960" cy="1463040"/>
          </a:xfrm>
          <a:prstGeom prst="roundRect">
            <a:avLst>
              <a:gd name="adj" fmla="val 6250"/>
            </a:avLst>
          </a:prstGeom>
          <a:solidFill>
            <a:srgbClr val="0E7C86"/>
          </a:solidFill>
          <a:ln/>
        </p:spPr>
        <p:txBody>
          <a:bodyPr/>
          <a:lstStyle/>
          <a:p>
            <a:endParaRPr lang="en-IN"/>
          </a:p>
        </p:txBody>
      </p:sp>
      <p:sp>
        <p:nvSpPr>
          <p:cNvPr id="14" name="Text 12"/>
          <p:cNvSpPr/>
          <p:nvPr/>
        </p:nvSpPr>
        <p:spPr>
          <a:xfrm>
            <a:off x="4023360" y="2130552"/>
            <a:ext cx="2651760" cy="457200"/>
          </a:xfrm>
          <a:prstGeom prst="rect">
            <a:avLst/>
          </a:prstGeom>
          <a:noFill/>
          <a:ln/>
        </p:spPr>
        <p:txBody>
          <a:bodyPr wrap="square" lIns="0" tIns="0" rIns="0" bIns="0" rtlCol="0" anchor="ctr"/>
          <a:lstStyle/>
          <a:p>
            <a:pPr marL="0" indent="0">
              <a:buNone/>
            </a:pPr>
            <a:r>
              <a:rPr lang="en-US" sz="1100" b="1" dirty="0">
                <a:solidFill>
                  <a:srgbClr val="D6F0EE"/>
                </a:solidFill>
                <a:latin typeface="Calibri" pitchFamily="34" charset="0"/>
                <a:ea typeface="Calibri" pitchFamily="34" charset="-122"/>
                <a:cs typeface="Calibri" pitchFamily="34" charset="-120"/>
              </a:rPr>
              <a:t>LOW DISCOUNT (≤ 50% OR NONE)</a:t>
            </a:r>
            <a:endParaRPr lang="en-US" sz="1100" dirty="0"/>
          </a:p>
        </p:txBody>
      </p:sp>
      <p:sp>
        <p:nvSpPr>
          <p:cNvPr id="15" name="Text 13"/>
          <p:cNvSpPr/>
          <p:nvPr/>
        </p:nvSpPr>
        <p:spPr>
          <a:xfrm>
            <a:off x="4023360" y="2377440"/>
            <a:ext cx="265176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304,700</a:t>
            </a:r>
            <a:endParaRPr lang="en-US" sz="3000" dirty="0"/>
          </a:p>
        </p:txBody>
      </p:sp>
      <p:graphicFrame>
        <p:nvGraphicFramePr>
          <p:cNvPr id="16" name="Chart 0"/>
          <p:cNvGraphicFramePr/>
          <p:nvPr/>
        </p:nvGraphicFramePr>
        <p:xfrm>
          <a:off x="7360920" y="1828800"/>
          <a:ext cx="3931920"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14"/>
          <p:cNvSpPr/>
          <p:nvPr/>
        </p:nvSpPr>
        <p:spPr>
          <a:xfrm>
            <a:off x="457200" y="3611880"/>
            <a:ext cx="6583680" cy="1371600"/>
          </a:xfrm>
          <a:prstGeom prst="rect">
            <a:avLst/>
          </a:prstGeom>
          <a:noFill/>
          <a:ln/>
        </p:spPr>
        <p:txBody>
          <a:bodyPr wrap="square" lIns="0" tIns="0" rIns="0" bIns="0" rtlCol="0" anchor="t"/>
          <a:lstStyle/>
          <a:p>
            <a:pPr marL="0" indent="0" algn="l">
              <a:lnSpc>
                <a:spcPct val="115000"/>
              </a:lnSpc>
              <a:buNone/>
            </a:pPr>
            <a:r>
              <a:rPr lang="en-US" sz="1250" dirty="0">
                <a:solidFill>
                  <a:srgbClr val="1B2233"/>
                </a:solidFill>
                <a:latin typeface="Calibri" pitchFamily="34" charset="0"/>
                <a:ea typeface="Calibri" pitchFamily="34" charset="-122"/>
                <a:cs typeface="Calibri" pitchFamily="34" charset="-120"/>
              </a:rPr>
              <a:t>42.1% of the entire catalog qualifies as High Discount. Products with no listed discount offer default to Low Discount, since they are not greater than 50%.</a:t>
            </a:r>
            <a:endParaRPr lang="en-US" sz="1250" dirty="0"/>
          </a:p>
        </p:txBody>
      </p:sp>
      <p:sp>
        <p:nvSpPr>
          <p:cNvPr id="18" name="Shape 15"/>
          <p:cNvSpPr/>
          <p:nvPr/>
        </p:nvSpPr>
        <p:spPr>
          <a:xfrm>
            <a:off x="457200" y="5257800"/>
            <a:ext cx="10817352" cy="914400"/>
          </a:xfrm>
          <a:prstGeom prst="roundRect">
            <a:avLst>
              <a:gd name="adj" fmla="val 8000"/>
            </a:avLst>
          </a:prstGeom>
          <a:solidFill>
            <a:srgbClr val="F5F7F9"/>
          </a:solidFill>
          <a:ln w="12700">
            <a:solidFill>
              <a:srgbClr val="DCE2E8"/>
            </a:solidFill>
            <a:prstDash val="solid"/>
          </a:ln>
        </p:spPr>
        <p:txBody>
          <a:bodyPr/>
          <a:lstStyle/>
          <a:p>
            <a:endParaRPr lang="en-IN"/>
          </a:p>
        </p:txBody>
      </p:sp>
      <p:sp>
        <p:nvSpPr>
          <p:cNvPr id="19" name="Text 16"/>
          <p:cNvSpPr/>
          <p:nvPr/>
        </p:nvSpPr>
        <p:spPr>
          <a:xfrm>
            <a:off x="640080" y="5349240"/>
            <a:ext cx="10451592" cy="219456"/>
          </a:xfrm>
          <a:prstGeom prst="rect">
            <a:avLst/>
          </a:prstGeom>
          <a:noFill/>
          <a:ln/>
        </p:spPr>
        <p:txBody>
          <a:bodyPr wrap="square" lIns="0" tIns="0" rIns="0" bIns="0" rtlCol="0" anchor="ctr"/>
          <a:lstStyle/>
          <a:p>
            <a:pPr marL="0" indent="0">
              <a:buNone/>
            </a:pPr>
            <a:r>
              <a:rPr lang="en-US" sz="900" b="1" kern="0" spc="10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20" name="Text 17"/>
          <p:cNvSpPr/>
          <p:nvPr/>
        </p:nvSpPr>
        <p:spPr>
          <a:xfrm>
            <a:off x="640080" y="5550408"/>
            <a:ext cx="10451592" cy="292608"/>
          </a:xfrm>
          <a:prstGeom prst="rect">
            <a:avLst/>
          </a:prstGeom>
          <a:noFill/>
          <a:ln/>
        </p:spPr>
        <p:txBody>
          <a:bodyPr wrap="square" lIns="0" tIns="0" rIns="0" bIns="0" rtlCol="0" anchor="t">
            <a:normAutofit/>
          </a:bodyPr>
          <a:lstStyle/>
          <a:p>
            <a:pPr marL="0" indent="0">
              <a:buNone/>
            </a:pPr>
            <a:r>
              <a:rPr lang="en-US" sz="1250" dirty="0">
                <a:solidFill>
                  <a:srgbClr val="132347"/>
                </a:solidFill>
                <a:latin typeface="Courier New" pitchFamily="34" charset="0"/>
                <a:ea typeface="Courier New" pitchFamily="34" charset="-122"/>
                <a:cs typeface="Courier New" pitchFamily="34" charset="-120"/>
              </a:rPr>
              <a:t>=IF(StandardizedOffer2&gt;0.5,"High Discount","Low Discount")</a:t>
            </a:r>
            <a:endParaRPr lang="en-US" sz="1250" dirty="0"/>
          </a:p>
        </p:txBody>
      </p:sp>
      <p:sp>
        <p:nvSpPr>
          <p:cNvPr id="21" name="Text 18"/>
          <p:cNvSpPr/>
          <p:nvPr/>
        </p:nvSpPr>
        <p:spPr>
          <a:xfrm>
            <a:off x="640080" y="5861304"/>
            <a:ext cx="10451592" cy="256032"/>
          </a:xfrm>
          <a:prstGeom prst="rect">
            <a:avLst/>
          </a:prstGeom>
          <a:noFill/>
          <a:ln/>
        </p:spPr>
        <p:txBody>
          <a:bodyPr wrap="square" lIns="0" tIns="0" rIns="0" bIns="0" rtlCol="0" anchor="ctr"/>
          <a:lstStyle/>
          <a:p>
            <a:pPr marL="0" indent="0">
              <a:buNone/>
            </a:pPr>
            <a:r>
              <a:rPr lang="en-US" sz="950" i="1" dirty="0">
                <a:solidFill>
                  <a:srgbClr val="6B7484"/>
                </a:solidFill>
                <a:latin typeface="Calibri" pitchFamily="34" charset="0"/>
                <a:ea typeface="Calibri" pitchFamily="34" charset="-122"/>
                <a:cs typeface="Calibri" pitchFamily="34" charset="-120"/>
              </a:rPr>
              <a:t>Written into new column "Discount_Label" and filled down all 526,564 rows.</a:t>
            </a:r>
            <a:endParaRPr lang="en-US" sz="950" dirty="0"/>
          </a:p>
        </p:txBody>
      </p:sp>
      <p:sp>
        <p:nvSpPr>
          <p:cNvPr id="22" name="Text 19"/>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7484"/>
                </a:solidFill>
                <a:latin typeface="Calibri" pitchFamily="34" charset="0"/>
                <a:ea typeface="Calibri" pitchFamily="34" charset="-122"/>
                <a:cs typeface="Calibri" pitchFamily="34" charset="-120"/>
              </a:rPr>
              <a:t>Data Analysis — Q8</a:t>
            </a:r>
            <a:endParaRPr lang="en-US" sz="900" dirty="0"/>
          </a:p>
        </p:txBody>
      </p:sp>
      <p:sp>
        <p:nvSpPr>
          <p:cNvPr id="23" name="Text 20"/>
          <p:cNvSpPr/>
          <p:nvPr/>
        </p:nvSpPr>
        <p:spPr>
          <a:xfrm>
            <a:off x="11000232" y="6473952"/>
            <a:ext cx="822960" cy="274320"/>
          </a:xfrm>
          <a:prstGeom prst="rect">
            <a:avLst/>
          </a:prstGeom>
          <a:noFill/>
          <a:ln/>
        </p:spPr>
        <p:txBody>
          <a:bodyPr wrap="square" rtlCol="0" anchor="ctr"/>
          <a:lstStyle/>
          <a:p>
            <a:pPr marL="0" indent="0" algn="r">
              <a:buNone/>
            </a:pPr>
            <a:r>
              <a:rPr lang="en-US" sz="900" dirty="0">
                <a:solidFill>
                  <a:srgbClr val="6B7484"/>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txBody>
          <a:bodyPr/>
          <a:lstStyle/>
          <a:p>
            <a:endParaRPr lang="en-IN"/>
          </a:p>
        </p:txBody>
      </p:sp>
      <p:sp>
        <p:nvSpPr>
          <p:cNvPr id="3" name="Text 1"/>
          <p:cNvSpPr/>
          <p:nvPr/>
        </p:nvSpPr>
        <p:spPr>
          <a:xfrm>
            <a:off x="457200" y="384048"/>
            <a:ext cx="8686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 · Q9</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marL="0" indent="0" algn="l">
              <a:buNone/>
            </a:pPr>
            <a:r>
              <a:rPr lang="en-US" sz="2200" b="1" dirty="0">
                <a:solidFill>
                  <a:srgbClr val="132347"/>
                </a:solidFill>
                <a:latin typeface="Cambria" pitchFamily="34" charset="0"/>
                <a:ea typeface="Cambria" pitchFamily="34" charset="-122"/>
                <a:cs typeface="Cambria" pitchFamily="34" charset="-120"/>
              </a:rPr>
              <a:t>VLOOKUP / XLOOKUP — Product ID 11226634</a:t>
            </a:r>
            <a:endParaRPr lang="en-US" sz="2200" dirty="0"/>
          </a:p>
        </p:txBody>
      </p:sp>
      <p:sp>
        <p:nvSpPr>
          <p:cNvPr id="5" name="Shape 3"/>
          <p:cNvSpPr/>
          <p:nvPr/>
        </p:nvSpPr>
        <p:spPr>
          <a:xfrm>
            <a:off x="457200" y="1097280"/>
            <a:ext cx="10817352" cy="566928"/>
          </a:xfrm>
          <a:prstGeom prst="roundRect">
            <a:avLst>
              <a:gd name="adj" fmla="val 9677"/>
            </a:avLst>
          </a:prstGeom>
          <a:solidFill>
            <a:srgbClr val="E5F3F2"/>
          </a:solidFill>
          <a:ln/>
        </p:spPr>
        <p:txBody>
          <a:bodyPr/>
          <a:lstStyle/>
          <a:p>
            <a:endParaRPr lang="en-IN"/>
          </a:p>
        </p:txBody>
      </p:sp>
      <p:sp>
        <p:nvSpPr>
          <p:cNvPr id="6" name="Text 4"/>
          <p:cNvSpPr/>
          <p:nvPr/>
        </p:nvSpPr>
        <p:spPr>
          <a:xfrm>
            <a:off x="640080" y="1097280"/>
            <a:ext cx="10424160" cy="566928"/>
          </a:xfrm>
          <a:prstGeom prst="rect">
            <a:avLst/>
          </a:prstGeom>
          <a:noFill/>
          <a:ln/>
        </p:spPr>
        <p:txBody>
          <a:bodyPr wrap="square" lIns="0" tIns="0" rIns="0" bIns="0" rtlCol="0" anchor="ctr"/>
          <a:lstStyle/>
          <a:p>
            <a:pPr marL="0" indent="0">
              <a:buNone/>
            </a:pPr>
            <a:r>
              <a:rPr lang="en-US" sz="1250" i="1" dirty="0">
                <a:solidFill>
                  <a:srgbClr val="132347"/>
                </a:solidFill>
                <a:latin typeface="Calibri" pitchFamily="34" charset="0"/>
                <a:ea typeface="Calibri" pitchFamily="34" charset="-122"/>
                <a:cs typeface="Calibri" pitchFamily="34" charset="-120"/>
              </a:rPr>
              <a:t>"Use VLOOKUP/XLOOKUP to find the product brand, price, and rating of the product with Product_id 11226634."</a:t>
            </a:r>
            <a:endParaRPr lang="en-US" sz="1250" dirty="0"/>
          </a:p>
        </p:txBody>
      </p:sp>
      <p:sp>
        <p:nvSpPr>
          <p:cNvPr id="7" name="Shape 5"/>
          <p:cNvSpPr/>
          <p:nvPr/>
        </p:nvSpPr>
        <p:spPr>
          <a:xfrm>
            <a:off x="457200" y="1920240"/>
            <a:ext cx="3383280" cy="502920"/>
          </a:xfrm>
          <a:prstGeom prst="roundRect">
            <a:avLst>
              <a:gd name="adj" fmla="val 10909"/>
            </a:avLst>
          </a:prstGeom>
          <a:solidFill>
            <a:srgbClr val="132347"/>
          </a:solidFill>
          <a:ln w="12700">
            <a:solidFill>
              <a:srgbClr val="0E7C86"/>
            </a:solidFill>
            <a:prstDash val="solid"/>
          </a:ln>
        </p:spPr>
        <p:txBody>
          <a:bodyPr/>
          <a:lstStyle/>
          <a:p>
            <a:endParaRPr lang="en-IN"/>
          </a:p>
        </p:txBody>
      </p:sp>
      <p:sp>
        <p:nvSpPr>
          <p:cNvPr id="8" name="Text 6"/>
          <p:cNvSpPr/>
          <p:nvPr/>
        </p:nvSpPr>
        <p:spPr>
          <a:xfrm>
            <a:off x="548640" y="1920240"/>
            <a:ext cx="32004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PRODUCT ID 11226634</a:t>
            </a:r>
            <a:endParaRPr lang="en-US" sz="1200" dirty="0"/>
          </a:p>
        </p:txBody>
      </p:sp>
      <p:sp>
        <p:nvSpPr>
          <p:cNvPr id="9" name="Shape 7"/>
          <p:cNvSpPr/>
          <p:nvPr/>
        </p:nvSpPr>
        <p:spPr>
          <a:xfrm>
            <a:off x="2066544" y="2447849"/>
            <a:ext cx="164592" cy="115214"/>
          </a:xfrm>
          <a:prstGeom prst="downArrow">
            <a:avLst/>
          </a:prstGeom>
          <a:solidFill>
            <a:srgbClr val="0E7C86"/>
          </a:solidFill>
          <a:ln/>
        </p:spPr>
        <p:txBody>
          <a:bodyPr/>
          <a:lstStyle/>
          <a:p>
            <a:endParaRPr lang="en-IN"/>
          </a:p>
        </p:txBody>
      </p:sp>
      <p:sp>
        <p:nvSpPr>
          <p:cNvPr id="10" name="Shape 8"/>
          <p:cNvSpPr/>
          <p:nvPr/>
        </p:nvSpPr>
        <p:spPr>
          <a:xfrm>
            <a:off x="457200" y="2587752"/>
            <a:ext cx="3383280" cy="502920"/>
          </a:xfrm>
          <a:prstGeom prst="roundRect">
            <a:avLst>
              <a:gd name="adj" fmla="val 10909"/>
            </a:avLst>
          </a:prstGeom>
          <a:solidFill>
            <a:srgbClr val="E5F3F2"/>
          </a:solidFill>
          <a:ln w="12700">
            <a:solidFill>
              <a:srgbClr val="0E7C86"/>
            </a:solidFill>
            <a:prstDash val="solid"/>
          </a:ln>
        </p:spPr>
        <p:txBody>
          <a:bodyPr/>
          <a:lstStyle/>
          <a:p>
            <a:endParaRPr lang="en-IN"/>
          </a:p>
        </p:txBody>
      </p:sp>
      <p:sp>
        <p:nvSpPr>
          <p:cNvPr id="11" name="Text 9"/>
          <p:cNvSpPr/>
          <p:nvPr/>
        </p:nvSpPr>
        <p:spPr>
          <a:xfrm>
            <a:off x="548640" y="2587752"/>
            <a:ext cx="3200400" cy="502920"/>
          </a:xfrm>
          <a:prstGeom prst="rect">
            <a:avLst/>
          </a:prstGeom>
          <a:noFill/>
          <a:ln/>
        </p:spPr>
        <p:txBody>
          <a:bodyPr wrap="square" lIns="0" tIns="0" rIns="0" bIns="0" rtlCol="0" anchor="ctr"/>
          <a:lstStyle/>
          <a:p>
            <a:pPr marL="0" indent="0" algn="ctr">
              <a:buNone/>
            </a:pPr>
            <a:r>
              <a:rPr lang="en-US" sz="1200" b="1" dirty="0">
                <a:solidFill>
                  <a:srgbClr val="132347"/>
                </a:solidFill>
                <a:latin typeface="Calibri" pitchFamily="34" charset="0"/>
                <a:ea typeface="Calibri" pitchFamily="34" charset="-122"/>
                <a:cs typeface="Calibri" pitchFamily="34" charset="-120"/>
              </a:rPr>
              <a:t>VLOOKUP → Row 2,349</a:t>
            </a:r>
            <a:endParaRPr lang="en-US" sz="1200" dirty="0"/>
          </a:p>
        </p:txBody>
      </p:sp>
      <p:sp>
        <p:nvSpPr>
          <p:cNvPr id="12" name="Shape 10"/>
          <p:cNvSpPr/>
          <p:nvPr/>
        </p:nvSpPr>
        <p:spPr>
          <a:xfrm>
            <a:off x="2066544" y="3115361"/>
            <a:ext cx="164592" cy="115214"/>
          </a:xfrm>
          <a:prstGeom prst="downArrow">
            <a:avLst/>
          </a:prstGeom>
          <a:solidFill>
            <a:srgbClr val="0E7C86"/>
          </a:solidFill>
          <a:ln/>
        </p:spPr>
        <p:txBody>
          <a:bodyPr/>
          <a:lstStyle/>
          <a:p>
            <a:endParaRPr lang="en-IN"/>
          </a:p>
        </p:txBody>
      </p:sp>
      <p:sp>
        <p:nvSpPr>
          <p:cNvPr id="13" name="Shape 11"/>
          <p:cNvSpPr/>
          <p:nvPr/>
        </p:nvSpPr>
        <p:spPr>
          <a:xfrm>
            <a:off x="457200" y="3255264"/>
            <a:ext cx="3383280" cy="502920"/>
          </a:xfrm>
          <a:prstGeom prst="roundRect">
            <a:avLst>
              <a:gd name="adj" fmla="val 10909"/>
            </a:avLst>
          </a:prstGeom>
          <a:solidFill>
            <a:srgbClr val="0E7C86"/>
          </a:solidFill>
          <a:ln w="12700">
            <a:solidFill>
              <a:srgbClr val="0E7C86"/>
            </a:solidFill>
            <a:prstDash val="solid"/>
          </a:ln>
        </p:spPr>
        <p:txBody>
          <a:bodyPr/>
          <a:lstStyle/>
          <a:p>
            <a:endParaRPr lang="en-IN"/>
          </a:p>
        </p:txBody>
      </p:sp>
      <p:sp>
        <p:nvSpPr>
          <p:cNvPr id="14" name="Text 12"/>
          <p:cNvSpPr/>
          <p:nvPr/>
        </p:nvSpPr>
        <p:spPr>
          <a:xfrm>
            <a:off x="548640" y="3255264"/>
            <a:ext cx="320040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RETURN Brand / Price / Rating</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206240" y="1920240"/>
          <a:ext cx="7040880" cy="914400"/>
        </p:xfrm>
        <a:graphic>
          <a:graphicData uri="http://schemas.openxmlformats.org/drawingml/2006/table">
            <a:tbl>
              <a:tblPr/>
              <a:tblGrid>
                <a:gridCol w="1760220">
                  <a:extLst>
                    <a:ext uri="{9D8B030D-6E8A-4147-A177-3AD203B41FA5}">
                      <a16:colId xmlns:a16="http://schemas.microsoft.com/office/drawing/2014/main" val="20000"/>
                    </a:ext>
                  </a:extLst>
                </a:gridCol>
                <a:gridCol w="1760220">
                  <a:extLst>
                    <a:ext uri="{9D8B030D-6E8A-4147-A177-3AD203B41FA5}">
                      <a16:colId xmlns:a16="http://schemas.microsoft.com/office/drawing/2014/main" val="20001"/>
                    </a:ext>
                  </a:extLst>
                </a:gridCol>
                <a:gridCol w="1760220">
                  <a:extLst>
                    <a:ext uri="{9D8B030D-6E8A-4147-A177-3AD203B41FA5}">
                      <a16:colId xmlns:a16="http://schemas.microsoft.com/office/drawing/2014/main" val="20002"/>
                    </a:ext>
                  </a:extLst>
                </a:gridCol>
                <a:gridCol w="1760220">
                  <a:extLst>
                    <a:ext uri="{9D8B030D-6E8A-4147-A177-3AD203B41FA5}">
                      <a16:colId xmlns:a16="http://schemas.microsoft.com/office/drawing/2014/main" val="20003"/>
                    </a:ext>
                  </a:extLst>
                </a:gridCol>
              </a:tblGrid>
              <a:tr h="45720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Product ID</a:t>
                      </a:r>
                      <a:endParaRPr lang="en-US" sz="1400" dirty="0">
                        <a:latin typeface="Calibri" charset="0"/>
                        <a:ea typeface="Calibri" charset="0"/>
                        <a:cs typeface="Calibri" charset="0"/>
                      </a:endParaRPr>
                    </a:p>
                  </a:txBody>
                  <a:tcPr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3234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Brand</a:t>
                      </a:r>
                      <a:endParaRPr lang="en-US" sz="1400" dirty="0">
                        <a:latin typeface="Calibri" charset="0"/>
                        <a:ea typeface="Calibri" charset="0"/>
                        <a:cs typeface="Calibri" charset="0"/>
                      </a:endParaRPr>
                    </a:p>
                  </a:txBody>
                  <a:tcPr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3234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Price</a:t>
                      </a:r>
                      <a:endParaRPr lang="en-US" sz="1400" dirty="0">
                        <a:latin typeface="Calibri" charset="0"/>
                        <a:ea typeface="Calibri" charset="0"/>
                        <a:cs typeface="Calibri" charset="0"/>
                      </a:endParaRPr>
                    </a:p>
                  </a:txBody>
                  <a:tcPr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3234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Rating</a:t>
                      </a:r>
                      <a:endParaRPr lang="en-US" sz="1400" dirty="0">
                        <a:latin typeface="Calibri" charset="0"/>
                        <a:ea typeface="Calibri" charset="0"/>
                        <a:cs typeface="Calibri" charset="0"/>
                      </a:endParaRPr>
                    </a:p>
                  </a:txBody>
                  <a:tcPr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32347"/>
                    </a:solidFill>
                  </a:tcPr>
                </a:tc>
                <a:extLst>
                  <a:ext uri="{0D108BD9-81ED-4DB2-BD59-A6C34878D82A}">
                    <a16:rowId xmlns:a16="http://schemas.microsoft.com/office/drawing/2014/main" val="10000"/>
                  </a:ext>
                </a:extLst>
              </a:tr>
              <a:tr h="457200">
                <a:tc>
                  <a:txBody>
                    <a:bodyPr/>
                    <a:lstStyle/>
                    <a:p>
                      <a:pPr marL="0" indent="0" algn="ctr">
                        <a:buNone/>
                      </a:pPr>
                      <a:r>
                        <a:rPr lang="en-US" sz="1400" dirty="0">
                          <a:solidFill>
                            <a:srgbClr val="1B2233"/>
                          </a:solidFill>
                          <a:latin typeface="Calibri" pitchFamily="34" charset="0"/>
                          <a:ea typeface="Calibri" pitchFamily="34" charset="-122"/>
                          <a:cs typeface="Calibri" pitchFamily="34" charset="-120"/>
                        </a:rPr>
                        <a:t>11226634</a:t>
                      </a:r>
                      <a:endParaRPr lang="en-US" sz="1400" dirty="0">
                        <a:latin typeface="Calibri" charset="0"/>
                        <a:ea typeface="Calibri" charset="0"/>
                        <a:cs typeface="Calibri" charset="0"/>
                      </a:endParaRPr>
                    </a:p>
                  </a:txBody>
                  <a:tcPr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tcPr>
                </a:tc>
                <a:tc>
                  <a:txBody>
                    <a:bodyPr/>
                    <a:lstStyle/>
                    <a:p>
                      <a:pPr marL="0" indent="0" algn="ctr">
                        <a:buNone/>
                      </a:pPr>
                      <a:r>
                        <a:rPr lang="en-US" sz="1400" b="1" dirty="0">
                          <a:solidFill>
                            <a:srgbClr val="1B2233"/>
                          </a:solidFill>
                          <a:latin typeface="Calibri" pitchFamily="34" charset="0"/>
                          <a:ea typeface="Calibri" pitchFamily="34" charset="-122"/>
                          <a:cs typeface="Calibri" pitchFamily="34" charset="-120"/>
                        </a:rPr>
                        <a:t>Maniac</a:t>
                      </a:r>
                      <a:endParaRPr lang="en-US" sz="1400" dirty="0">
                        <a:latin typeface="Calibri" charset="0"/>
                        <a:ea typeface="Calibri" charset="0"/>
                        <a:cs typeface="Calibri" charset="0"/>
                      </a:endParaRPr>
                    </a:p>
                  </a:txBody>
                  <a:tcPr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tcPr>
                </a:tc>
                <a:tc>
                  <a:txBody>
                    <a:bodyPr/>
                    <a:lstStyle/>
                    <a:p>
                      <a:pPr marL="0" indent="0" algn="ctr">
                        <a:buNone/>
                      </a:pPr>
                      <a:r>
                        <a:rPr lang="en-US" sz="1400" dirty="0">
                          <a:solidFill>
                            <a:srgbClr val="1B2233"/>
                          </a:solidFill>
                          <a:latin typeface="Calibri" pitchFamily="34" charset="0"/>
                          <a:ea typeface="Calibri" pitchFamily="34" charset="-122"/>
                          <a:cs typeface="Calibri" pitchFamily="34" charset="-120"/>
                        </a:rPr>
                        <a:t>₹1,199</a:t>
                      </a:r>
                      <a:endParaRPr lang="en-US" sz="1400" dirty="0">
                        <a:latin typeface="Calibri" charset="0"/>
                        <a:ea typeface="Calibri" charset="0"/>
                        <a:cs typeface="Calibri" charset="0"/>
                      </a:endParaRPr>
                    </a:p>
                  </a:txBody>
                  <a:tcPr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tcPr>
                </a:tc>
                <a:tc>
                  <a:txBody>
                    <a:bodyPr/>
                    <a:lstStyle/>
                    <a:p>
                      <a:pPr marL="0" indent="0" algn="ctr">
                        <a:buNone/>
                      </a:pPr>
                      <a:r>
                        <a:rPr lang="en-US" sz="1400" dirty="0">
                          <a:solidFill>
                            <a:srgbClr val="1B2233"/>
                          </a:solidFill>
                          <a:latin typeface="Calibri" pitchFamily="34" charset="0"/>
                          <a:ea typeface="Calibri" pitchFamily="34" charset="-122"/>
                          <a:cs typeface="Calibri" pitchFamily="34" charset="-120"/>
                        </a:rPr>
                        <a:t>3.9 ★</a:t>
                      </a:r>
                      <a:endParaRPr lang="en-US" sz="1400" dirty="0">
                        <a:latin typeface="Calibri" charset="0"/>
                        <a:ea typeface="Calibri" charset="0"/>
                        <a:cs typeface="Calibri" charset="0"/>
                      </a:endParaRPr>
                    </a:p>
                  </a:txBody>
                  <a:tcPr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6" name="Shape 13"/>
          <p:cNvSpPr/>
          <p:nvPr/>
        </p:nvSpPr>
        <p:spPr>
          <a:xfrm>
            <a:off x="4206240" y="3017520"/>
            <a:ext cx="7040880" cy="777240"/>
          </a:xfrm>
          <a:prstGeom prst="roundRect">
            <a:avLst>
              <a:gd name="adj" fmla="val 7059"/>
            </a:avLst>
          </a:prstGeom>
          <a:solidFill>
            <a:srgbClr val="E5F3F2"/>
          </a:solidFill>
          <a:ln/>
        </p:spPr>
        <p:txBody>
          <a:bodyPr/>
          <a:lstStyle/>
          <a:p>
            <a:endParaRPr lang="en-IN"/>
          </a:p>
        </p:txBody>
      </p:sp>
      <p:sp>
        <p:nvSpPr>
          <p:cNvPr id="17" name="Text 14"/>
          <p:cNvSpPr/>
          <p:nvPr/>
        </p:nvSpPr>
        <p:spPr>
          <a:xfrm>
            <a:off x="4389120" y="3017520"/>
            <a:ext cx="6675120" cy="777240"/>
          </a:xfrm>
          <a:prstGeom prst="rect">
            <a:avLst/>
          </a:prstGeom>
          <a:noFill/>
          <a:ln/>
        </p:spPr>
        <p:txBody>
          <a:bodyPr wrap="square" lIns="0" tIns="0" rIns="0" bIns="0" rtlCol="0" anchor="ctr"/>
          <a:lstStyle/>
          <a:p>
            <a:pPr marL="0" indent="0">
              <a:buNone/>
            </a:pPr>
            <a:r>
              <a:rPr lang="en-US" sz="1150" dirty="0">
                <a:solidFill>
                  <a:srgbClr val="132347"/>
                </a:solidFill>
                <a:latin typeface="Calibri" pitchFamily="34" charset="0"/>
                <a:ea typeface="Calibri" pitchFamily="34" charset="-122"/>
                <a:cs typeface="Calibri" pitchFamily="34" charset="-120"/>
              </a:rPr>
              <a:t>Sports Wear → tshirts → Men  ·  Discount Price ₹467 (61% OFF)  ·  661 reviews</a:t>
            </a:r>
            <a:endParaRPr lang="en-US" sz="1150" dirty="0"/>
          </a:p>
        </p:txBody>
      </p:sp>
      <p:sp>
        <p:nvSpPr>
          <p:cNvPr id="18" name="Text 15"/>
          <p:cNvSpPr/>
          <p:nvPr/>
        </p:nvSpPr>
        <p:spPr>
          <a:xfrm>
            <a:off x="457200" y="4023360"/>
            <a:ext cx="10817352" cy="777240"/>
          </a:xfrm>
          <a:prstGeom prst="rect">
            <a:avLst/>
          </a:prstGeom>
          <a:noFill/>
          <a:ln/>
        </p:spPr>
        <p:txBody>
          <a:bodyPr wrap="square" lIns="0" tIns="0" rIns="0" bIns="0" rtlCol="0" anchor="t"/>
          <a:lstStyle/>
          <a:p>
            <a:pPr marL="0" indent="0" algn="l">
              <a:lnSpc>
                <a:spcPct val="115000"/>
              </a:lnSpc>
              <a:buNone/>
            </a:pPr>
            <a:r>
              <a:rPr lang="en-US" sz="1250" dirty="0">
                <a:solidFill>
                  <a:srgbClr val="1B2233"/>
                </a:solidFill>
                <a:latin typeface="Calibri" pitchFamily="34" charset="0"/>
                <a:ea typeface="Calibri" pitchFamily="34" charset="-122"/>
                <a:cs typeface="Calibri" pitchFamily="34" charset="-120"/>
              </a:rPr>
              <a:t>VLOOKUP searches column B (Product_id) for an exact match and pulls each requested column from the same row — three separate lookups, one per field, all resolving to row 2,349 of the dataset.</a:t>
            </a:r>
            <a:endParaRPr lang="en-US" sz="1250" dirty="0"/>
          </a:p>
        </p:txBody>
      </p:sp>
      <p:sp>
        <p:nvSpPr>
          <p:cNvPr id="19" name="Shape 16"/>
          <p:cNvSpPr/>
          <p:nvPr/>
        </p:nvSpPr>
        <p:spPr>
          <a:xfrm>
            <a:off x="457200" y="4937760"/>
            <a:ext cx="10817352" cy="1143000"/>
          </a:xfrm>
          <a:prstGeom prst="roundRect">
            <a:avLst>
              <a:gd name="adj" fmla="val 6400"/>
            </a:avLst>
          </a:prstGeom>
          <a:solidFill>
            <a:srgbClr val="F5F7F9"/>
          </a:solidFill>
          <a:ln w="12700">
            <a:solidFill>
              <a:srgbClr val="DCE2E8"/>
            </a:solidFill>
            <a:prstDash val="solid"/>
          </a:ln>
        </p:spPr>
        <p:txBody>
          <a:bodyPr/>
          <a:lstStyle/>
          <a:p>
            <a:endParaRPr lang="en-IN"/>
          </a:p>
        </p:txBody>
      </p:sp>
      <p:sp>
        <p:nvSpPr>
          <p:cNvPr id="20" name="Text 17"/>
          <p:cNvSpPr/>
          <p:nvPr/>
        </p:nvSpPr>
        <p:spPr>
          <a:xfrm>
            <a:off x="640080" y="5029200"/>
            <a:ext cx="10451592" cy="219456"/>
          </a:xfrm>
          <a:prstGeom prst="rect">
            <a:avLst/>
          </a:prstGeom>
          <a:noFill/>
          <a:ln/>
        </p:spPr>
        <p:txBody>
          <a:bodyPr wrap="square" lIns="0" tIns="0" rIns="0" bIns="0" rtlCol="0" anchor="ctr"/>
          <a:lstStyle/>
          <a:p>
            <a:pPr marL="0" indent="0">
              <a:buNone/>
            </a:pPr>
            <a:r>
              <a:rPr lang="en-US" sz="900" b="1" kern="0" spc="10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21" name="Text 18"/>
          <p:cNvSpPr/>
          <p:nvPr/>
        </p:nvSpPr>
        <p:spPr>
          <a:xfrm>
            <a:off x="640080" y="5230368"/>
            <a:ext cx="10451592" cy="521208"/>
          </a:xfrm>
          <a:prstGeom prst="rect">
            <a:avLst/>
          </a:prstGeom>
          <a:noFill/>
          <a:ln/>
        </p:spPr>
        <p:txBody>
          <a:bodyPr wrap="square" lIns="0" tIns="0" rIns="0" bIns="0" rtlCol="0" anchor="t">
            <a:normAutofit/>
          </a:bodyPr>
          <a:lstStyle/>
          <a:p>
            <a:pPr marL="0" indent="0">
              <a:buNone/>
            </a:pPr>
            <a:r>
              <a:rPr lang="en-US" sz="1250" dirty="0">
                <a:solidFill>
                  <a:srgbClr val="132347"/>
                </a:solidFill>
                <a:latin typeface="Courier New" pitchFamily="34" charset="0"/>
                <a:ea typeface="Courier New" pitchFamily="34" charset="-122"/>
                <a:cs typeface="Courier New" pitchFamily="34" charset="-120"/>
              </a:rPr>
              <a:t>=VLOOKUP(11226634,$B$2:$L$526565,3,FALSE)  |  =VLOOKUP(11226634,$B$2:$L$526565,9,FALSE)  |  =VLOOKUP(11226634,$B$2:$L$526565,12,FALSE)</a:t>
            </a:r>
            <a:endParaRPr lang="en-US" sz="1250" dirty="0"/>
          </a:p>
        </p:txBody>
      </p:sp>
      <p:sp>
        <p:nvSpPr>
          <p:cNvPr id="22" name="Text 19"/>
          <p:cNvSpPr/>
          <p:nvPr/>
        </p:nvSpPr>
        <p:spPr>
          <a:xfrm>
            <a:off x="640080" y="5769864"/>
            <a:ext cx="10451592" cy="256032"/>
          </a:xfrm>
          <a:prstGeom prst="rect">
            <a:avLst/>
          </a:prstGeom>
          <a:noFill/>
          <a:ln/>
        </p:spPr>
        <p:txBody>
          <a:bodyPr wrap="square" lIns="0" tIns="0" rIns="0" bIns="0" rtlCol="0" anchor="ctr"/>
          <a:lstStyle/>
          <a:p>
            <a:pPr marL="0" indent="0">
              <a:buNone/>
            </a:pPr>
            <a:r>
              <a:rPr lang="en-US" sz="950" i="1" dirty="0">
                <a:solidFill>
                  <a:srgbClr val="6B7484"/>
                </a:solidFill>
                <a:latin typeface="Calibri" pitchFamily="34" charset="0"/>
                <a:ea typeface="Calibri" pitchFamily="34" charset="-122"/>
                <a:cs typeface="Calibri" pitchFamily="34" charset="-120"/>
              </a:rPr>
              <a:t>B = Product_id; columns 3 / 9 / 12 = BrandName / Original Price / Ratings. Results: Maniac, ₹1,199, 3.9.</a:t>
            </a:r>
            <a:endParaRPr lang="en-US" sz="950" dirty="0"/>
          </a:p>
        </p:txBody>
      </p:sp>
      <p:sp>
        <p:nvSpPr>
          <p:cNvPr id="23" name="Text 20"/>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7484"/>
                </a:solidFill>
                <a:latin typeface="Calibri" pitchFamily="34" charset="0"/>
                <a:ea typeface="Calibri" pitchFamily="34" charset="-122"/>
                <a:cs typeface="Calibri" pitchFamily="34" charset="-120"/>
              </a:rPr>
              <a:t>Lookup &amp; Retrieval — Q9</a:t>
            </a:r>
            <a:endParaRPr lang="en-US" sz="900" dirty="0"/>
          </a:p>
        </p:txBody>
      </p:sp>
      <p:sp>
        <p:nvSpPr>
          <p:cNvPr id="24" name="Text 21"/>
          <p:cNvSpPr/>
          <p:nvPr/>
        </p:nvSpPr>
        <p:spPr>
          <a:xfrm>
            <a:off x="11000232" y="6473952"/>
            <a:ext cx="822960" cy="274320"/>
          </a:xfrm>
          <a:prstGeom prst="rect">
            <a:avLst/>
          </a:prstGeom>
          <a:noFill/>
          <a:ln/>
        </p:spPr>
        <p:txBody>
          <a:bodyPr wrap="square" rtlCol="0" anchor="ctr"/>
          <a:lstStyle/>
          <a:p>
            <a:pPr marL="0" indent="0" algn="r">
              <a:buNone/>
            </a:pPr>
            <a:r>
              <a:rPr lang="en-US" sz="900" dirty="0">
                <a:solidFill>
                  <a:srgbClr val="6B7484"/>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txBody>
          <a:bodyPr/>
          <a:lstStyle/>
          <a:p>
            <a:endParaRPr lang="en-IN"/>
          </a:p>
        </p:txBody>
      </p:sp>
      <p:sp>
        <p:nvSpPr>
          <p:cNvPr id="3" name="Text 1"/>
          <p:cNvSpPr/>
          <p:nvPr/>
        </p:nvSpPr>
        <p:spPr>
          <a:xfrm>
            <a:off x="457200" y="384048"/>
            <a:ext cx="8686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 · Q10</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marL="0" indent="0" algn="l">
              <a:buNone/>
            </a:pPr>
            <a:r>
              <a:rPr lang="en-US" sz="2200" b="1" dirty="0">
                <a:solidFill>
                  <a:srgbClr val="132347"/>
                </a:solidFill>
                <a:latin typeface="Cambria" pitchFamily="34" charset="0"/>
                <a:ea typeface="Cambria" pitchFamily="34" charset="-122"/>
                <a:cs typeface="Cambria" pitchFamily="34" charset="-120"/>
              </a:rPr>
              <a:t>INDEX + MATCH — Product ID 6744434</a:t>
            </a:r>
            <a:endParaRPr lang="en-US" sz="2200" dirty="0"/>
          </a:p>
        </p:txBody>
      </p:sp>
      <p:sp>
        <p:nvSpPr>
          <p:cNvPr id="5" name="Shape 3"/>
          <p:cNvSpPr/>
          <p:nvPr/>
        </p:nvSpPr>
        <p:spPr>
          <a:xfrm>
            <a:off x="457200" y="1097280"/>
            <a:ext cx="10817352" cy="566928"/>
          </a:xfrm>
          <a:prstGeom prst="roundRect">
            <a:avLst>
              <a:gd name="adj" fmla="val 9677"/>
            </a:avLst>
          </a:prstGeom>
          <a:solidFill>
            <a:srgbClr val="E5F3F2"/>
          </a:solidFill>
          <a:ln/>
        </p:spPr>
        <p:txBody>
          <a:bodyPr/>
          <a:lstStyle/>
          <a:p>
            <a:endParaRPr lang="en-IN"/>
          </a:p>
        </p:txBody>
      </p:sp>
      <p:sp>
        <p:nvSpPr>
          <p:cNvPr id="6" name="Text 4"/>
          <p:cNvSpPr/>
          <p:nvPr/>
        </p:nvSpPr>
        <p:spPr>
          <a:xfrm>
            <a:off x="640080" y="1097280"/>
            <a:ext cx="10424160" cy="566928"/>
          </a:xfrm>
          <a:prstGeom prst="rect">
            <a:avLst/>
          </a:prstGeom>
          <a:noFill/>
          <a:ln/>
        </p:spPr>
        <p:txBody>
          <a:bodyPr wrap="square" lIns="0" tIns="0" rIns="0" bIns="0" rtlCol="0" anchor="ctr"/>
          <a:lstStyle/>
          <a:p>
            <a:pPr marL="0" indent="0">
              <a:buNone/>
            </a:pPr>
            <a:r>
              <a:rPr lang="en-US" sz="1300" i="1" dirty="0">
                <a:solidFill>
                  <a:srgbClr val="132347"/>
                </a:solidFill>
                <a:latin typeface="Calibri" pitchFamily="34" charset="0"/>
                <a:ea typeface="Calibri" pitchFamily="34" charset="-122"/>
                <a:cs typeface="Calibri" pitchFamily="34" charset="-120"/>
              </a:rPr>
              <a:t>"Find the DiscountPrice for the product with the Product ID 6744434 using the INDEX and MATCH functions."</a:t>
            </a:r>
            <a:endParaRPr lang="en-US" sz="1300" dirty="0"/>
          </a:p>
        </p:txBody>
      </p:sp>
      <p:sp>
        <p:nvSpPr>
          <p:cNvPr id="7" name="Shape 5"/>
          <p:cNvSpPr/>
          <p:nvPr/>
        </p:nvSpPr>
        <p:spPr>
          <a:xfrm>
            <a:off x="457200" y="1920240"/>
            <a:ext cx="3383280" cy="502920"/>
          </a:xfrm>
          <a:prstGeom prst="roundRect">
            <a:avLst>
              <a:gd name="adj" fmla="val 10909"/>
            </a:avLst>
          </a:prstGeom>
          <a:solidFill>
            <a:srgbClr val="132347"/>
          </a:solidFill>
          <a:ln w="12700">
            <a:solidFill>
              <a:srgbClr val="0E7C86"/>
            </a:solidFill>
            <a:prstDash val="solid"/>
          </a:ln>
        </p:spPr>
        <p:txBody>
          <a:bodyPr/>
          <a:lstStyle/>
          <a:p>
            <a:endParaRPr lang="en-IN"/>
          </a:p>
        </p:txBody>
      </p:sp>
      <p:sp>
        <p:nvSpPr>
          <p:cNvPr id="8" name="Text 6"/>
          <p:cNvSpPr/>
          <p:nvPr/>
        </p:nvSpPr>
        <p:spPr>
          <a:xfrm>
            <a:off x="548640" y="1920240"/>
            <a:ext cx="32004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PRODUCT ID 6744434</a:t>
            </a:r>
            <a:endParaRPr lang="en-US" sz="1200" dirty="0"/>
          </a:p>
        </p:txBody>
      </p:sp>
      <p:sp>
        <p:nvSpPr>
          <p:cNvPr id="9" name="Shape 7"/>
          <p:cNvSpPr/>
          <p:nvPr/>
        </p:nvSpPr>
        <p:spPr>
          <a:xfrm>
            <a:off x="2066544" y="2447849"/>
            <a:ext cx="164592" cy="115214"/>
          </a:xfrm>
          <a:prstGeom prst="downArrow">
            <a:avLst/>
          </a:prstGeom>
          <a:solidFill>
            <a:srgbClr val="0E7C86"/>
          </a:solidFill>
          <a:ln/>
        </p:spPr>
        <p:txBody>
          <a:bodyPr/>
          <a:lstStyle/>
          <a:p>
            <a:endParaRPr lang="en-IN"/>
          </a:p>
        </p:txBody>
      </p:sp>
      <p:sp>
        <p:nvSpPr>
          <p:cNvPr id="10" name="Shape 8"/>
          <p:cNvSpPr/>
          <p:nvPr/>
        </p:nvSpPr>
        <p:spPr>
          <a:xfrm>
            <a:off x="457200" y="2587752"/>
            <a:ext cx="3383280" cy="502920"/>
          </a:xfrm>
          <a:prstGeom prst="roundRect">
            <a:avLst>
              <a:gd name="adj" fmla="val 10909"/>
            </a:avLst>
          </a:prstGeom>
          <a:solidFill>
            <a:srgbClr val="E5F3F2"/>
          </a:solidFill>
          <a:ln w="12700">
            <a:solidFill>
              <a:srgbClr val="0E7C86"/>
            </a:solidFill>
            <a:prstDash val="solid"/>
          </a:ln>
        </p:spPr>
        <p:txBody>
          <a:bodyPr/>
          <a:lstStyle/>
          <a:p>
            <a:endParaRPr lang="en-IN"/>
          </a:p>
        </p:txBody>
      </p:sp>
      <p:sp>
        <p:nvSpPr>
          <p:cNvPr id="11" name="Text 9"/>
          <p:cNvSpPr/>
          <p:nvPr/>
        </p:nvSpPr>
        <p:spPr>
          <a:xfrm>
            <a:off x="548640" y="2587752"/>
            <a:ext cx="3200400" cy="502920"/>
          </a:xfrm>
          <a:prstGeom prst="rect">
            <a:avLst/>
          </a:prstGeom>
          <a:noFill/>
          <a:ln/>
        </p:spPr>
        <p:txBody>
          <a:bodyPr wrap="square" lIns="0" tIns="0" rIns="0" bIns="0" rtlCol="0" anchor="ctr"/>
          <a:lstStyle/>
          <a:p>
            <a:pPr marL="0" indent="0" algn="ctr">
              <a:buNone/>
            </a:pPr>
            <a:r>
              <a:rPr lang="en-US" sz="1200" b="1" dirty="0">
                <a:solidFill>
                  <a:srgbClr val="132347"/>
                </a:solidFill>
                <a:latin typeface="Calibri" pitchFamily="34" charset="0"/>
                <a:ea typeface="Calibri" pitchFamily="34" charset="-122"/>
                <a:cs typeface="Calibri" pitchFamily="34" charset="-120"/>
              </a:rPr>
              <a:t>MATCH → Row 7</a:t>
            </a:r>
            <a:endParaRPr lang="en-US" sz="1200" dirty="0"/>
          </a:p>
        </p:txBody>
      </p:sp>
      <p:sp>
        <p:nvSpPr>
          <p:cNvPr id="12" name="Shape 10"/>
          <p:cNvSpPr/>
          <p:nvPr/>
        </p:nvSpPr>
        <p:spPr>
          <a:xfrm>
            <a:off x="2066544" y="3115361"/>
            <a:ext cx="164592" cy="115214"/>
          </a:xfrm>
          <a:prstGeom prst="downArrow">
            <a:avLst/>
          </a:prstGeom>
          <a:solidFill>
            <a:srgbClr val="0E7C86"/>
          </a:solidFill>
          <a:ln/>
        </p:spPr>
        <p:txBody>
          <a:bodyPr/>
          <a:lstStyle/>
          <a:p>
            <a:endParaRPr lang="en-IN"/>
          </a:p>
        </p:txBody>
      </p:sp>
      <p:sp>
        <p:nvSpPr>
          <p:cNvPr id="13" name="Shape 11"/>
          <p:cNvSpPr/>
          <p:nvPr/>
        </p:nvSpPr>
        <p:spPr>
          <a:xfrm>
            <a:off x="457200" y="3255264"/>
            <a:ext cx="3383280" cy="502920"/>
          </a:xfrm>
          <a:prstGeom prst="roundRect">
            <a:avLst>
              <a:gd name="adj" fmla="val 10909"/>
            </a:avLst>
          </a:prstGeom>
          <a:solidFill>
            <a:srgbClr val="0E7C86"/>
          </a:solidFill>
          <a:ln w="12700">
            <a:solidFill>
              <a:srgbClr val="0E7C86"/>
            </a:solidFill>
            <a:prstDash val="solid"/>
          </a:ln>
        </p:spPr>
        <p:txBody>
          <a:bodyPr/>
          <a:lstStyle/>
          <a:p>
            <a:endParaRPr lang="en-IN"/>
          </a:p>
        </p:txBody>
      </p:sp>
      <p:sp>
        <p:nvSpPr>
          <p:cNvPr id="14" name="Text 12"/>
          <p:cNvSpPr/>
          <p:nvPr/>
        </p:nvSpPr>
        <p:spPr>
          <a:xfrm>
            <a:off x="548640" y="3255264"/>
            <a:ext cx="32004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INDEX → DiscountPrice</a:t>
            </a:r>
            <a:endParaRPr lang="en-US" sz="1200" dirty="0"/>
          </a:p>
        </p:txBody>
      </p:sp>
      <p:sp>
        <p:nvSpPr>
          <p:cNvPr id="15" name="Shape 13"/>
          <p:cNvSpPr/>
          <p:nvPr/>
        </p:nvSpPr>
        <p:spPr>
          <a:xfrm>
            <a:off x="4297680" y="1920240"/>
            <a:ext cx="3291840" cy="2011680"/>
          </a:xfrm>
          <a:prstGeom prst="roundRect">
            <a:avLst>
              <a:gd name="adj" fmla="val 4545"/>
            </a:avLst>
          </a:prstGeom>
          <a:solidFill>
            <a:srgbClr val="132347"/>
          </a:solidFill>
          <a:ln/>
          <a:effectLst>
            <a:outerShdw blurRad="76200" dist="38100" dir="5400000" algn="bl" rotWithShape="0">
              <a:srgbClr val="1B2233">
                <a:alpha val="25000"/>
              </a:srgbClr>
            </a:outerShdw>
          </a:effectLst>
        </p:spPr>
        <p:txBody>
          <a:bodyPr/>
          <a:lstStyle/>
          <a:p>
            <a:endParaRPr lang="en-IN"/>
          </a:p>
        </p:txBody>
      </p:sp>
      <p:sp>
        <p:nvSpPr>
          <p:cNvPr id="16" name="Text 14"/>
          <p:cNvSpPr/>
          <p:nvPr/>
        </p:nvSpPr>
        <p:spPr>
          <a:xfrm>
            <a:off x="4526280" y="2084832"/>
            <a:ext cx="2834640" cy="274320"/>
          </a:xfrm>
          <a:prstGeom prst="rect">
            <a:avLst/>
          </a:prstGeom>
          <a:noFill/>
          <a:ln/>
        </p:spPr>
        <p:txBody>
          <a:bodyPr wrap="square" lIns="0" tIns="0" rIns="0" bIns="0" rtlCol="0" anchor="ctr"/>
          <a:lstStyle/>
          <a:p>
            <a:pPr marL="0" indent="0" algn="l">
              <a:buNone/>
            </a:pPr>
            <a:r>
              <a:rPr lang="en-US" sz="1100" b="1" kern="0" spc="100" dirty="0">
                <a:solidFill>
                  <a:srgbClr val="17A398"/>
                </a:solidFill>
                <a:latin typeface="Calibri" pitchFamily="34" charset="0"/>
                <a:ea typeface="Calibri" pitchFamily="34" charset="-122"/>
                <a:cs typeface="Calibri" pitchFamily="34" charset="-120"/>
              </a:rPr>
              <a:t>DISCOUNTPRICE</a:t>
            </a:r>
            <a:endParaRPr lang="en-US" sz="1100" dirty="0"/>
          </a:p>
        </p:txBody>
      </p:sp>
      <p:sp>
        <p:nvSpPr>
          <p:cNvPr id="17" name="Text 15"/>
          <p:cNvSpPr/>
          <p:nvPr/>
        </p:nvSpPr>
        <p:spPr>
          <a:xfrm>
            <a:off x="4526280" y="2304288"/>
            <a:ext cx="2834640" cy="132588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₹599</a:t>
            </a:r>
            <a:endParaRPr lang="en-US" sz="3400" dirty="0"/>
          </a:p>
        </p:txBody>
      </p:sp>
      <p:sp>
        <p:nvSpPr>
          <p:cNvPr id="18" name="Text 16"/>
          <p:cNvSpPr/>
          <p:nvPr/>
        </p:nvSpPr>
        <p:spPr>
          <a:xfrm>
            <a:off x="4526280" y="3602736"/>
            <a:ext cx="2834640" cy="274320"/>
          </a:xfrm>
          <a:prstGeom prst="rect">
            <a:avLst/>
          </a:prstGeom>
          <a:noFill/>
          <a:ln/>
        </p:spPr>
        <p:txBody>
          <a:bodyPr wrap="square" lIns="0" tIns="0" rIns="0" bIns="0" rtlCol="0" anchor="ctr"/>
          <a:lstStyle/>
          <a:p>
            <a:pPr marL="0" indent="0" algn="l">
              <a:buNone/>
            </a:pPr>
            <a:r>
              <a:rPr lang="en-US" sz="1050" dirty="0">
                <a:solidFill>
                  <a:srgbClr val="C9D6E3"/>
                </a:solidFill>
                <a:latin typeface="Calibri" pitchFamily="34" charset="0"/>
                <a:ea typeface="Calibri" pitchFamily="34" charset="-122"/>
                <a:cs typeface="Calibri" pitchFamily="34" charset="-120"/>
              </a:rPr>
              <a:t>HIGHLANDER — Bottom Wear, trousers</a:t>
            </a:r>
            <a:endParaRPr lang="en-US" sz="1050" dirty="0"/>
          </a:p>
        </p:txBody>
      </p:sp>
      <p:sp>
        <p:nvSpPr>
          <p:cNvPr id="19" name="Shape 17"/>
          <p:cNvSpPr/>
          <p:nvPr/>
        </p:nvSpPr>
        <p:spPr>
          <a:xfrm>
            <a:off x="7909560" y="1920240"/>
            <a:ext cx="3364992" cy="2011680"/>
          </a:xfrm>
          <a:prstGeom prst="roundRect">
            <a:avLst>
              <a:gd name="adj" fmla="val 3636"/>
            </a:avLst>
          </a:prstGeom>
          <a:solidFill>
            <a:srgbClr val="F5F7F9"/>
          </a:solidFill>
          <a:ln w="12700">
            <a:solidFill>
              <a:srgbClr val="DCE2E8"/>
            </a:solidFill>
            <a:prstDash val="solid"/>
          </a:ln>
        </p:spPr>
        <p:txBody>
          <a:bodyPr/>
          <a:lstStyle/>
          <a:p>
            <a:endParaRPr lang="en-IN"/>
          </a:p>
        </p:txBody>
      </p:sp>
      <p:sp>
        <p:nvSpPr>
          <p:cNvPr id="20" name="Text 18"/>
          <p:cNvSpPr/>
          <p:nvPr/>
        </p:nvSpPr>
        <p:spPr>
          <a:xfrm>
            <a:off x="8138160" y="2057400"/>
            <a:ext cx="3017520" cy="1737360"/>
          </a:xfrm>
          <a:prstGeom prst="rect">
            <a:avLst/>
          </a:prstGeom>
          <a:noFill/>
          <a:ln/>
        </p:spPr>
        <p:txBody>
          <a:bodyPr wrap="square" lIns="0" tIns="0" rIns="0" bIns="0" rtlCol="0" anchor="ctr"/>
          <a:lstStyle/>
          <a:p>
            <a:pPr marL="0" indent="0">
              <a:lnSpc>
                <a:spcPct val="140000"/>
              </a:lnSpc>
              <a:buNone/>
            </a:pPr>
            <a:r>
              <a:rPr lang="en-US" sz="1200" dirty="0">
                <a:solidFill>
                  <a:srgbClr val="6B7484"/>
                </a:solidFill>
                <a:latin typeface="Calibri" pitchFamily="34" charset="0"/>
                <a:ea typeface="Calibri" pitchFamily="34" charset="-122"/>
                <a:cs typeface="Calibri" pitchFamily="34" charset="-120"/>
              </a:rPr>
              <a:t>Brand:  </a:t>
            </a:r>
            <a:r>
              <a:rPr lang="en-US" sz="1200" b="1" dirty="0">
                <a:solidFill>
                  <a:srgbClr val="132347"/>
                </a:solidFill>
                <a:latin typeface="Calibri" pitchFamily="34" charset="0"/>
                <a:ea typeface="Calibri" pitchFamily="34" charset="-122"/>
                <a:cs typeface="Calibri" pitchFamily="34" charset="-120"/>
              </a:rPr>
              <a:t>HIGHLANDER
</a:t>
            </a:r>
            <a:r>
              <a:rPr lang="en-US" sz="1200" dirty="0">
                <a:solidFill>
                  <a:srgbClr val="6B7484"/>
                </a:solidFill>
                <a:latin typeface="Calibri" pitchFamily="34" charset="0"/>
                <a:ea typeface="Calibri" pitchFamily="34" charset="-122"/>
                <a:cs typeface="Calibri" pitchFamily="34" charset="-120"/>
              </a:rPr>
              <a:t>Category:  </a:t>
            </a:r>
            <a:r>
              <a:rPr lang="en-US" sz="1200" b="1" dirty="0">
                <a:solidFill>
                  <a:srgbClr val="132347"/>
                </a:solidFill>
                <a:latin typeface="Calibri" pitchFamily="34" charset="0"/>
                <a:ea typeface="Calibri" pitchFamily="34" charset="-122"/>
                <a:cs typeface="Calibri" pitchFamily="34" charset="-120"/>
              </a:rPr>
              <a:t>Bottom Wear
</a:t>
            </a:r>
            <a:r>
              <a:rPr lang="en-US" sz="1200" dirty="0">
                <a:solidFill>
                  <a:srgbClr val="6B7484"/>
                </a:solidFill>
                <a:latin typeface="Calibri" pitchFamily="34" charset="0"/>
                <a:ea typeface="Calibri" pitchFamily="34" charset="-122"/>
                <a:cs typeface="Calibri" pitchFamily="34" charset="-120"/>
              </a:rPr>
              <a:t>Original Price:  </a:t>
            </a:r>
            <a:r>
              <a:rPr lang="en-US" sz="1200" b="1" dirty="0">
                <a:solidFill>
                  <a:srgbClr val="132347"/>
                </a:solidFill>
                <a:latin typeface="Calibri" pitchFamily="34" charset="0"/>
                <a:ea typeface="Calibri" pitchFamily="34" charset="-122"/>
                <a:cs typeface="Calibri" pitchFamily="34" charset="-120"/>
              </a:rPr>
              <a:t>₹1,499
</a:t>
            </a:r>
            <a:r>
              <a:rPr lang="en-US" sz="1200" dirty="0">
                <a:solidFill>
                  <a:srgbClr val="6B7484"/>
                </a:solidFill>
                <a:latin typeface="Calibri" pitchFamily="34" charset="0"/>
                <a:ea typeface="Calibri" pitchFamily="34" charset="-122"/>
                <a:cs typeface="Calibri" pitchFamily="34" charset="-120"/>
              </a:rPr>
              <a:t>Rating:  </a:t>
            </a:r>
            <a:r>
              <a:rPr lang="en-US" sz="1200" b="1" dirty="0">
                <a:solidFill>
                  <a:srgbClr val="132347"/>
                </a:solidFill>
                <a:latin typeface="Calibri" pitchFamily="34" charset="0"/>
                <a:ea typeface="Calibri" pitchFamily="34" charset="-122"/>
                <a:cs typeface="Calibri" pitchFamily="34" charset="-120"/>
              </a:rPr>
              <a:t>3.9</a:t>
            </a:r>
            <a:endParaRPr lang="en-US" sz="1200" dirty="0"/>
          </a:p>
        </p:txBody>
      </p:sp>
      <p:sp>
        <p:nvSpPr>
          <p:cNvPr id="21" name="Text 19"/>
          <p:cNvSpPr/>
          <p:nvPr/>
        </p:nvSpPr>
        <p:spPr>
          <a:xfrm>
            <a:off x="457200" y="4160520"/>
            <a:ext cx="10817352" cy="822960"/>
          </a:xfrm>
          <a:prstGeom prst="rect">
            <a:avLst/>
          </a:prstGeom>
          <a:noFill/>
          <a:ln/>
        </p:spPr>
        <p:txBody>
          <a:bodyPr wrap="square" lIns="0" tIns="0" rIns="0" bIns="0" rtlCol="0" anchor="t"/>
          <a:lstStyle/>
          <a:p>
            <a:pPr marL="0" indent="0" algn="l">
              <a:lnSpc>
                <a:spcPct val="115000"/>
              </a:lnSpc>
              <a:buNone/>
            </a:pPr>
            <a:r>
              <a:rPr lang="en-US" sz="1250" dirty="0">
                <a:solidFill>
                  <a:srgbClr val="1B2233"/>
                </a:solidFill>
                <a:latin typeface="Calibri" pitchFamily="34" charset="0"/>
                <a:ea typeface="Calibri" pitchFamily="34" charset="-122"/>
                <a:cs typeface="Calibri" pitchFamily="34" charset="-120"/>
              </a:rPr>
              <a:t>MATCH locates the exact row where Product_id equals 6744434 (row 7 of the data range, out of 526,564); INDEX then returns the value from the DiscountPrice column at that same row — avoiding VLOOKUP's left-to-right column limitation.</a:t>
            </a:r>
            <a:endParaRPr lang="en-US" sz="1250" dirty="0"/>
          </a:p>
        </p:txBody>
      </p:sp>
      <p:sp>
        <p:nvSpPr>
          <p:cNvPr id="22" name="Shape 20"/>
          <p:cNvSpPr/>
          <p:nvPr/>
        </p:nvSpPr>
        <p:spPr>
          <a:xfrm>
            <a:off x="457200" y="5120640"/>
            <a:ext cx="10817352" cy="1051560"/>
          </a:xfrm>
          <a:prstGeom prst="roundRect">
            <a:avLst>
              <a:gd name="adj" fmla="val 6957"/>
            </a:avLst>
          </a:prstGeom>
          <a:solidFill>
            <a:srgbClr val="F5F7F9"/>
          </a:solidFill>
          <a:ln w="12700">
            <a:solidFill>
              <a:srgbClr val="DCE2E8"/>
            </a:solidFill>
            <a:prstDash val="solid"/>
          </a:ln>
        </p:spPr>
        <p:txBody>
          <a:bodyPr/>
          <a:lstStyle/>
          <a:p>
            <a:endParaRPr lang="en-IN"/>
          </a:p>
        </p:txBody>
      </p:sp>
      <p:sp>
        <p:nvSpPr>
          <p:cNvPr id="23" name="Text 21"/>
          <p:cNvSpPr/>
          <p:nvPr/>
        </p:nvSpPr>
        <p:spPr>
          <a:xfrm>
            <a:off x="640080" y="5212080"/>
            <a:ext cx="10451592" cy="219456"/>
          </a:xfrm>
          <a:prstGeom prst="rect">
            <a:avLst/>
          </a:prstGeom>
          <a:noFill/>
          <a:ln/>
        </p:spPr>
        <p:txBody>
          <a:bodyPr wrap="square" lIns="0" tIns="0" rIns="0" bIns="0" rtlCol="0" anchor="ctr"/>
          <a:lstStyle/>
          <a:p>
            <a:pPr marL="0" indent="0">
              <a:buNone/>
            </a:pPr>
            <a:r>
              <a:rPr lang="en-US" sz="900" b="1" kern="0" spc="10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24" name="Text 22"/>
          <p:cNvSpPr/>
          <p:nvPr/>
        </p:nvSpPr>
        <p:spPr>
          <a:xfrm>
            <a:off x="640080" y="5413248"/>
            <a:ext cx="10451592" cy="429768"/>
          </a:xfrm>
          <a:prstGeom prst="rect">
            <a:avLst/>
          </a:prstGeom>
          <a:noFill/>
          <a:ln/>
        </p:spPr>
        <p:txBody>
          <a:bodyPr wrap="square" lIns="0" tIns="0" rIns="0" bIns="0" rtlCol="0" anchor="t">
            <a:normAutofit/>
          </a:bodyPr>
          <a:lstStyle/>
          <a:p>
            <a:pPr marL="0" indent="0">
              <a:buNone/>
            </a:pPr>
            <a:r>
              <a:rPr lang="en-US" sz="1250" dirty="0">
                <a:solidFill>
                  <a:srgbClr val="132347"/>
                </a:solidFill>
                <a:latin typeface="Courier New" pitchFamily="34" charset="0"/>
                <a:ea typeface="Courier New" pitchFamily="34" charset="-122"/>
                <a:cs typeface="Courier New" pitchFamily="34" charset="-120"/>
              </a:rPr>
              <a:t>=INDEX($H$2:$H$526565, MATCH(6744434, $B$2:$B$526565, 0))   →   Result: 599</a:t>
            </a:r>
            <a:endParaRPr lang="en-US" sz="1250" dirty="0"/>
          </a:p>
        </p:txBody>
      </p:sp>
      <p:sp>
        <p:nvSpPr>
          <p:cNvPr id="25" name="Text 23"/>
          <p:cNvSpPr/>
          <p:nvPr/>
        </p:nvSpPr>
        <p:spPr>
          <a:xfrm>
            <a:off x="640080" y="5861304"/>
            <a:ext cx="10451592" cy="256032"/>
          </a:xfrm>
          <a:prstGeom prst="rect">
            <a:avLst/>
          </a:prstGeom>
          <a:noFill/>
          <a:ln/>
        </p:spPr>
        <p:txBody>
          <a:bodyPr wrap="square" lIns="0" tIns="0" rIns="0" bIns="0" rtlCol="0" anchor="ctr"/>
          <a:lstStyle/>
          <a:p>
            <a:pPr marL="0" indent="0">
              <a:buNone/>
            </a:pPr>
            <a:r>
              <a:rPr lang="en-US" sz="950" i="1" dirty="0">
                <a:solidFill>
                  <a:srgbClr val="6B7484"/>
                </a:solidFill>
                <a:latin typeface="Calibri" pitchFamily="34" charset="0"/>
                <a:ea typeface="Calibri" pitchFamily="34" charset="-122"/>
                <a:cs typeface="Calibri" pitchFamily="34" charset="-120"/>
              </a:rPr>
              <a:t>B = Product_id, H = Discount Price (in Rs). MATCH returns the relative row number; INDEX returns the value at that row in column H.</a:t>
            </a:r>
            <a:endParaRPr lang="en-US" sz="950" dirty="0"/>
          </a:p>
        </p:txBody>
      </p:sp>
      <p:sp>
        <p:nvSpPr>
          <p:cNvPr id="26" name="Text 24"/>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7484"/>
                </a:solidFill>
                <a:latin typeface="Calibri" pitchFamily="34" charset="0"/>
                <a:ea typeface="Calibri" pitchFamily="34" charset="-122"/>
                <a:cs typeface="Calibri" pitchFamily="34" charset="-120"/>
              </a:rPr>
              <a:t>Lookup &amp; Retrieval — Q10</a:t>
            </a:r>
            <a:endParaRPr lang="en-US" sz="900" dirty="0"/>
          </a:p>
        </p:txBody>
      </p:sp>
      <p:sp>
        <p:nvSpPr>
          <p:cNvPr id="27" name="Text 25"/>
          <p:cNvSpPr/>
          <p:nvPr/>
        </p:nvSpPr>
        <p:spPr>
          <a:xfrm>
            <a:off x="11000232" y="6473952"/>
            <a:ext cx="822960" cy="274320"/>
          </a:xfrm>
          <a:prstGeom prst="rect">
            <a:avLst/>
          </a:prstGeom>
          <a:noFill/>
          <a:ln/>
        </p:spPr>
        <p:txBody>
          <a:bodyPr wrap="square" rtlCol="0" anchor="ctr"/>
          <a:lstStyle/>
          <a:p>
            <a:pPr marL="0" indent="0" algn="r">
              <a:buNone/>
            </a:pPr>
            <a:r>
              <a:rPr lang="en-US" sz="900" dirty="0">
                <a:solidFill>
                  <a:srgbClr val="6B7484"/>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txBody>
          <a:bodyPr/>
          <a:lstStyle/>
          <a:p>
            <a:endParaRPr lang="en-IN"/>
          </a:p>
        </p:txBody>
      </p:sp>
      <p:sp>
        <p:nvSpPr>
          <p:cNvPr id="3" name="Text 1"/>
          <p:cNvSpPr/>
          <p:nvPr/>
        </p:nvSpPr>
        <p:spPr>
          <a:xfrm>
            <a:off x="457200" y="384048"/>
            <a:ext cx="8686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 · Q11</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marL="0" indent="0" algn="l">
              <a:buNone/>
            </a:pPr>
            <a:r>
              <a:rPr lang="en-US" sz="2200" b="1" dirty="0">
                <a:solidFill>
                  <a:srgbClr val="132347"/>
                </a:solidFill>
                <a:latin typeface="Cambria" pitchFamily="34" charset="0"/>
                <a:ea typeface="Cambria" pitchFamily="34" charset="-122"/>
                <a:cs typeface="Cambria" pitchFamily="34" charset="-120"/>
              </a:rPr>
              <a:t>Nested XLOOKUP — Any Column by Product ID</a:t>
            </a:r>
            <a:endParaRPr lang="en-US" sz="2200" dirty="0"/>
          </a:p>
        </p:txBody>
      </p:sp>
      <p:sp>
        <p:nvSpPr>
          <p:cNvPr id="5" name="Shape 3"/>
          <p:cNvSpPr/>
          <p:nvPr/>
        </p:nvSpPr>
        <p:spPr>
          <a:xfrm>
            <a:off x="457200" y="1051560"/>
            <a:ext cx="10817352" cy="658368"/>
          </a:xfrm>
          <a:prstGeom prst="roundRect">
            <a:avLst>
              <a:gd name="adj" fmla="val 8333"/>
            </a:avLst>
          </a:prstGeom>
          <a:solidFill>
            <a:srgbClr val="E5F3F2"/>
          </a:solidFill>
          <a:ln/>
        </p:spPr>
        <p:txBody>
          <a:bodyPr/>
          <a:lstStyle/>
          <a:p>
            <a:endParaRPr lang="en-IN"/>
          </a:p>
        </p:txBody>
      </p:sp>
      <p:sp>
        <p:nvSpPr>
          <p:cNvPr id="6" name="Text 4"/>
          <p:cNvSpPr/>
          <p:nvPr/>
        </p:nvSpPr>
        <p:spPr>
          <a:xfrm>
            <a:off x="640080" y="1051560"/>
            <a:ext cx="10424160" cy="658368"/>
          </a:xfrm>
          <a:prstGeom prst="rect">
            <a:avLst/>
          </a:prstGeom>
          <a:noFill/>
          <a:ln/>
        </p:spPr>
        <p:txBody>
          <a:bodyPr wrap="square" lIns="0" tIns="0" rIns="0" bIns="0" rtlCol="0" anchor="ctr"/>
          <a:lstStyle/>
          <a:p>
            <a:pPr marL="0" indent="0">
              <a:buNone/>
            </a:pPr>
            <a:r>
              <a:rPr lang="en-US" sz="1300" i="1" dirty="0">
                <a:solidFill>
                  <a:srgbClr val="132347"/>
                </a:solidFill>
                <a:latin typeface="Calibri" pitchFamily="34" charset="0"/>
                <a:ea typeface="Calibri" pitchFamily="34" charset="-122"/>
                <a:cs typeface="Calibri" pitchFamily="34" charset="-120"/>
              </a:rPr>
              <a:t>"Utilize nested XLOOKUP to find any column’s detail of a product with its product id."</a:t>
            </a:r>
            <a:endParaRPr lang="en-US" sz="1300" dirty="0"/>
          </a:p>
        </p:txBody>
      </p:sp>
      <p:sp>
        <p:nvSpPr>
          <p:cNvPr id="7" name="Text 5"/>
          <p:cNvSpPr/>
          <p:nvPr/>
        </p:nvSpPr>
        <p:spPr>
          <a:xfrm>
            <a:off x="457200" y="1810512"/>
            <a:ext cx="10817352" cy="292608"/>
          </a:xfrm>
          <a:prstGeom prst="rect">
            <a:avLst/>
          </a:prstGeom>
          <a:noFill/>
          <a:ln/>
        </p:spPr>
        <p:txBody>
          <a:bodyPr wrap="square" lIns="0" tIns="0" rIns="0" bIns="0" rtlCol="0" anchor="ctr"/>
          <a:lstStyle/>
          <a:p>
            <a:pPr marL="0" indent="0">
              <a:buNone/>
            </a:pPr>
            <a:r>
              <a:rPr lang="en-US" sz="1050" i="1" dirty="0">
                <a:solidFill>
                  <a:srgbClr val="6B7484"/>
                </a:solidFill>
                <a:latin typeface="Calibri" pitchFamily="34" charset="0"/>
                <a:ea typeface="Calibri" pitchFamily="34" charset="-122"/>
                <a:cs typeface="Calibri" pitchFamily="34" charset="-120"/>
              </a:rPr>
              <a:t>Demonstration uses Product ID 11226634 — the same product looked up in Q9.</a:t>
            </a:r>
            <a:endParaRPr lang="en-US" sz="1050" dirty="0"/>
          </a:p>
        </p:txBody>
      </p:sp>
      <p:sp>
        <p:nvSpPr>
          <p:cNvPr id="8" name="Shape 6"/>
          <p:cNvSpPr/>
          <p:nvPr/>
        </p:nvSpPr>
        <p:spPr>
          <a:xfrm>
            <a:off x="457200" y="2240280"/>
            <a:ext cx="3566160" cy="502920"/>
          </a:xfrm>
          <a:prstGeom prst="roundRect">
            <a:avLst>
              <a:gd name="adj" fmla="val 10909"/>
            </a:avLst>
          </a:prstGeom>
          <a:solidFill>
            <a:srgbClr val="132347"/>
          </a:solidFill>
          <a:ln w="12700">
            <a:solidFill>
              <a:srgbClr val="0E7C86"/>
            </a:solidFill>
            <a:prstDash val="solid"/>
          </a:ln>
        </p:spPr>
        <p:txBody>
          <a:bodyPr/>
          <a:lstStyle/>
          <a:p>
            <a:endParaRPr lang="en-IN"/>
          </a:p>
        </p:txBody>
      </p:sp>
      <p:sp>
        <p:nvSpPr>
          <p:cNvPr id="9" name="Text 7"/>
          <p:cNvSpPr/>
          <p:nvPr/>
        </p:nvSpPr>
        <p:spPr>
          <a:xfrm>
            <a:off x="548640" y="2240280"/>
            <a:ext cx="33832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PRODUCT ID 11226634</a:t>
            </a:r>
            <a:endParaRPr lang="en-US" sz="1200" dirty="0"/>
          </a:p>
        </p:txBody>
      </p:sp>
      <p:sp>
        <p:nvSpPr>
          <p:cNvPr id="10" name="Shape 8"/>
          <p:cNvSpPr/>
          <p:nvPr/>
        </p:nvSpPr>
        <p:spPr>
          <a:xfrm>
            <a:off x="2157984" y="2767889"/>
            <a:ext cx="164592" cy="115214"/>
          </a:xfrm>
          <a:prstGeom prst="downArrow">
            <a:avLst/>
          </a:prstGeom>
          <a:solidFill>
            <a:srgbClr val="0E7C86"/>
          </a:solidFill>
          <a:ln/>
        </p:spPr>
        <p:txBody>
          <a:bodyPr/>
          <a:lstStyle/>
          <a:p>
            <a:endParaRPr lang="en-IN"/>
          </a:p>
        </p:txBody>
      </p:sp>
      <p:sp>
        <p:nvSpPr>
          <p:cNvPr id="11" name="Shape 9"/>
          <p:cNvSpPr/>
          <p:nvPr/>
        </p:nvSpPr>
        <p:spPr>
          <a:xfrm>
            <a:off x="457200" y="2907792"/>
            <a:ext cx="3566160" cy="502920"/>
          </a:xfrm>
          <a:prstGeom prst="roundRect">
            <a:avLst>
              <a:gd name="adj" fmla="val 10909"/>
            </a:avLst>
          </a:prstGeom>
          <a:solidFill>
            <a:srgbClr val="E5F3F2"/>
          </a:solidFill>
          <a:ln w="12700">
            <a:solidFill>
              <a:srgbClr val="0E7C86"/>
            </a:solidFill>
            <a:prstDash val="solid"/>
          </a:ln>
        </p:spPr>
        <p:txBody>
          <a:bodyPr/>
          <a:lstStyle/>
          <a:p>
            <a:endParaRPr lang="en-IN"/>
          </a:p>
        </p:txBody>
      </p:sp>
      <p:sp>
        <p:nvSpPr>
          <p:cNvPr id="12" name="Text 10"/>
          <p:cNvSpPr/>
          <p:nvPr/>
        </p:nvSpPr>
        <p:spPr>
          <a:xfrm>
            <a:off x="548640" y="2907792"/>
            <a:ext cx="3383280" cy="502920"/>
          </a:xfrm>
          <a:prstGeom prst="rect">
            <a:avLst/>
          </a:prstGeom>
          <a:noFill/>
          <a:ln/>
        </p:spPr>
        <p:txBody>
          <a:bodyPr wrap="square" lIns="0" tIns="0" rIns="0" bIns="0" rtlCol="0" anchor="ctr"/>
          <a:lstStyle/>
          <a:p>
            <a:pPr marL="0" indent="0" algn="ctr">
              <a:buNone/>
            </a:pPr>
            <a:r>
              <a:rPr lang="en-US" sz="1150" b="1" dirty="0">
                <a:solidFill>
                  <a:srgbClr val="132347"/>
                </a:solidFill>
                <a:latin typeface="Calibri" pitchFamily="34" charset="0"/>
                <a:ea typeface="Calibri" pitchFamily="34" charset="-122"/>
                <a:cs typeface="Calibri" pitchFamily="34" charset="-120"/>
              </a:rPr>
              <a:t>OUTER XLOOKUP → Row</a:t>
            </a:r>
            <a:endParaRPr lang="en-US" sz="1150" dirty="0"/>
          </a:p>
        </p:txBody>
      </p:sp>
      <p:sp>
        <p:nvSpPr>
          <p:cNvPr id="13" name="Shape 11"/>
          <p:cNvSpPr/>
          <p:nvPr/>
        </p:nvSpPr>
        <p:spPr>
          <a:xfrm>
            <a:off x="2157984" y="3435401"/>
            <a:ext cx="164592" cy="115214"/>
          </a:xfrm>
          <a:prstGeom prst="downArrow">
            <a:avLst/>
          </a:prstGeom>
          <a:solidFill>
            <a:srgbClr val="0E7C86"/>
          </a:solidFill>
          <a:ln/>
        </p:spPr>
        <p:txBody>
          <a:bodyPr/>
          <a:lstStyle/>
          <a:p>
            <a:endParaRPr lang="en-IN"/>
          </a:p>
        </p:txBody>
      </p:sp>
      <p:sp>
        <p:nvSpPr>
          <p:cNvPr id="14" name="Shape 12"/>
          <p:cNvSpPr/>
          <p:nvPr/>
        </p:nvSpPr>
        <p:spPr>
          <a:xfrm>
            <a:off x="457200" y="3575304"/>
            <a:ext cx="3566160" cy="502920"/>
          </a:xfrm>
          <a:prstGeom prst="roundRect">
            <a:avLst>
              <a:gd name="adj" fmla="val 10909"/>
            </a:avLst>
          </a:prstGeom>
          <a:solidFill>
            <a:srgbClr val="E5F3F2"/>
          </a:solidFill>
          <a:ln w="12700">
            <a:solidFill>
              <a:srgbClr val="0E7C86"/>
            </a:solidFill>
            <a:prstDash val="solid"/>
          </a:ln>
        </p:spPr>
        <p:txBody>
          <a:bodyPr/>
          <a:lstStyle/>
          <a:p>
            <a:endParaRPr lang="en-IN"/>
          </a:p>
        </p:txBody>
      </p:sp>
      <p:sp>
        <p:nvSpPr>
          <p:cNvPr id="15" name="Text 13"/>
          <p:cNvSpPr/>
          <p:nvPr/>
        </p:nvSpPr>
        <p:spPr>
          <a:xfrm>
            <a:off x="548640" y="3575304"/>
            <a:ext cx="3383280" cy="502920"/>
          </a:xfrm>
          <a:prstGeom prst="rect">
            <a:avLst/>
          </a:prstGeom>
          <a:noFill/>
          <a:ln/>
        </p:spPr>
        <p:txBody>
          <a:bodyPr wrap="square" lIns="0" tIns="0" rIns="0" bIns="0" rtlCol="0" anchor="ctr"/>
          <a:lstStyle/>
          <a:p>
            <a:pPr marL="0" indent="0" algn="ctr">
              <a:buNone/>
            </a:pPr>
            <a:r>
              <a:rPr lang="en-US" sz="1150" b="1" dirty="0">
                <a:solidFill>
                  <a:srgbClr val="132347"/>
                </a:solidFill>
                <a:latin typeface="Calibri" pitchFamily="34" charset="0"/>
                <a:ea typeface="Calibri" pitchFamily="34" charset="-122"/>
                <a:cs typeface="Calibri" pitchFamily="34" charset="-120"/>
              </a:rPr>
              <a:t>INNER XLOOKUP → Column</a:t>
            </a:r>
            <a:endParaRPr lang="en-US" sz="1150" dirty="0"/>
          </a:p>
        </p:txBody>
      </p:sp>
      <p:sp>
        <p:nvSpPr>
          <p:cNvPr id="16" name="Shape 14"/>
          <p:cNvSpPr/>
          <p:nvPr/>
        </p:nvSpPr>
        <p:spPr>
          <a:xfrm>
            <a:off x="2157984" y="4102913"/>
            <a:ext cx="164592" cy="115214"/>
          </a:xfrm>
          <a:prstGeom prst="downArrow">
            <a:avLst/>
          </a:prstGeom>
          <a:solidFill>
            <a:srgbClr val="0E7C86"/>
          </a:solidFill>
          <a:ln/>
        </p:spPr>
        <p:txBody>
          <a:bodyPr/>
          <a:lstStyle/>
          <a:p>
            <a:endParaRPr lang="en-IN"/>
          </a:p>
        </p:txBody>
      </p:sp>
      <p:sp>
        <p:nvSpPr>
          <p:cNvPr id="17" name="Shape 15"/>
          <p:cNvSpPr/>
          <p:nvPr/>
        </p:nvSpPr>
        <p:spPr>
          <a:xfrm>
            <a:off x="457200" y="4242816"/>
            <a:ext cx="3566160" cy="502920"/>
          </a:xfrm>
          <a:prstGeom prst="roundRect">
            <a:avLst>
              <a:gd name="adj" fmla="val 10909"/>
            </a:avLst>
          </a:prstGeom>
          <a:solidFill>
            <a:srgbClr val="0E7C86"/>
          </a:solidFill>
          <a:ln w="12700">
            <a:solidFill>
              <a:srgbClr val="0E7C86"/>
            </a:solidFill>
            <a:prstDash val="solid"/>
          </a:ln>
        </p:spPr>
        <p:txBody>
          <a:bodyPr/>
          <a:lstStyle/>
          <a:p>
            <a:endParaRPr lang="en-IN"/>
          </a:p>
        </p:txBody>
      </p:sp>
      <p:sp>
        <p:nvSpPr>
          <p:cNvPr id="18" name="Text 16"/>
          <p:cNvSpPr/>
          <p:nvPr/>
        </p:nvSpPr>
        <p:spPr>
          <a:xfrm>
            <a:off x="548640" y="4242816"/>
            <a:ext cx="33832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RETURN VALUE</a:t>
            </a:r>
            <a:endParaRPr lang="en-US" sz="1200" dirty="0"/>
          </a:p>
        </p:txBody>
      </p:sp>
      <p:sp>
        <p:nvSpPr>
          <p:cNvPr id="19" name="Shape 17"/>
          <p:cNvSpPr/>
          <p:nvPr/>
        </p:nvSpPr>
        <p:spPr>
          <a:xfrm>
            <a:off x="4617720" y="2240280"/>
            <a:ext cx="3200400" cy="685800"/>
          </a:xfrm>
          <a:prstGeom prst="roundRect">
            <a:avLst>
              <a:gd name="adj" fmla="val 8000"/>
            </a:avLst>
          </a:prstGeom>
          <a:solidFill>
            <a:srgbClr val="F5F7F9"/>
          </a:solidFill>
          <a:ln w="12700">
            <a:solidFill>
              <a:srgbClr val="DCE2E8"/>
            </a:solidFill>
            <a:prstDash val="solid"/>
          </a:ln>
        </p:spPr>
        <p:txBody>
          <a:bodyPr/>
          <a:lstStyle/>
          <a:p>
            <a:endParaRPr lang="en-IN"/>
          </a:p>
        </p:txBody>
      </p:sp>
      <p:sp>
        <p:nvSpPr>
          <p:cNvPr id="20" name="Text 18"/>
          <p:cNvSpPr/>
          <p:nvPr/>
        </p:nvSpPr>
        <p:spPr>
          <a:xfrm>
            <a:off x="4800600" y="2295144"/>
            <a:ext cx="2834640" cy="274320"/>
          </a:xfrm>
          <a:prstGeom prst="rect">
            <a:avLst/>
          </a:prstGeom>
          <a:noFill/>
          <a:ln/>
        </p:spPr>
        <p:txBody>
          <a:bodyPr wrap="square" lIns="0" tIns="0" rIns="0" bIns="0" rtlCol="0" anchor="ctr"/>
          <a:lstStyle/>
          <a:p>
            <a:pPr marL="0" indent="0">
              <a:buNone/>
            </a:pPr>
            <a:r>
              <a:rPr lang="en-US" sz="1000" dirty="0">
                <a:solidFill>
                  <a:srgbClr val="6B7484"/>
                </a:solidFill>
                <a:latin typeface="Calibri" pitchFamily="34" charset="0"/>
                <a:ea typeface="Calibri" pitchFamily="34" charset="-122"/>
                <a:cs typeface="Calibri" pitchFamily="34" charset="-120"/>
              </a:rPr>
              <a:t>BrandName</a:t>
            </a:r>
            <a:endParaRPr lang="en-US" sz="1000" dirty="0"/>
          </a:p>
        </p:txBody>
      </p:sp>
      <p:sp>
        <p:nvSpPr>
          <p:cNvPr id="21" name="Text 19"/>
          <p:cNvSpPr/>
          <p:nvPr/>
        </p:nvSpPr>
        <p:spPr>
          <a:xfrm>
            <a:off x="4800600" y="2532888"/>
            <a:ext cx="2834640" cy="347472"/>
          </a:xfrm>
          <a:prstGeom prst="rect">
            <a:avLst/>
          </a:prstGeom>
          <a:noFill/>
          <a:ln/>
        </p:spPr>
        <p:txBody>
          <a:bodyPr wrap="square" lIns="0" tIns="0" rIns="0" bIns="0" rtlCol="0" anchor="ctr"/>
          <a:lstStyle/>
          <a:p>
            <a:pPr marL="0" indent="0">
              <a:buNone/>
            </a:pPr>
            <a:r>
              <a:rPr lang="en-US" sz="1500" b="1" dirty="0">
                <a:solidFill>
                  <a:srgbClr val="132347"/>
                </a:solidFill>
                <a:latin typeface="Cambria" pitchFamily="34" charset="0"/>
                <a:ea typeface="Cambria" pitchFamily="34" charset="-122"/>
                <a:cs typeface="Cambria" pitchFamily="34" charset="-120"/>
              </a:rPr>
              <a:t>Maniac</a:t>
            </a:r>
            <a:endParaRPr lang="en-US" sz="1500" dirty="0"/>
          </a:p>
        </p:txBody>
      </p:sp>
      <p:sp>
        <p:nvSpPr>
          <p:cNvPr id="22" name="Shape 20"/>
          <p:cNvSpPr/>
          <p:nvPr/>
        </p:nvSpPr>
        <p:spPr>
          <a:xfrm>
            <a:off x="8046720" y="2240280"/>
            <a:ext cx="3227832" cy="685800"/>
          </a:xfrm>
          <a:prstGeom prst="roundRect">
            <a:avLst>
              <a:gd name="adj" fmla="val 8000"/>
            </a:avLst>
          </a:prstGeom>
          <a:solidFill>
            <a:srgbClr val="132347"/>
          </a:solidFill>
          <a:ln/>
        </p:spPr>
        <p:txBody>
          <a:bodyPr/>
          <a:lstStyle/>
          <a:p>
            <a:endParaRPr lang="en-IN"/>
          </a:p>
        </p:txBody>
      </p:sp>
      <p:sp>
        <p:nvSpPr>
          <p:cNvPr id="23" name="Text 21"/>
          <p:cNvSpPr/>
          <p:nvPr/>
        </p:nvSpPr>
        <p:spPr>
          <a:xfrm>
            <a:off x="8229600" y="2295144"/>
            <a:ext cx="2926080" cy="274320"/>
          </a:xfrm>
          <a:prstGeom prst="rect">
            <a:avLst/>
          </a:prstGeom>
          <a:noFill/>
          <a:ln/>
        </p:spPr>
        <p:txBody>
          <a:bodyPr wrap="square" lIns="0" tIns="0" rIns="0" bIns="0" rtlCol="0" anchor="ctr"/>
          <a:lstStyle/>
          <a:p>
            <a:pPr marL="0" indent="0">
              <a:buNone/>
            </a:pPr>
            <a:r>
              <a:rPr lang="en-US" sz="950" dirty="0">
                <a:solidFill>
                  <a:srgbClr val="17A398"/>
                </a:solidFill>
                <a:latin typeface="Calibri" pitchFamily="34" charset="0"/>
                <a:ea typeface="Calibri" pitchFamily="34" charset="-122"/>
                <a:cs typeface="Calibri" pitchFamily="34" charset="-120"/>
              </a:rPr>
              <a:t>Column selected</a:t>
            </a:r>
            <a:endParaRPr lang="en-US" sz="950" dirty="0"/>
          </a:p>
        </p:txBody>
      </p:sp>
      <p:sp>
        <p:nvSpPr>
          <p:cNvPr id="24" name="Text 22"/>
          <p:cNvSpPr/>
          <p:nvPr/>
        </p:nvSpPr>
        <p:spPr>
          <a:xfrm>
            <a:off x="8229600" y="2532888"/>
            <a:ext cx="2926080" cy="347472"/>
          </a:xfrm>
          <a:prstGeom prst="rect">
            <a:avLst/>
          </a:prstGeom>
          <a:noFill/>
          <a:ln/>
        </p:spPr>
        <p:txBody>
          <a:bodyPr wrap="square" lIns="0" tIns="0" rIns="0" bIns="0"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"BrandName"</a:t>
            </a:r>
            <a:endParaRPr lang="en-US" sz="1200" dirty="0"/>
          </a:p>
        </p:txBody>
      </p:sp>
      <p:sp>
        <p:nvSpPr>
          <p:cNvPr id="25" name="Shape 23"/>
          <p:cNvSpPr/>
          <p:nvPr/>
        </p:nvSpPr>
        <p:spPr>
          <a:xfrm>
            <a:off x="4617720" y="3108960"/>
            <a:ext cx="3200400" cy="685800"/>
          </a:xfrm>
          <a:prstGeom prst="roundRect">
            <a:avLst>
              <a:gd name="adj" fmla="val 8000"/>
            </a:avLst>
          </a:prstGeom>
          <a:solidFill>
            <a:srgbClr val="F5F7F9"/>
          </a:solidFill>
          <a:ln w="12700">
            <a:solidFill>
              <a:srgbClr val="DCE2E8"/>
            </a:solidFill>
            <a:prstDash val="solid"/>
          </a:ln>
        </p:spPr>
        <p:txBody>
          <a:bodyPr/>
          <a:lstStyle/>
          <a:p>
            <a:endParaRPr lang="en-IN"/>
          </a:p>
        </p:txBody>
      </p:sp>
      <p:sp>
        <p:nvSpPr>
          <p:cNvPr id="26" name="Text 24"/>
          <p:cNvSpPr/>
          <p:nvPr/>
        </p:nvSpPr>
        <p:spPr>
          <a:xfrm>
            <a:off x="4800600" y="3163824"/>
            <a:ext cx="2834640" cy="274320"/>
          </a:xfrm>
          <a:prstGeom prst="rect">
            <a:avLst/>
          </a:prstGeom>
          <a:noFill/>
          <a:ln/>
        </p:spPr>
        <p:txBody>
          <a:bodyPr wrap="square" lIns="0" tIns="0" rIns="0" bIns="0" rtlCol="0" anchor="ctr"/>
          <a:lstStyle/>
          <a:p>
            <a:pPr marL="0" indent="0">
              <a:buNone/>
            </a:pPr>
            <a:r>
              <a:rPr lang="en-US" sz="1000" dirty="0">
                <a:solidFill>
                  <a:srgbClr val="6B7484"/>
                </a:solidFill>
                <a:latin typeface="Calibri" pitchFamily="34" charset="0"/>
                <a:ea typeface="Calibri" pitchFamily="34" charset="-122"/>
                <a:cs typeface="Calibri" pitchFamily="34" charset="-120"/>
              </a:rPr>
              <a:t>Category</a:t>
            </a:r>
            <a:endParaRPr lang="en-US" sz="1000" dirty="0"/>
          </a:p>
        </p:txBody>
      </p:sp>
      <p:sp>
        <p:nvSpPr>
          <p:cNvPr id="27" name="Text 25"/>
          <p:cNvSpPr/>
          <p:nvPr/>
        </p:nvSpPr>
        <p:spPr>
          <a:xfrm>
            <a:off x="4800600" y="3401568"/>
            <a:ext cx="2834640" cy="347472"/>
          </a:xfrm>
          <a:prstGeom prst="rect">
            <a:avLst/>
          </a:prstGeom>
          <a:noFill/>
          <a:ln/>
        </p:spPr>
        <p:txBody>
          <a:bodyPr wrap="square" lIns="0" tIns="0" rIns="0" bIns="0" rtlCol="0" anchor="ctr"/>
          <a:lstStyle/>
          <a:p>
            <a:pPr marL="0" indent="0">
              <a:buNone/>
            </a:pPr>
            <a:r>
              <a:rPr lang="en-US" sz="1500" b="1" dirty="0">
                <a:solidFill>
                  <a:srgbClr val="132347"/>
                </a:solidFill>
                <a:latin typeface="Cambria" pitchFamily="34" charset="0"/>
                <a:ea typeface="Cambria" pitchFamily="34" charset="-122"/>
                <a:cs typeface="Cambria" pitchFamily="34" charset="-120"/>
              </a:rPr>
              <a:t>Sports Wear</a:t>
            </a:r>
            <a:endParaRPr lang="en-US" sz="1500" dirty="0"/>
          </a:p>
        </p:txBody>
      </p:sp>
      <p:sp>
        <p:nvSpPr>
          <p:cNvPr id="28" name="Shape 26"/>
          <p:cNvSpPr/>
          <p:nvPr/>
        </p:nvSpPr>
        <p:spPr>
          <a:xfrm>
            <a:off x="8046720" y="3108960"/>
            <a:ext cx="3227832" cy="685800"/>
          </a:xfrm>
          <a:prstGeom prst="roundRect">
            <a:avLst>
              <a:gd name="adj" fmla="val 8000"/>
            </a:avLst>
          </a:prstGeom>
          <a:solidFill>
            <a:srgbClr val="132347"/>
          </a:solidFill>
          <a:ln/>
        </p:spPr>
        <p:txBody>
          <a:bodyPr/>
          <a:lstStyle/>
          <a:p>
            <a:endParaRPr lang="en-IN"/>
          </a:p>
        </p:txBody>
      </p:sp>
      <p:sp>
        <p:nvSpPr>
          <p:cNvPr id="29" name="Text 27"/>
          <p:cNvSpPr/>
          <p:nvPr/>
        </p:nvSpPr>
        <p:spPr>
          <a:xfrm>
            <a:off x="8229600" y="3163824"/>
            <a:ext cx="2926080" cy="274320"/>
          </a:xfrm>
          <a:prstGeom prst="rect">
            <a:avLst/>
          </a:prstGeom>
          <a:noFill/>
          <a:ln/>
        </p:spPr>
        <p:txBody>
          <a:bodyPr wrap="square" lIns="0" tIns="0" rIns="0" bIns="0" rtlCol="0" anchor="ctr"/>
          <a:lstStyle/>
          <a:p>
            <a:pPr marL="0" indent="0">
              <a:buNone/>
            </a:pPr>
            <a:r>
              <a:rPr lang="en-US" sz="950" dirty="0">
                <a:solidFill>
                  <a:srgbClr val="17A398"/>
                </a:solidFill>
                <a:latin typeface="Calibri" pitchFamily="34" charset="0"/>
                <a:ea typeface="Calibri" pitchFamily="34" charset="-122"/>
                <a:cs typeface="Calibri" pitchFamily="34" charset="-120"/>
              </a:rPr>
              <a:t>Column selected</a:t>
            </a:r>
            <a:endParaRPr lang="en-US" sz="950" dirty="0"/>
          </a:p>
        </p:txBody>
      </p:sp>
      <p:sp>
        <p:nvSpPr>
          <p:cNvPr id="30" name="Text 28"/>
          <p:cNvSpPr/>
          <p:nvPr/>
        </p:nvSpPr>
        <p:spPr>
          <a:xfrm>
            <a:off x="8229600" y="3401568"/>
            <a:ext cx="2926080" cy="347472"/>
          </a:xfrm>
          <a:prstGeom prst="rect">
            <a:avLst/>
          </a:prstGeom>
          <a:noFill/>
          <a:ln/>
        </p:spPr>
        <p:txBody>
          <a:bodyPr wrap="square" lIns="0" tIns="0" rIns="0" bIns="0"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"Category"</a:t>
            </a:r>
            <a:endParaRPr lang="en-US" sz="1200" dirty="0"/>
          </a:p>
        </p:txBody>
      </p:sp>
      <p:sp>
        <p:nvSpPr>
          <p:cNvPr id="31" name="Shape 29"/>
          <p:cNvSpPr/>
          <p:nvPr/>
        </p:nvSpPr>
        <p:spPr>
          <a:xfrm>
            <a:off x="4617720" y="3977640"/>
            <a:ext cx="3200400" cy="685800"/>
          </a:xfrm>
          <a:prstGeom prst="roundRect">
            <a:avLst>
              <a:gd name="adj" fmla="val 8000"/>
            </a:avLst>
          </a:prstGeom>
          <a:solidFill>
            <a:srgbClr val="F5F7F9"/>
          </a:solidFill>
          <a:ln w="12700">
            <a:solidFill>
              <a:srgbClr val="DCE2E8"/>
            </a:solidFill>
            <a:prstDash val="solid"/>
          </a:ln>
        </p:spPr>
        <p:txBody>
          <a:bodyPr/>
          <a:lstStyle/>
          <a:p>
            <a:endParaRPr lang="en-IN"/>
          </a:p>
        </p:txBody>
      </p:sp>
      <p:sp>
        <p:nvSpPr>
          <p:cNvPr id="32" name="Text 30"/>
          <p:cNvSpPr/>
          <p:nvPr/>
        </p:nvSpPr>
        <p:spPr>
          <a:xfrm>
            <a:off x="4800600" y="4032504"/>
            <a:ext cx="2834640" cy="274320"/>
          </a:xfrm>
          <a:prstGeom prst="rect">
            <a:avLst/>
          </a:prstGeom>
          <a:noFill/>
          <a:ln/>
        </p:spPr>
        <p:txBody>
          <a:bodyPr wrap="square" lIns="0" tIns="0" rIns="0" bIns="0" rtlCol="0" anchor="ctr"/>
          <a:lstStyle/>
          <a:p>
            <a:pPr marL="0" indent="0">
              <a:buNone/>
            </a:pPr>
            <a:r>
              <a:rPr lang="en-US" sz="1000" dirty="0">
                <a:solidFill>
                  <a:srgbClr val="6B7484"/>
                </a:solidFill>
                <a:latin typeface="Calibri" pitchFamily="34" charset="0"/>
                <a:ea typeface="Calibri" pitchFamily="34" charset="-122"/>
                <a:cs typeface="Calibri" pitchFamily="34" charset="-120"/>
              </a:rPr>
              <a:t>Individual_category</a:t>
            </a:r>
            <a:endParaRPr lang="en-US" sz="1000" dirty="0"/>
          </a:p>
        </p:txBody>
      </p:sp>
      <p:sp>
        <p:nvSpPr>
          <p:cNvPr id="33" name="Text 31"/>
          <p:cNvSpPr/>
          <p:nvPr/>
        </p:nvSpPr>
        <p:spPr>
          <a:xfrm>
            <a:off x="4800600" y="4270248"/>
            <a:ext cx="2834640" cy="347472"/>
          </a:xfrm>
          <a:prstGeom prst="rect">
            <a:avLst/>
          </a:prstGeom>
          <a:noFill/>
          <a:ln/>
        </p:spPr>
        <p:txBody>
          <a:bodyPr wrap="square" lIns="0" tIns="0" rIns="0" bIns="0" rtlCol="0" anchor="ctr"/>
          <a:lstStyle/>
          <a:p>
            <a:pPr marL="0" indent="0">
              <a:buNone/>
            </a:pPr>
            <a:r>
              <a:rPr lang="en-US" sz="1500" b="1" dirty="0">
                <a:solidFill>
                  <a:srgbClr val="132347"/>
                </a:solidFill>
                <a:latin typeface="Cambria" pitchFamily="34" charset="0"/>
                <a:ea typeface="Cambria" pitchFamily="34" charset="-122"/>
                <a:cs typeface="Cambria" pitchFamily="34" charset="-120"/>
              </a:rPr>
              <a:t>tshirts</a:t>
            </a:r>
            <a:endParaRPr lang="en-US" sz="1500" dirty="0"/>
          </a:p>
        </p:txBody>
      </p:sp>
      <p:sp>
        <p:nvSpPr>
          <p:cNvPr id="34" name="Shape 32"/>
          <p:cNvSpPr/>
          <p:nvPr/>
        </p:nvSpPr>
        <p:spPr>
          <a:xfrm>
            <a:off x="8046720" y="3977640"/>
            <a:ext cx="3227832" cy="685800"/>
          </a:xfrm>
          <a:prstGeom prst="roundRect">
            <a:avLst>
              <a:gd name="adj" fmla="val 8000"/>
            </a:avLst>
          </a:prstGeom>
          <a:solidFill>
            <a:srgbClr val="132347"/>
          </a:solidFill>
          <a:ln/>
        </p:spPr>
        <p:txBody>
          <a:bodyPr/>
          <a:lstStyle/>
          <a:p>
            <a:endParaRPr lang="en-IN"/>
          </a:p>
        </p:txBody>
      </p:sp>
      <p:sp>
        <p:nvSpPr>
          <p:cNvPr id="35" name="Text 33"/>
          <p:cNvSpPr/>
          <p:nvPr/>
        </p:nvSpPr>
        <p:spPr>
          <a:xfrm>
            <a:off x="8229600" y="4032504"/>
            <a:ext cx="2926080" cy="274320"/>
          </a:xfrm>
          <a:prstGeom prst="rect">
            <a:avLst/>
          </a:prstGeom>
          <a:noFill/>
          <a:ln/>
        </p:spPr>
        <p:txBody>
          <a:bodyPr wrap="square" lIns="0" tIns="0" rIns="0" bIns="0" rtlCol="0" anchor="ctr"/>
          <a:lstStyle/>
          <a:p>
            <a:pPr marL="0" indent="0">
              <a:buNone/>
            </a:pPr>
            <a:r>
              <a:rPr lang="en-US" sz="950" dirty="0">
                <a:solidFill>
                  <a:srgbClr val="17A398"/>
                </a:solidFill>
                <a:latin typeface="Calibri" pitchFamily="34" charset="0"/>
                <a:ea typeface="Calibri" pitchFamily="34" charset="-122"/>
                <a:cs typeface="Calibri" pitchFamily="34" charset="-120"/>
              </a:rPr>
              <a:t>Column selected</a:t>
            </a:r>
            <a:endParaRPr lang="en-US" sz="950" dirty="0"/>
          </a:p>
        </p:txBody>
      </p:sp>
      <p:sp>
        <p:nvSpPr>
          <p:cNvPr id="36" name="Text 34"/>
          <p:cNvSpPr/>
          <p:nvPr/>
        </p:nvSpPr>
        <p:spPr>
          <a:xfrm>
            <a:off x="8229600" y="4270248"/>
            <a:ext cx="2926080" cy="347472"/>
          </a:xfrm>
          <a:prstGeom prst="rect">
            <a:avLst/>
          </a:prstGeom>
          <a:noFill/>
          <a:ln/>
        </p:spPr>
        <p:txBody>
          <a:bodyPr wrap="square" lIns="0" tIns="0" rIns="0" bIns="0"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"Individual_category"</a:t>
            </a:r>
            <a:endParaRPr lang="en-US" sz="1200" dirty="0"/>
          </a:p>
        </p:txBody>
      </p:sp>
      <p:sp>
        <p:nvSpPr>
          <p:cNvPr id="37" name="Shape 35"/>
          <p:cNvSpPr/>
          <p:nvPr/>
        </p:nvSpPr>
        <p:spPr>
          <a:xfrm>
            <a:off x="457200" y="5120640"/>
            <a:ext cx="10817352" cy="1051560"/>
          </a:xfrm>
          <a:prstGeom prst="roundRect">
            <a:avLst>
              <a:gd name="adj" fmla="val 6957"/>
            </a:avLst>
          </a:prstGeom>
          <a:solidFill>
            <a:srgbClr val="F5F7F9"/>
          </a:solidFill>
          <a:ln w="12700">
            <a:solidFill>
              <a:srgbClr val="DCE2E8"/>
            </a:solidFill>
            <a:prstDash val="solid"/>
          </a:ln>
        </p:spPr>
        <p:txBody>
          <a:bodyPr/>
          <a:lstStyle/>
          <a:p>
            <a:endParaRPr lang="en-IN"/>
          </a:p>
        </p:txBody>
      </p:sp>
      <p:sp>
        <p:nvSpPr>
          <p:cNvPr id="38" name="Text 36"/>
          <p:cNvSpPr/>
          <p:nvPr/>
        </p:nvSpPr>
        <p:spPr>
          <a:xfrm>
            <a:off x="640080" y="5212080"/>
            <a:ext cx="10451592" cy="219456"/>
          </a:xfrm>
          <a:prstGeom prst="rect">
            <a:avLst/>
          </a:prstGeom>
          <a:noFill/>
          <a:ln/>
        </p:spPr>
        <p:txBody>
          <a:bodyPr wrap="square" lIns="0" tIns="0" rIns="0" bIns="0" rtlCol="0" anchor="ctr"/>
          <a:lstStyle/>
          <a:p>
            <a:pPr marL="0" indent="0">
              <a:buNone/>
            </a:pPr>
            <a:r>
              <a:rPr lang="en-US" sz="900" b="1" kern="0" spc="10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39" name="Text 37"/>
          <p:cNvSpPr/>
          <p:nvPr/>
        </p:nvSpPr>
        <p:spPr>
          <a:xfrm>
            <a:off x="640080" y="5413248"/>
            <a:ext cx="10451592" cy="429768"/>
          </a:xfrm>
          <a:prstGeom prst="rect">
            <a:avLst/>
          </a:prstGeom>
          <a:noFill/>
          <a:ln/>
        </p:spPr>
        <p:txBody>
          <a:bodyPr wrap="square" lIns="0" tIns="0" rIns="0" bIns="0" rtlCol="0" anchor="t">
            <a:normAutofit/>
          </a:bodyPr>
          <a:lstStyle/>
          <a:p>
            <a:pPr marL="0" indent="0">
              <a:buNone/>
            </a:pPr>
            <a:r>
              <a:rPr lang="en-US" sz="1250" dirty="0">
                <a:solidFill>
                  <a:srgbClr val="132347"/>
                </a:solidFill>
                <a:latin typeface="Courier New" pitchFamily="34" charset="0"/>
                <a:ea typeface="Courier New" pitchFamily="34" charset="-122"/>
                <a:cs typeface="Courier New" pitchFamily="34" charset="-120"/>
              </a:rPr>
              <a:t>=XLOOKUP(11226634, $B$2:$B$526565, XLOOKUP("BrandName", $A$1:$M$1, $A$2:$M$526565))</a:t>
            </a:r>
            <a:endParaRPr lang="en-US" sz="1250" dirty="0"/>
          </a:p>
        </p:txBody>
      </p:sp>
      <p:sp>
        <p:nvSpPr>
          <p:cNvPr id="40" name="Text 38"/>
          <p:cNvSpPr/>
          <p:nvPr/>
        </p:nvSpPr>
        <p:spPr>
          <a:xfrm>
            <a:off x="640080" y="5861304"/>
            <a:ext cx="10451592" cy="256032"/>
          </a:xfrm>
          <a:prstGeom prst="rect">
            <a:avLst/>
          </a:prstGeom>
          <a:noFill/>
          <a:ln/>
        </p:spPr>
        <p:txBody>
          <a:bodyPr wrap="square" lIns="0" tIns="0" rIns="0" bIns="0" rtlCol="0" anchor="ctr"/>
          <a:lstStyle/>
          <a:p>
            <a:pPr marL="0" indent="0">
              <a:buNone/>
            </a:pPr>
            <a:r>
              <a:rPr lang="en-US" sz="950" i="1" dirty="0">
                <a:solidFill>
                  <a:srgbClr val="6B7484"/>
                </a:solidFill>
                <a:latin typeface="Calibri" pitchFamily="34" charset="0"/>
                <a:ea typeface="Calibri" pitchFamily="34" charset="-122"/>
                <a:cs typeface="Calibri" pitchFamily="34" charset="-120"/>
              </a:rPr>
              <a:t>Inner XLOOKUP finds the target column by header name; outer XLOOKUP finds the row by Product_id — swap the header text to pull any column (Category, Individual_category, etc.) without rewriting the formula.</a:t>
            </a:r>
            <a:endParaRPr lang="en-US" sz="950" dirty="0"/>
          </a:p>
        </p:txBody>
      </p:sp>
      <p:sp>
        <p:nvSpPr>
          <p:cNvPr id="41" name="Text 39"/>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7484"/>
                </a:solidFill>
                <a:latin typeface="Calibri" pitchFamily="34" charset="0"/>
                <a:ea typeface="Calibri" pitchFamily="34" charset="-122"/>
                <a:cs typeface="Calibri" pitchFamily="34" charset="-120"/>
              </a:rPr>
              <a:t>Lookup &amp; Retrieval — Q11</a:t>
            </a:r>
            <a:endParaRPr lang="en-US" sz="900" dirty="0"/>
          </a:p>
        </p:txBody>
      </p:sp>
      <p:sp>
        <p:nvSpPr>
          <p:cNvPr id="42" name="Text 40"/>
          <p:cNvSpPr/>
          <p:nvPr/>
        </p:nvSpPr>
        <p:spPr>
          <a:xfrm>
            <a:off x="11000232" y="6473952"/>
            <a:ext cx="822960" cy="274320"/>
          </a:xfrm>
          <a:prstGeom prst="rect">
            <a:avLst/>
          </a:prstGeom>
          <a:noFill/>
          <a:ln/>
        </p:spPr>
        <p:txBody>
          <a:bodyPr wrap="square" rtlCol="0" anchor="ctr"/>
          <a:lstStyle/>
          <a:p>
            <a:pPr marL="0" indent="0" algn="r">
              <a:buNone/>
            </a:pPr>
            <a:r>
              <a:rPr lang="en-US" sz="900" dirty="0">
                <a:solidFill>
                  <a:srgbClr val="6B7484"/>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txBody>
          <a:bodyPr/>
          <a:lstStyle/>
          <a:p>
            <a:endParaRPr lang="en-IN"/>
          </a:p>
        </p:txBody>
      </p:sp>
      <p:sp>
        <p:nvSpPr>
          <p:cNvPr id="3" name="Text 1"/>
          <p:cNvSpPr/>
          <p:nvPr/>
        </p:nvSpPr>
        <p:spPr>
          <a:xfrm>
            <a:off x="457200" y="384048"/>
            <a:ext cx="8686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INSIGHTS</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marL="0" indent="0" algn="l">
              <a:buNone/>
            </a:pPr>
            <a:r>
              <a:rPr lang="en-US" sz="2200" b="1" dirty="0">
                <a:solidFill>
                  <a:srgbClr val="132347"/>
                </a:solidFill>
                <a:latin typeface="Cambria" pitchFamily="34" charset="0"/>
                <a:ea typeface="Cambria" pitchFamily="34" charset="-122"/>
                <a:cs typeface="Cambria" pitchFamily="34" charset="-120"/>
              </a:rPr>
              <a:t>Key Insights</a:t>
            </a:r>
            <a:endParaRPr lang="en-US" sz="2200" dirty="0"/>
          </a:p>
        </p:txBody>
      </p:sp>
      <p:sp>
        <p:nvSpPr>
          <p:cNvPr id="5" name="Shape 3"/>
          <p:cNvSpPr/>
          <p:nvPr/>
        </p:nvSpPr>
        <p:spPr>
          <a:xfrm>
            <a:off x="457200" y="1234440"/>
            <a:ext cx="3401568" cy="2331720"/>
          </a:xfrm>
          <a:prstGeom prst="roundRect">
            <a:avLst>
              <a:gd name="adj" fmla="val 3922"/>
            </a:avLst>
          </a:prstGeom>
          <a:solidFill>
            <a:srgbClr val="FFFFFF"/>
          </a:solidFill>
          <a:ln/>
          <a:effectLst>
            <a:outerShdw blurRad="63500" dist="25400" dir="5400000" algn="bl" rotWithShape="0">
              <a:srgbClr val="1B2233">
                <a:alpha val="18000"/>
              </a:srgbClr>
            </a:outerShdw>
          </a:effectLst>
        </p:spPr>
        <p:txBody>
          <a:bodyPr/>
          <a:lstStyle/>
          <a:p>
            <a:endParaRPr lang="en-IN"/>
          </a:p>
        </p:txBody>
      </p:sp>
      <p:sp>
        <p:nvSpPr>
          <p:cNvPr id="6" name="Shape 4"/>
          <p:cNvSpPr/>
          <p:nvPr/>
        </p:nvSpPr>
        <p:spPr>
          <a:xfrm>
            <a:off x="685800" y="1463040"/>
            <a:ext cx="457200" cy="457200"/>
          </a:xfrm>
          <a:prstGeom prst="ellipse">
            <a:avLst/>
          </a:prstGeom>
          <a:solidFill>
            <a:srgbClr val="0E7C86"/>
          </a:solidFill>
          <a:ln/>
        </p:spPr>
        <p:txBody>
          <a:bodyPr/>
          <a:lstStyle/>
          <a:p>
            <a:endParaRPr lang="en-IN"/>
          </a:p>
        </p:txBody>
      </p:sp>
      <p:sp>
        <p:nvSpPr>
          <p:cNvPr id="7" name="Text 5"/>
          <p:cNvSpPr/>
          <p:nvPr/>
        </p:nvSpPr>
        <p:spPr>
          <a:xfrm>
            <a:off x="685800" y="14630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685800" y="2057400"/>
            <a:ext cx="2944368" cy="365760"/>
          </a:xfrm>
          <a:prstGeom prst="rect">
            <a:avLst/>
          </a:prstGeom>
          <a:noFill/>
          <a:ln/>
        </p:spPr>
        <p:txBody>
          <a:bodyPr wrap="square" lIns="0" tIns="0" rIns="0" bIns="0" rtlCol="0" anchor="ctr"/>
          <a:lstStyle/>
          <a:p>
            <a:pPr marL="0" indent="0">
              <a:buNone/>
            </a:pPr>
            <a:r>
              <a:rPr lang="en-US" sz="1500" b="1" dirty="0">
                <a:solidFill>
                  <a:srgbClr val="132347"/>
                </a:solidFill>
                <a:latin typeface="Cambria" pitchFamily="34" charset="0"/>
                <a:ea typeface="Cambria" pitchFamily="34" charset="-122"/>
                <a:cs typeface="Cambria" pitchFamily="34" charset="-120"/>
              </a:rPr>
              <a:t>Data Quality</a:t>
            </a:r>
            <a:endParaRPr lang="en-US" sz="1500" dirty="0"/>
          </a:p>
        </p:txBody>
      </p:sp>
      <p:sp>
        <p:nvSpPr>
          <p:cNvPr id="9" name="Text 7"/>
          <p:cNvSpPr/>
          <p:nvPr/>
        </p:nvSpPr>
        <p:spPr>
          <a:xfrm>
            <a:off x="685800" y="2441448"/>
            <a:ext cx="2944368" cy="960120"/>
          </a:xfrm>
          <a:prstGeom prst="rect">
            <a:avLst/>
          </a:prstGeom>
          <a:noFill/>
          <a:ln/>
        </p:spPr>
        <p:txBody>
          <a:bodyPr wrap="square" lIns="0" tIns="0" rIns="0" bIns="0" rtlCol="0" anchor="ctr"/>
          <a:lstStyle/>
          <a:p>
            <a:pPr marL="0" indent="0">
              <a:lnSpc>
                <a:spcPct val="115000"/>
              </a:lnSpc>
              <a:buNone/>
            </a:pPr>
            <a:r>
              <a:rPr lang="en-US" sz="1080" dirty="0">
                <a:solidFill>
                  <a:srgbClr val="1B2233"/>
                </a:solidFill>
                <a:latin typeface="Calibri" pitchFamily="34" charset="0"/>
                <a:ea typeface="Calibri" pitchFamily="34" charset="-122"/>
                <a:cs typeface="Calibri" pitchFamily="34" charset="-120"/>
              </a:rPr>
              <a:t>Zero duplicate records across all 526,564 rows. 74,306 rows (14%) lack a discount offer, and 336,152 (64%) lack a rating — meaningful gaps to flag for stakeholders.</a:t>
            </a:r>
            <a:endParaRPr lang="en-US" sz="1080" dirty="0"/>
          </a:p>
        </p:txBody>
      </p:sp>
      <p:sp>
        <p:nvSpPr>
          <p:cNvPr id="10" name="Shape 8"/>
          <p:cNvSpPr/>
          <p:nvPr/>
        </p:nvSpPr>
        <p:spPr>
          <a:xfrm>
            <a:off x="4032504" y="1234440"/>
            <a:ext cx="3401568" cy="2331720"/>
          </a:xfrm>
          <a:prstGeom prst="roundRect">
            <a:avLst>
              <a:gd name="adj" fmla="val 3922"/>
            </a:avLst>
          </a:prstGeom>
          <a:solidFill>
            <a:srgbClr val="FFFFFF"/>
          </a:solidFill>
          <a:ln/>
          <a:effectLst>
            <a:outerShdw blurRad="63500" dist="25400" dir="5400000" algn="bl" rotWithShape="0">
              <a:srgbClr val="1B2233">
                <a:alpha val="18000"/>
              </a:srgbClr>
            </a:outerShdw>
          </a:effectLst>
        </p:spPr>
        <p:txBody>
          <a:bodyPr/>
          <a:lstStyle/>
          <a:p>
            <a:endParaRPr lang="en-IN"/>
          </a:p>
        </p:txBody>
      </p:sp>
      <p:sp>
        <p:nvSpPr>
          <p:cNvPr id="11" name="Shape 9"/>
          <p:cNvSpPr/>
          <p:nvPr/>
        </p:nvSpPr>
        <p:spPr>
          <a:xfrm>
            <a:off x="4261104" y="1463040"/>
            <a:ext cx="457200" cy="457200"/>
          </a:xfrm>
          <a:prstGeom prst="ellipse">
            <a:avLst/>
          </a:prstGeom>
          <a:solidFill>
            <a:srgbClr val="0E7C86"/>
          </a:solidFill>
          <a:ln/>
        </p:spPr>
        <p:txBody>
          <a:bodyPr/>
          <a:lstStyle/>
          <a:p>
            <a:endParaRPr lang="en-IN"/>
          </a:p>
        </p:txBody>
      </p:sp>
      <p:sp>
        <p:nvSpPr>
          <p:cNvPr id="12" name="Text 10"/>
          <p:cNvSpPr/>
          <p:nvPr/>
        </p:nvSpPr>
        <p:spPr>
          <a:xfrm>
            <a:off x="4261104" y="14630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4261104" y="2057400"/>
            <a:ext cx="2944368" cy="365760"/>
          </a:xfrm>
          <a:prstGeom prst="rect">
            <a:avLst/>
          </a:prstGeom>
          <a:noFill/>
          <a:ln/>
        </p:spPr>
        <p:txBody>
          <a:bodyPr wrap="square" lIns="0" tIns="0" rIns="0" bIns="0" rtlCol="0" anchor="ctr"/>
          <a:lstStyle/>
          <a:p>
            <a:pPr marL="0" indent="0">
              <a:buNone/>
            </a:pPr>
            <a:r>
              <a:rPr lang="en-US" sz="1500" b="1" dirty="0">
                <a:solidFill>
                  <a:srgbClr val="132347"/>
                </a:solidFill>
                <a:latin typeface="Cambria" pitchFamily="34" charset="0"/>
                <a:ea typeface="Cambria" pitchFamily="34" charset="-122"/>
                <a:cs typeface="Cambria" pitchFamily="34" charset="-120"/>
              </a:rPr>
              <a:t>Discount Behaviour</a:t>
            </a:r>
            <a:endParaRPr lang="en-US" sz="1500" dirty="0"/>
          </a:p>
        </p:txBody>
      </p:sp>
      <p:sp>
        <p:nvSpPr>
          <p:cNvPr id="14" name="Text 12"/>
          <p:cNvSpPr/>
          <p:nvPr/>
        </p:nvSpPr>
        <p:spPr>
          <a:xfrm>
            <a:off x="4261104" y="2441448"/>
            <a:ext cx="2944368" cy="960120"/>
          </a:xfrm>
          <a:prstGeom prst="rect">
            <a:avLst/>
          </a:prstGeom>
          <a:noFill/>
          <a:ln/>
        </p:spPr>
        <p:txBody>
          <a:bodyPr wrap="square" lIns="0" tIns="0" rIns="0" bIns="0" rtlCol="0" anchor="ctr"/>
          <a:lstStyle/>
          <a:p>
            <a:pPr marL="0" indent="0">
              <a:lnSpc>
                <a:spcPct val="115000"/>
              </a:lnSpc>
              <a:buNone/>
            </a:pPr>
            <a:r>
              <a:rPr lang="en-US" sz="1080" dirty="0">
                <a:solidFill>
                  <a:srgbClr val="1B2233"/>
                </a:solidFill>
                <a:latin typeface="Calibri" pitchFamily="34" charset="0"/>
                <a:ea typeface="Calibri" pitchFamily="34" charset="-122"/>
                <a:cs typeface="Calibri" pitchFamily="34" charset="-120"/>
              </a:rPr>
              <a:t>221,864 products (49% of discounted items, 42% of the full catalog) carry offers greater than 50% — deep discounting is the norm, not the exception.</a:t>
            </a:r>
            <a:endParaRPr lang="en-US" sz="1080" dirty="0"/>
          </a:p>
        </p:txBody>
      </p:sp>
      <p:sp>
        <p:nvSpPr>
          <p:cNvPr id="15" name="Shape 13"/>
          <p:cNvSpPr/>
          <p:nvPr/>
        </p:nvSpPr>
        <p:spPr>
          <a:xfrm>
            <a:off x="7607808" y="1234440"/>
            <a:ext cx="3401568" cy="2331720"/>
          </a:xfrm>
          <a:prstGeom prst="roundRect">
            <a:avLst>
              <a:gd name="adj" fmla="val 3922"/>
            </a:avLst>
          </a:prstGeom>
          <a:solidFill>
            <a:srgbClr val="FFFFFF"/>
          </a:solidFill>
          <a:ln/>
          <a:effectLst>
            <a:outerShdw blurRad="63500" dist="25400" dir="5400000" algn="bl" rotWithShape="0">
              <a:srgbClr val="1B2233">
                <a:alpha val="18000"/>
              </a:srgbClr>
            </a:outerShdw>
          </a:effectLst>
        </p:spPr>
        <p:txBody>
          <a:bodyPr/>
          <a:lstStyle/>
          <a:p>
            <a:endParaRPr lang="en-IN"/>
          </a:p>
        </p:txBody>
      </p:sp>
      <p:sp>
        <p:nvSpPr>
          <p:cNvPr id="16" name="Shape 14"/>
          <p:cNvSpPr/>
          <p:nvPr/>
        </p:nvSpPr>
        <p:spPr>
          <a:xfrm>
            <a:off x="7836408" y="1463040"/>
            <a:ext cx="457200" cy="457200"/>
          </a:xfrm>
          <a:prstGeom prst="ellipse">
            <a:avLst/>
          </a:prstGeom>
          <a:solidFill>
            <a:srgbClr val="0E7C86"/>
          </a:solidFill>
          <a:ln/>
        </p:spPr>
        <p:txBody>
          <a:bodyPr/>
          <a:lstStyle/>
          <a:p>
            <a:endParaRPr lang="en-IN"/>
          </a:p>
        </p:txBody>
      </p:sp>
      <p:sp>
        <p:nvSpPr>
          <p:cNvPr id="17" name="Text 15"/>
          <p:cNvSpPr/>
          <p:nvPr/>
        </p:nvSpPr>
        <p:spPr>
          <a:xfrm>
            <a:off x="7836408" y="14630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7836408" y="2057400"/>
            <a:ext cx="2944368" cy="365760"/>
          </a:xfrm>
          <a:prstGeom prst="rect">
            <a:avLst/>
          </a:prstGeom>
          <a:noFill/>
          <a:ln/>
        </p:spPr>
        <p:txBody>
          <a:bodyPr wrap="square" lIns="0" tIns="0" rIns="0" bIns="0" rtlCol="0" anchor="ctr"/>
          <a:lstStyle/>
          <a:p>
            <a:pPr marL="0" indent="0">
              <a:buNone/>
            </a:pPr>
            <a:r>
              <a:rPr lang="en-US" sz="1500" b="1" dirty="0">
                <a:solidFill>
                  <a:srgbClr val="132347"/>
                </a:solidFill>
                <a:latin typeface="Cambria" pitchFamily="34" charset="0"/>
                <a:ea typeface="Cambria" pitchFamily="34" charset="-122"/>
                <a:cs typeface="Cambria" pitchFamily="34" charset="-120"/>
              </a:rPr>
              <a:t>Pricing vs Rating</a:t>
            </a:r>
            <a:endParaRPr lang="en-US" sz="1500" dirty="0"/>
          </a:p>
        </p:txBody>
      </p:sp>
      <p:sp>
        <p:nvSpPr>
          <p:cNvPr id="19" name="Text 17"/>
          <p:cNvSpPr/>
          <p:nvPr/>
        </p:nvSpPr>
        <p:spPr>
          <a:xfrm>
            <a:off x="7836408" y="2441448"/>
            <a:ext cx="2944368" cy="960120"/>
          </a:xfrm>
          <a:prstGeom prst="rect">
            <a:avLst/>
          </a:prstGeom>
          <a:noFill/>
          <a:ln/>
        </p:spPr>
        <p:txBody>
          <a:bodyPr wrap="square" lIns="0" tIns="0" rIns="0" bIns="0" rtlCol="0" anchor="ctr"/>
          <a:lstStyle/>
          <a:p>
            <a:pPr marL="0" indent="0">
              <a:lnSpc>
                <a:spcPct val="115000"/>
              </a:lnSpc>
              <a:buNone/>
            </a:pPr>
            <a:r>
              <a:rPr lang="en-US" sz="1080" dirty="0">
                <a:solidFill>
                  <a:srgbClr val="1B2233"/>
                </a:solidFill>
                <a:latin typeface="Calibri" pitchFamily="34" charset="0"/>
                <a:ea typeface="Calibri" pitchFamily="34" charset="-122"/>
                <a:cs typeface="Calibri" pitchFamily="34" charset="-120"/>
              </a:rPr>
              <a:t>Rating &gt; 4★ products average ₹1,967 — about 18.5% below the ₹2,414 catalog average; higher ratings do not signal a price premium here.</a:t>
            </a:r>
            <a:endParaRPr lang="en-US" sz="1080" dirty="0"/>
          </a:p>
        </p:txBody>
      </p:sp>
      <p:sp>
        <p:nvSpPr>
          <p:cNvPr id="20" name="Shape 18"/>
          <p:cNvSpPr/>
          <p:nvPr/>
        </p:nvSpPr>
        <p:spPr>
          <a:xfrm>
            <a:off x="457200" y="3794760"/>
            <a:ext cx="3401568" cy="2331720"/>
          </a:xfrm>
          <a:prstGeom prst="roundRect">
            <a:avLst>
              <a:gd name="adj" fmla="val 3922"/>
            </a:avLst>
          </a:prstGeom>
          <a:solidFill>
            <a:srgbClr val="FFFFFF"/>
          </a:solidFill>
          <a:ln/>
          <a:effectLst>
            <a:outerShdw blurRad="63500" dist="25400" dir="5400000" algn="bl" rotWithShape="0">
              <a:srgbClr val="1B2233">
                <a:alpha val="18000"/>
              </a:srgbClr>
            </a:outerShdw>
          </a:effectLst>
        </p:spPr>
        <p:txBody>
          <a:bodyPr/>
          <a:lstStyle/>
          <a:p>
            <a:endParaRPr lang="en-IN"/>
          </a:p>
        </p:txBody>
      </p:sp>
      <p:sp>
        <p:nvSpPr>
          <p:cNvPr id="21" name="Shape 19"/>
          <p:cNvSpPr/>
          <p:nvPr/>
        </p:nvSpPr>
        <p:spPr>
          <a:xfrm>
            <a:off x="685800" y="4023360"/>
            <a:ext cx="457200" cy="457200"/>
          </a:xfrm>
          <a:prstGeom prst="ellipse">
            <a:avLst/>
          </a:prstGeom>
          <a:solidFill>
            <a:srgbClr val="0E7C86"/>
          </a:solidFill>
          <a:ln/>
        </p:spPr>
        <p:txBody>
          <a:bodyPr/>
          <a:lstStyle/>
          <a:p>
            <a:endParaRPr lang="en-IN"/>
          </a:p>
        </p:txBody>
      </p:sp>
      <p:sp>
        <p:nvSpPr>
          <p:cNvPr id="22" name="Text 20"/>
          <p:cNvSpPr/>
          <p:nvPr/>
        </p:nvSpPr>
        <p:spPr>
          <a:xfrm>
            <a:off x="685800" y="40233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685800" y="4617720"/>
            <a:ext cx="2944368" cy="365760"/>
          </a:xfrm>
          <a:prstGeom prst="rect">
            <a:avLst/>
          </a:prstGeom>
          <a:noFill/>
          <a:ln/>
        </p:spPr>
        <p:txBody>
          <a:bodyPr wrap="square" lIns="0" tIns="0" rIns="0" bIns="0" rtlCol="0" anchor="ctr"/>
          <a:lstStyle/>
          <a:p>
            <a:pPr marL="0" indent="0">
              <a:buNone/>
            </a:pPr>
            <a:r>
              <a:rPr lang="en-US" sz="1500" b="1" dirty="0">
                <a:solidFill>
                  <a:srgbClr val="132347"/>
                </a:solidFill>
                <a:latin typeface="Cambria" pitchFamily="34" charset="0"/>
                <a:ea typeface="Cambria" pitchFamily="34" charset="-122"/>
                <a:cs typeface="Cambria" pitchFamily="34" charset="-120"/>
              </a:rPr>
              <a:t>Size Availability</a:t>
            </a:r>
            <a:endParaRPr lang="en-US" sz="1500" dirty="0"/>
          </a:p>
        </p:txBody>
      </p:sp>
      <p:sp>
        <p:nvSpPr>
          <p:cNvPr id="24" name="Text 22"/>
          <p:cNvSpPr/>
          <p:nvPr/>
        </p:nvSpPr>
        <p:spPr>
          <a:xfrm>
            <a:off x="685800" y="5001768"/>
            <a:ext cx="2944368" cy="960120"/>
          </a:xfrm>
          <a:prstGeom prst="rect">
            <a:avLst/>
          </a:prstGeom>
          <a:noFill/>
          <a:ln/>
        </p:spPr>
        <p:txBody>
          <a:bodyPr wrap="square" lIns="0" tIns="0" rIns="0" bIns="0" rtlCol="0" anchor="ctr"/>
          <a:lstStyle/>
          <a:p>
            <a:pPr marL="0" indent="0">
              <a:lnSpc>
                <a:spcPct val="115000"/>
              </a:lnSpc>
              <a:buNone/>
            </a:pPr>
            <a:r>
              <a:rPr lang="en-US" sz="1080" dirty="0">
                <a:solidFill>
                  <a:srgbClr val="1B2233"/>
                </a:solidFill>
                <a:latin typeface="Calibri" pitchFamily="34" charset="0"/>
                <a:ea typeface="Calibri" pitchFamily="34" charset="-122"/>
                <a:cs typeface="Calibri" pitchFamily="34" charset="-120"/>
              </a:rPr>
              <a:t>Size M is stocked on 307,714 of 526,564 products (58.4%) — the single most widely available size.</a:t>
            </a:r>
            <a:endParaRPr lang="en-US" sz="1080" dirty="0"/>
          </a:p>
        </p:txBody>
      </p:sp>
      <p:sp>
        <p:nvSpPr>
          <p:cNvPr id="25" name="Shape 23"/>
          <p:cNvSpPr/>
          <p:nvPr/>
        </p:nvSpPr>
        <p:spPr>
          <a:xfrm>
            <a:off x="4032504" y="3794760"/>
            <a:ext cx="3401568" cy="2331720"/>
          </a:xfrm>
          <a:prstGeom prst="roundRect">
            <a:avLst>
              <a:gd name="adj" fmla="val 3922"/>
            </a:avLst>
          </a:prstGeom>
          <a:solidFill>
            <a:srgbClr val="FFFFFF"/>
          </a:solidFill>
          <a:ln/>
          <a:effectLst>
            <a:outerShdw blurRad="63500" dist="25400" dir="5400000" algn="bl" rotWithShape="0">
              <a:srgbClr val="1B2233">
                <a:alpha val="18000"/>
              </a:srgbClr>
            </a:outerShdw>
          </a:effectLst>
        </p:spPr>
        <p:txBody>
          <a:bodyPr/>
          <a:lstStyle/>
          <a:p>
            <a:endParaRPr lang="en-IN"/>
          </a:p>
        </p:txBody>
      </p:sp>
      <p:sp>
        <p:nvSpPr>
          <p:cNvPr id="26" name="Shape 24"/>
          <p:cNvSpPr/>
          <p:nvPr/>
        </p:nvSpPr>
        <p:spPr>
          <a:xfrm>
            <a:off x="4261104" y="4023360"/>
            <a:ext cx="457200" cy="457200"/>
          </a:xfrm>
          <a:prstGeom prst="ellipse">
            <a:avLst/>
          </a:prstGeom>
          <a:solidFill>
            <a:srgbClr val="0E7C86"/>
          </a:solidFill>
          <a:ln/>
        </p:spPr>
        <p:txBody>
          <a:bodyPr/>
          <a:lstStyle/>
          <a:p>
            <a:endParaRPr lang="en-IN"/>
          </a:p>
        </p:txBody>
      </p:sp>
      <p:sp>
        <p:nvSpPr>
          <p:cNvPr id="27" name="Text 25"/>
          <p:cNvSpPr/>
          <p:nvPr/>
        </p:nvSpPr>
        <p:spPr>
          <a:xfrm>
            <a:off x="4261104" y="40233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8" name="Text 26"/>
          <p:cNvSpPr/>
          <p:nvPr/>
        </p:nvSpPr>
        <p:spPr>
          <a:xfrm>
            <a:off x="4261104" y="4617720"/>
            <a:ext cx="2944368" cy="365760"/>
          </a:xfrm>
          <a:prstGeom prst="rect">
            <a:avLst/>
          </a:prstGeom>
          <a:noFill/>
          <a:ln/>
        </p:spPr>
        <p:txBody>
          <a:bodyPr wrap="square" lIns="0" tIns="0" rIns="0" bIns="0" rtlCol="0" anchor="ctr"/>
          <a:lstStyle/>
          <a:p>
            <a:pPr marL="0" indent="0">
              <a:buNone/>
            </a:pPr>
            <a:r>
              <a:rPr lang="en-US" sz="1500" b="1" dirty="0">
                <a:solidFill>
                  <a:srgbClr val="132347"/>
                </a:solidFill>
                <a:latin typeface="Cambria" pitchFamily="34" charset="0"/>
                <a:ea typeface="Cambria" pitchFamily="34" charset="-122"/>
                <a:cs typeface="Cambria" pitchFamily="34" charset="-120"/>
              </a:rPr>
              <a:t>Category Spread</a:t>
            </a:r>
            <a:endParaRPr lang="en-US" sz="1500" dirty="0"/>
          </a:p>
        </p:txBody>
      </p:sp>
      <p:sp>
        <p:nvSpPr>
          <p:cNvPr id="29" name="Text 27"/>
          <p:cNvSpPr/>
          <p:nvPr/>
        </p:nvSpPr>
        <p:spPr>
          <a:xfrm>
            <a:off x="4261104" y="5001768"/>
            <a:ext cx="2944368" cy="960120"/>
          </a:xfrm>
          <a:prstGeom prst="rect">
            <a:avLst/>
          </a:prstGeom>
          <a:noFill/>
          <a:ln/>
        </p:spPr>
        <p:txBody>
          <a:bodyPr wrap="square" lIns="0" tIns="0" rIns="0" bIns="0" rtlCol="0" anchor="ctr"/>
          <a:lstStyle/>
          <a:p>
            <a:pPr marL="0" indent="0">
              <a:lnSpc>
                <a:spcPct val="115000"/>
              </a:lnSpc>
              <a:buNone/>
            </a:pPr>
            <a:r>
              <a:rPr lang="en-US" sz="1080" dirty="0">
                <a:solidFill>
                  <a:srgbClr val="1B2233"/>
                </a:solidFill>
                <a:latin typeface="Calibri" pitchFamily="34" charset="0"/>
                <a:ea typeface="Calibri" pitchFamily="34" charset="-122"/>
                <a:cs typeface="Calibri" pitchFamily="34" charset="-120"/>
              </a:rPr>
              <a:t>8 categories span the catalog; "Western" is both the largest gap-filled group (21,909 rows) and the highest average discount price (₹1,790).</a:t>
            </a:r>
            <a:endParaRPr lang="en-US" sz="1080" dirty="0"/>
          </a:p>
        </p:txBody>
      </p:sp>
      <p:sp>
        <p:nvSpPr>
          <p:cNvPr id="30" name="Shape 28"/>
          <p:cNvSpPr/>
          <p:nvPr/>
        </p:nvSpPr>
        <p:spPr>
          <a:xfrm>
            <a:off x="7607808" y="3794760"/>
            <a:ext cx="3401568" cy="2331720"/>
          </a:xfrm>
          <a:prstGeom prst="roundRect">
            <a:avLst>
              <a:gd name="adj" fmla="val 3922"/>
            </a:avLst>
          </a:prstGeom>
          <a:solidFill>
            <a:srgbClr val="FFFFFF"/>
          </a:solidFill>
          <a:ln/>
          <a:effectLst>
            <a:outerShdw blurRad="63500" dist="25400" dir="5400000" algn="bl" rotWithShape="0">
              <a:srgbClr val="1B2233">
                <a:alpha val="18000"/>
              </a:srgbClr>
            </a:outerShdw>
          </a:effectLst>
        </p:spPr>
        <p:txBody>
          <a:bodyPr/>
          <a:lstStyle/>
          <a:p>
            <a:endParaRPr lang="en-IN"/>
          </a:p>
        </p:txBody>
      </p:sp>
      <p:sp>
        <p:nvSpPr>
          <p:cNvPr id="31" name="Shape 29"/>
          <p:cNvSpPr/>
          <p:nvPr/>
        </p:nvSpPr>
        <p:spPr>
          <a:xfrm>
            <a:off x="7836408" y="4023360"/>
            <a:ext cx="457200" cy="457200"/>
          </a:xfrm>
          <a:prstGeom prst="ellipse">
            <a:avLst/>
          </a:prstGeom>
          <a:solidFill>
            <a:srgbClr val="0E7C86"/>
          </a:solidFill>
          <a:ln/>
        </p:spPr>
        <p:txBody>
          <a:bodyPr/>
          <a:lstStyle/>
          <a:p>
            <a:endParaRPr lang="en-IN"/>
          </a:p>
        </p:txBody>
      </p:sp>
      <p:sp>
        <p:nvSpPr>
          <p:cNvPr id="32" name="Text 30"/>
          <p:cNvSpPr/>
          <p:nvPr/>
        </p:nvSpPr>
        <p:spPr>
          <a:xfrm>
            <a:off x="7836408" y="40233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3" name="Text 31"/>
          <p:cNvSpPr/>
          <p:nvPr/>
        </p:nvSpPr>
        <p:spPr>
          <a:xfrm>
            <a:off x="7836408" y="4617720"/>
            <a:ext cx="2944368" cy="365760"/>
          </a:xfrm>
          <a:prstGeom prst="rect">
            <a:avLst/>
          </a:prstGeom>
          <a:noFill/>
          <a:ln/>
        </p:spPr>
        <p:txBody>
          <a:bodyPr wrap="square" lIns="0" tIns="0" rIns="0" bIns="0" rtlCol="0" anchor="ctr"/>
          <a:lstStyle/>
          <a:p>
            <a:pPr marL="0" indent="0">
              <a:buNone/>
            </a:pPr>
            <a:r>
              <a:rPr lang="en-US" sz="1500" b="1" dirty="0">
                <a:solidFill>
                  <a:srgbClr val="132347"/>
                </a:solidFill>
                <a:latin typeface="Cambria" pitchFamily="34" charset="0"/>
                <a:ea typeface="Cambria" pitchFamily="34" charset="-122"/>
                <a:cs typeface="Cambria" pitchFamily="34" charset="-120"/>
              </a:rPr>
              <a:t>Lookup Reliability</a:t>
            </a:r>
            <a:endParaRPr lang="en-US" sz="1500" dirty="0"/>
          </a:p>
        </p:txBody>
      </p:sp>
      <p:sp>
        <p:nvSpPr>
          <p:cNvPr id="34" name="Text 32"/>
          <p:cNvSpPr/>
          <p:nvPr/>
        </p:nvSpPr>
        <p:spPr>
          <a:xfrm>
            <a:off x="7836408" y="5001768"/>
            <a:ext cx="2944368" cy="960120"/>
          </a:xfrm>
          <a:prstGeom prst="rect">
            <a:avLst/>
          </a:prstGeom>
          <a:noFill/>
          <a:ln/>
        </p:spPr>
        <p:txBody>
          <a:bodyPr wrap="square" lIns="0" tIns="0" rIns="0" bIns="0" rtlCol="0" anchor="ctr"/>
          <a:lstStyle/>
          <a:p>
            <a:pPr marL="0" indent="0">
              <a:lnSpc>
                <a:spcPct val="115000"/>
              </a:lnSpc>
              <a:buNone/>
            </a:pPr>
            <a:r>
              <a:rPr lang="en-US" sz="1080" dirty="0">
                <a:solidFill>
                  <a:srgbClr val="1B2233"/>
                </a:solidFill>
                <a:latin typeface="Calibri" pitchFamily="34" charset="0"/>
                <a:ea typeface="Calibri" pitchFamily="34" charset="-122"/>
                <a:cs typeface="Calibri" pitchFamily="34" charset="-120"/>
              </a:rPr>
              <a:t>VLOOKUP, INDEX-MATCH, and nested XLOOKUP all resolved correctly at 526K-row scale — Product ID 11226634 (Maniac, ₹1,199, 3.9★) and 6744434 (₹599) both verified.</a:t>
            </a:r>
            <a:endParaRPr lang="en-US" sz="1080" dirty="0"/>
          </a:p>
        </p:txBody>
      </p:sp>
      <p:sp>
        <p:nvSpPr>
          <p:cNvPr id="35" name="Text 33"/>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7484"/>
                </a:solidFill>
                <a:latin typeface="Calibri" pitchFamily="34" charset="0"/>
                <a:ea typeface="Calibri" pitchFamily="34" charset="-122"/>
                <a:cs typeface="Calibri" pitchFamily="34" charset="-120"/>
              </a:rPr>
              <a:t>Key Insights</a:t>
            </a:r>
            <a:endParaRPr lang="en-US" sz="900" dirty="0"/>
          </a:p>
        </p:txBody>
      </p:sp>
      <p:sp>
        <p:nvSpPr>
          <p:cNvPr id="36" name="Text 34"/>
          <p:cNvSpPr/>
          <p:nvPr/>
        </p:nvSpPr>
        <p:spPr>
          <a:xfrm>
            <a:off x="11000232" y="6473952"/>
            <a:ext cx="822960" cy="274320"/>
          </a:xfrm>
          <a:prstGeom prst="rect">
            <a:avLst/>
          </a:prstGeom>
          <a:noFill/>
          <a:ln/>
        </p:spPr>
        <p:txBody>
          <a:bodyPr wrap="square" rtlCol="0" anchor="ctr"/>
          <a:lstStyle/>
          <a:p>
            <a:pPr marL="0" indent="0" algn="r">
              <a:buNone/>
            </a:pPr>
            <a:r>
              <a:rPr lang="en-US" sz="900" dirty="0">
                <a:solidFill>
                  <a:srgbClr val="6B7484"/>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347"/>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B1730"/>
          </a:solidFill>
          <a:ln/>
        </p:spPr>
        <p:txBody>
          <a:bodyPr/>
          <a:lstStyle/>
          <a:p>
            <a:endParaRPr lang="en-IN"/>
          </a:p>
        </p:txBody>
      </p:sp>
      <p:sp>
        <p:nvSpPr>
          <p:cNvPr id="3" name="Shape 1"/>
          <p:cNvSpPr/>
          <p:nvPr/>
        </p:nvSpPr>
        <p:spPr>
          <a:xfrm>
            <a:off x="8961120" y="4389120"/>
            <a:ext cx="4114800" cy="4114800"/>
          </a:xfrm>
          <a:prstGeom prst="ellipse">
            <a:avLst/>
          </a:prstGeom>
          <a:solidFill>
            <a:srgbClr val="0E7C86"/>
          </a:solidFill>
          <a:ln/>
        </p:spPr>
        <p:txBody>
          <a:bodyPr/>
          <a:lstStyle/>
          <a:p>
            <a:endParaRPr lang="en-IN"/>
          </a:p>
        </p:txBody>
      </p:sp>
      <p:sp>
        <p:nvSpPr>
          <p:cNvPr id="4" name="Text 2"/>
          <p:cNvSpPr/>
          <p:nvPr/>
        </p:nvSpPr>
        <p:spPr>
          <a:xfrm>
            <a:off x="0" y="2286000"/>
            <a:ext cx="12188952" cy="1005840"/>
          </a:xfrm>
          <a:prstGeom prst="rect">
            <a:avLst/>
          </a:prstGeom>
          <a:noFill/>
          <a:ln/>
        </p:spPr>
        <p:txBody>
          <a:bodyPr wrap="square" lIns="0" tIns="0" rIns="0" bIns="0"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Text 3"/>
          <p:cNvSpPr/>
          <p:nvPr/>
        </p:nvSpPr>
        <p:spPr>
          <a:xfrm>
            <a:off x="0" y="3200400"/>
            <a:ext cx="12188952" cy="548640"/>
          </a:xfrm>
          <a:prstGeom prst="rect">
            <a:avLst/>
          </a:prstGeom>
          <a:noFill/>
          <a:ln/>
        </p:spPr>
        <p:txBody>
          <a:bodyPr wrap="square" lIns="0" tIns="0" rIns="0" bIns="0" rtlCol="0" anchor="ctr"/>
          <a:lstStyle/>
          <a:p>
            <a:pPr marL="0" indent="0" algn="ctr">
              <a:buNone/>
            </a:pPr>
            <a:endParaRPr lang="en-US" sz="1800" dirty="0"/>
          </a:p>
        </p:txBody>
      </p:sp>
      <p:sp>
        <p:nvSpPr>
          <p:cNvPr id="6" name="Shape 4"/>
          <p:cNvSpPr/>
          <p:nvPr/>
        </p:nvSpPr>
        <p:spPr>
          <a:xfrm>
            <a:off x="4631436" y="4160520"/>
            <a:ext cx="2926080" cy="0"/>
          </a:xfrm>
          <a:prstGeom prst="line">
            <a:avLst/>
          </a:prstGeom>
          <a:noFill/>
          <a:ln w="15240">
            <a:solidFill>
              <a:srgbClr val="0E7C86"/>
            </a:solidFill>
            <a:prstDash val="solid"/>
          </a:ln>
        </p:spPr>
        <p:txBody>
          <a:bodyPr/>
          <a:lstStyle/>
          <a:p>
            <a:endParaRPr lang="en-IN"/>
          </a:p>
        </p:txBody>
      </p:sp>
      <p:sp>
        <p:nvSpPr>
          <p:cNvPr id="7" name="Text 5"/>
          <p:cNvSpPr/>
          <p:nvPr/>
        </p:nvSpPr>
        <p:spPr>
          <a:xfrm>
            <a:off x="0" y="4389120"/>
            <a:ext cx="12188952" cy="1097280"/>
          </a:xfrm>
          <a:prstGeom prst="rect">
            <a:avLst/>
          </a:prstGeom>
          <a:noFill/>
          <a:ln/>
        </p:spPr>
        <p:txBody>
          <a:bodyPr wrap="square" lIns="0" tIns="0" rIns="0" bIns="0" rtlCol="0" anchor="ctr"/>
          <a:lstStyle/>
          <a:p>
            <a:pPr marL="0" indent="0" algn="ctr">
              <a:lnSpc>
                <a:spcPct val="140000"/>
              </a:lnSpc>
              <a:buNone/>
            </a:pPr>
            <a:endParaRPr lang="en-US" sz="1500" dirty="0"/>
          </a:p>
          <a:p>
            <a:pPr marL="0" indent="0" algn="ctr">
              <a:lnSpc>
                <a:spcPct val="140000"/>
              </a:lnSpc>
              <a:buNone/>
            </a:pP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2261</Words>
  <Application>Microsoft Office PowerPoint</Application>
  <PresentationFormat>Widescreen</PresentationFormat>
  <Paragraphs>270</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deepanshu sharma</cp:lastModifiedBy>
  <cp:revision>3</cp:revision>
  <dcterms:created xsi:type="dcterms:W3CDTF">2026-08-12T19:04:12Z</dcterms:created>
  <dcterms:modified xsi:type="dcterms:W3CDTF">2026-08-13T07:16:38Z</dcterms:modified>
</cp:coreProperties>
</file>