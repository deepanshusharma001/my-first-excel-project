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32347"/>
                </a:solidFill>
                <a:latin typeface="Arial"/>
              </a:defRPr>
            </a:pPr>
            <a:r>
              <a:rPr sz="1100" b="0" i="0" u="none" strike="noStrike">
                <a:solidFill>
                  <a:srgbClr val="132347"/>
                </a:solidFill>
                <a:latin typeface="Arial"/>
              </a:rPr>
              <a:t>Category-wise Average Discount Price (₹)</a:t>
            </a:r>
          </a:p>
        </c:rich>
      </c:tx>
      <c:layout/>
      <c:overlay val="0"/>
    </c:title>
    <c:autoTitleDeleted val="0"/>
    <c:plotArea>
      <c:layout/>
      <c:barChart>
        <c:barDir val="col"/>
        <c:grouping val="clustered"/>
        <c:varyColors val="0"/>
        <c:ser>
          <c:idx val="0"/>
          <c:order val="0"/>
          <c:tx>
            <c:strRef>
              <c:f>Sheet1!$B$1</c:f>
              <c:strCache>
                <c:ptCount val="1"/>
                <c:pt idx="0">
                  <c:v>Avg Discount Price (₹)</c:v>
                </c:pt>
              </c:strCache>
            </c:strRef>
          </c:tx>
          <c:spPr>
            <a:solidFill>
              <a:srgbClr val="0E7C86"/>
            </a:solidFill>
            <a:effectLst/>
          </c:spPr>
          <c:invertIfNegative val="0"/>
          <c:dLbls>
            <c:numFmt formatCode="#,##0" sourceLinked="0"/>
            <c:txPr>
              <a:bodyPr/>
              <a:lstStyle/>
              <a:p>
                <a:pPr>
                  <a:defRPr b="0" i="0" strike="noStrike" sz="800" u="none">
                    <a:solidFill>
                      <a:srgbClr val="132347"/>
                    </a:solidFill>
                    <a:latin typeface="Arial"/>
                  </a:defRPr>
                </a:pPr>
              </a:p>
            </c:txPr>
            <c:showLegendKey val="0"/>
            <c:showVal val="1"/>
            <c:showCatName val="0"/>
            <c:showSerName val="0"/>
            <c:showPercent val="0"/>
            <c:showBubbleSize val="0"/>
            <c:showLeaderLines val="0"/>
          </c:dLbls>
          <c:cat>
            <c:multiLvlStrRef>
              <c:f>Sheet1!$A$2:$A$8</c:f>
              <c:multiLvlStrCache>
                <c:ptCount val="7"/>
                <c:lvl>
                  <c:pt idx="0">
                    <c:v>Bottom Wear</c:v>
                  </c:pt>
                  <c:pt idx="1">
                    <c:v>Indian Wear</c:v>
                  </c:pt>
                  <c:pt idx="2">
                    <c:v>Inner Wear</c:v>
                  </c:pt>
                  <c:pt idx="3">
                    <c:v>Lingerie</c:v>
                  </c:pt>
                  <c:pt idx="4">
                    <c:v>Plus Size</c:v>
                  </c:pt>
                  <c:pt idx="5">
                    <c:v>Sports Wear</c:v>
                  </c:pt>
                  <c:pt idx="6">
                    <c:v>Topwear</c:v>
                  </c:pt>
                </c:lvl>
              </c:multiLvlStrCache>
            </c:multiLvlStrRef>
          </c:cat>
          <c:val>
            <c:numRef>
              <c:f>Sheet1!$B$2:$B$8</c:f>
              <c:numCache>
                <c:formatCode>General</c:formatCode>
                <c:ptCount val="7"/>
                <c:pt idx="0">
                  <c:v>889.4</c:v>
                </c:pt>
                <c:pt idx="1">
                  <c:v>1031.8</c:v>
                </c:pt>
                <c:pt idx="2">
                  <c:v>564.3</c:v>
                </c:pt>
                <c:pt idx="3">
                  <c:v>619.5</c:v>
                </c:pt>
                <c:pt idx="4">
                  <c:v>644.1</c:v>
                </c:pt>
                <c:pt idx="5">
                  <c:v>695.9</c:v>
                </c:pt>
                <c:pt idx="6">
                  <c:v>667.6</c:v>
                </c:pt>
              </c:numCache>
            </c:numRef>
          </c:val>
        </c:ser>
        <c:dLbls>
          <c:numFmt formatCode="#,##0" sourceLinked="0"/>
          <c:txPr>
            <a:bodyPr/>
            <a:lstStyle/>
            <a:p>
              <a:pPr>
                <a:defRPr b="0" i="0" strike="noStrike" sz="800" u="none">
                  <a:solidFill>
                    <a:srgbClr val="13234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B74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748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32347"/>
                </a:solidFill>
                <a:latin typeface="Arial"/>
              </a:defRPr>
            </a:pPr>
            <a:r>
              <a:rPr sz="1100" b="0" i="0" u="none" strike="noStrike">
                <a:solidFill>
                  <a:srgbClr val="132347"/>
                </a:solidFill>
                <a:latin typeface="Arial"/>
              </a:rPr>
              <a:t>SizeOption Completeness</a:t>
            </a:r>
          </a:p>
        </c:rich>
      </c:tx>
      <c:layout/>
      <c:overlay val="0"/>
    </c:title>
    <c:autoTitleDeleted val="0"/>
    <c:plotArea>
      <c:layout/>
      <c:doughnutChart>
        <c:varyColors val="1"/>
        <c:ser>
          <c:idx val="0"/>
          <c:order val="0"/>
          <c:tx>
            <c:strRef>
              <c:f>Sheet1!$B$1</c:f>
              <c:strCache>
                <c:ptCount val="1"/>
                <c:pt idx="0">
                  <c:v>SizeOption</c:v>
                </c:pt>
              </c:strCache>
            </c:strRef>
          </c:tx>
          <c:spPr>
            <a:solidFill>
              <a:schemeClr val="accent1"/>
            </a:solidFill>
            <a:ln w="9525" cap="flat">
              <a:solidFill>
                <a:srgbClr val="F9F9F9"/>
              </a:solidFill>
              <a:prstDash val="solid"/>
              <a:round/>
            </a:ln>
            <a:effectLst/>
          </c:spPr>
          <c:dPt>
            <c:idx val="0"/>
            <c:bubble3D val="0"/>
            <c:spPr>
              <a:solidFill>
                <a:srgbClr val="0E7C86"/>
              </a:solidFill>
              <a:effectLst/>
            </c:spPr>
          </c:dPt>
          <c:dPt>
            <c:idx val="1"/>
            <c:bubble3D val="0"/>
            <c:spPr>
              <a:solidFill>
                <a:srgbClr val="E07A2C"/>
              </a:solidFill>
              <a:effectLst/>
            </c:spPr>
          </c:dPt>
          <c:dLbls>
            <c:dLbl>
              <c:idx val="0"/>
              <c:numFmt formatCode="General"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9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Has Value</c:v>
                </c:pt>
                <c:pt idx="1">
                  <c:v>Null</c:v>
                </c:pt>
              </c:strCache>
            </c:strRef>
          </c:cat>
          <c:val>
            <c:numRef>
              <c:f>Sheet1!$B$2:$B$3</c:f>
              <c:numCache>
                <c:ptCount val="2"/>
                <c:pt idx="0">
                  <c:v>1000</c:v>
                </c:pt>
                <c:pt idx="1">
                  <c:v>0</c:v>
                </c:pt>
              </c:numCache>
            </c:numRef>
          </c:val>
        </c:ser>
        <c:firstSliceAng val="0"/>
        <c:holeSize val="50"/>
      </c:doughnutChart>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347"/>
                </a:solidFill>
                <a:latin typeface="Arial"/>
              </a:defRPr>
            </a:pPr>
            <a:r>
              <a:rPr sz="1200" b="0" i="0" u="none" strike="noStrike">
                <a:solidFill>
                  <a:srgbClr val="132347"/>
                </a:solidFill>
                <a:latin typeface="Arial"/>
              </a:rPr>
              <a:t>Overall Average vs Rating &gt; 4 Average</a:t>
            </a:r>
          </a:p>
        </c:rich>
      </c:tx>
      <c:layout/>
      <c:overlay val="0"/>
    </c:title>
    <c:autoTitleDeleted val="0"/>
    <c:plotArea>
      <c:layout/>
      <c:barChart>
        <c:barDir val="col"/>
        <c:grouping val="clustered"/>
        <c:varyColors val="0"/>
        <c:ser>
          <c:idx val="0"/>
          <c:order val="0"/>
          <c:tx>
            <c:strRef>
              <c:f>Sheet1!$B$1</c:f>
              <c:strCache>
                <c:ptCount val="1"/>
                <c:pt idx="0">
                  <c:v>Original Price (₹)</c:v>
                </c:pt>
              </c:strCache>
            </c:strRef>
          </c:tx>
          <c:spPr>
            <a:solidFill>
              <a:srgbClr val="132347"/>
            </a:solidFill>
            <a:effectLst/>
          </c:spPr>
          <c:invertIfNegative val="0"/>
          <c:dLbls>
            <c:numFmt formatCode="₹#,##0" sourceLinked="0"/>
            <c:txPr>
              <a:bodyPr/>
              <a:lstStyle/>
              <a:p>
                <a:pPr>
                  <a:defRPr b="0" i="0" strike="noStrike" sz="1100" u="none">
                    <a:solidFill>
                      <a:srgbClr val="132347"/>
                    </a:solidFill>
                    <a:latin typeface="Arial"/>
                  </a:defRPr>
                </a:pPr>
              </a:p>
            </c:txPr>
            <c:showLegendKey val="0"/>
            <c:showVal val="1"/>
            <c:showCatName val="0"/>
            <c:showSerName val="0"/>
            <c:showPercent val="0"/>
            <c:showBubbleSize val="0"/>
            <c:showLeaderLines val="0"/>
          </c:dLbls>
          <c:dPt>
            <c:idx val="0"/>
            <c:invertIfNegative val="0"/>
            <c:bubble3D val="0"/>
            <c:spPr>
              <a:solidFill>
                <a:srgbClr val="132347"/>
              </a:solidFill>
              <a:effectLst/>
            </c:spPr>
          </c:dPt>
          <c:dPt>
            <c:idx val="1"/>
            <c:invertIfNegative val="0"/>
            <c:bubble3D val="0"/>
            <c:spPr>
              <a:solidFill>
                <a:srgbClr val="0E7C86"/>
              </a:solidFill>
              <a:effectLst/>
            </c:spPr>
          </c:dPt>
          <c:cat>
            <c:multiLvlStrRef>
              <c:f>Sheet1!$A$2:$A$3</c:f>
              <c:multiLvlStrCache>
                <c:ptCount val="2"/>
                <c:lvl>
                  <c:pt idx="0">
                    <c:v>All Products</c:v>
                  </c:pt>
                  <c:pt idx="1">
                    <c:v>Rating &gt; 4</c:v>
                  </c:pt>
                </c:lvl>
              </c:multiLvlStrCache>
            </c:multiLvlStrRef>
          </c:cat>
          <c:val>
            <c:numRef>
              <c:f>Sheet1!$B$2:$B$3</c:f>
              <c:numCache>
                <c:formatCode>General</c:formatCode>
                <c:ptCount val="2"/>
                <c:pt idx="0">
                  <c:v>1646.27</c:v>
                </c:pt>
                <c:pt idx="1">
                  <c:v>1590.999</c:v>
                </c:pt>
              </c:numCache>
            </c:numRef>
          </c:val>
        </c:ser>
        <c:dLbls>
          <c:numFmt formatCode="₹#,##0" sourceLinked="0"/>
          <c:txPr>
            <a:bodyPr/>
            <a:lstStyle/>
            <a:p>
              <a:pPr>
                <a:defRPr b="0" i="0" strike="noStrike" sz="1100" u="none">
                  <a:solidFill>
                    <a:srgbClr val="13234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4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48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132347"/>
                </a:solidFill>
                <a:latin typeface="Arial"/>
              </a:defRPr>
            </a:pPr>
            <a:r>
              <a:rPr sz="1150" b="0" i="0" u="none" strike="noStrike">
                <a:solidFill>
                  <a:srgbClr val="132347"/>
                </a:solidFill>
                <a:latin typeface="Arial"/>
              </a:rPr>
              <a:t>Discount Split Among Discounted Products (n = 874)</a:t>
            </a:r>
          </a:p>
        </c:rich>
      </c:tx>
      <c:layout/>
      <c:overlay val="0"/>
    </c:title>
    <c:autoTitleDeleted val="0"/>
    <c:plotArea>
      <c:layout/>
      <c:barChart>
        <c:barDir val="bar"/>
        <c:grouping val="clustered"/>
        <c:varyColors val="0"/>
        <c:ser>
          <c:idx val="0"/>
          <c:order val="0"/>
          <c:tx>
            <c:strRef>
              <c:f>Sheet1!$B$1</c:f>
              <c:strCache>
                <c:ptCount val="1"/>
                <c:pt idx="0">
                  <c:v>Products</c:v>
                </c:pt>
              </c:strCache>
            </c:strRef>
          </c:tx>
          <c:spPr>
            <a:solidFill>
              <a:srgbClr val="E07A2C"/>
            </a:solidFill>
            <a:effectLst/>
          </c:spPr>
          <c:invertIfNegative val="0"/>
          <c:dLbls>
            <c:numFmt formatCode="#,##0" sourceLinked="0"/>
            <c:txPr>
              <a:bodyPr/>
              <a:lstStyle/>
              <a:p>
                <a:pPr>
                  <a:defRPr b="0" i="0" strike="noStrike" sz="1100" u="none">
                    <a:solidFill>
                      <a:srgbClr val="132347"/>
                    </a:solidFill>
                    <a:latin typeface="Arial"/>
                  </a:defRPr>
                </a:pPr>
              </a:p>
            </c:txPr>
            <c:showLegendKey val="0"/>
            <c:showVal val="1"/>
            <c:showCatName val="0"/>
            <c:showSerName val="0"/>
            <c:showPercent val="0"/>
            <c:showBubbleSize val="0"/>
            <c:showLeaderLines val="0"/>
          </c:dLbls>
          <c:dPt>
            <c:idx val="0"/>
            <c:invertIfNegative val="0"/>
            <c:bubble3D val="0"/>
            <c:spPr>
              <a:solidFill>
                <a:srgbClr val="E07A2C"/>
              </a:solidFill>
              <a:effectLst/>
            </c:spPr>
          </c:dPt>
          <c:dPt>
            <c:idx val="1"/>
            <c:invertIfNegative val="0"/>
            <c:bubble3D val="0"/>
            <c:spPr>
              <a:solidFill>
                <a:srgbClr val="0E7C86"/>
              </a:solidFill>
              <a:effectLst/>
            </c:spPr>
          </c:dPt>
          <c:cat>
            <c:multiLvlStrRef>
              <c:f>Sheet1!$A$2:$A$3</c:f>
              <c:multiLvlStrCache>
                <c:ptCount val="2"/>
                <c:lvl>
                  <c:pt idx="0">
                    <c:v>&gt;50% OFF</c:v>
                  </c:pt>
                  <c:pt idx="1">
                    <c:v>≤50% OFF</c:v>
                  </c:pt>
                </c:lvl>
              </c:multiLvlStrCache>
            </c:multiLvlStrRef>
          </c:cat>
          <c:val>
            <c:numRef>
              <c:f>Sheet1!$B$2:$B$3</c:f>
              <c:numCache>
                <c:formatCode>General</c:formatCode>
                <c:ptCount val="2"/>
                <c:pt idx="0">
                  <c:v>503</c:v>
                </c:pt>
                <c:pt idx="1">
                  <c:v>371</c:v>
                </c:pt>
              </c:numCache>
            </c:numRef>
          </c:val>
        </c:ser>
        <c:dLbls>
          <c:numFmt formatCode="#,##0" sourceLinked="0"/>
          <c:txPr>
            <a:bodyPr/>
            <a:lstStyle/>
            <a:p>
              <a:pPr>
                <a:defRPr b="0" i="0" strike="noStrike" sz="1100" u="none">
                  <a:solidFill>
                    <a:srgbClr val="13234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484"/>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DCE2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48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32347"/>
                </a:solidFill>
                <a:latin typeface="Arial"/>
              </a:defRPr>
            </a:pPr>
            <a:r>
              <a:rPr sz="1100" b="0" i="0" u="none" strike="noStrike">
                <a:solidFill>
                  <a:srgbClr val="132347"/>
                </a:solidFill>
                <a:latin typeface="Arial"/>
              </a:rPr>
              <a:t>Size M vs Other Sizes</a:t>
            </a:r>
          </a:p>
        </c:rich>
      </c:tx>
      <c:layout/>
      <c:overlay val="0"/>
    </c:title>
    <c:autoTitleDeleted val="0"/>
    <c:plotArea>
      <c:layout/>
      <c:doughnutChart>
        <c:varyColors val="1"/>
        <c:ser>
          <c:idx val="0"/>
          <c:order val="0"/>
          <c:tx>
            <c:strRef>
              <c:f>Sheet1!$B$1</c:f>
              <c:strCache>
                <c:ptCount val="1"/>
                <c:pt idx="0">
                  <c:v>Size M</c:v>
                </c:pt>
              </c:strCache>
            </c:strRef>
          </c:tx>
          <c:spPr>
            <a:solidFill>
              <a:schemeClr val="accent1"/>
            </a:solidFill>
            <a:ln w="9525" cap="flat">
              <a:solidFill>
                <a:srgbClr val="F9F9F9"/>
              </a:solidFill>
              <a:prstDash val="solid"/>
              <a:round/>
            </a:ln>
            <a:effectLst/>
          </c:spPr>
          <c:dPt>
            <c:idx val="0"/>
            <c:bubble3D val="0"/>
            <c:spPr>
              <a:solidFill>
                <a:srgbClr val="0E7C86"/>
              </a:solidFill>
              <a:effectLst/>
            </c:spPr>
          </c:dPt>
          <c:dPt>
            <c:idx val="1"/>
            <c:bubble3D val="0"/>
            <c:spPr>
              <a:solidFill>
                <a:srgbClr val="DCE2E8"/>
              </a:solidFill>
              <a:effectLst/>
            </c:spPr>
          </c:dPt>
          <c:dLbls>
            <c:dLbl>
              <c:idx val="0"/>
              <c:numFmt formatCode="General" sourceLinked="0"/>
              <c:spPr/>
              <c:txPr>
                <a:bodyPr/>
                <a:lstStyle/>
                <a:p>
                  <a:pPr>
                    <a:defRPr sz="10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0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Size M</c:v>
                </c:pt>
                <c:pt idx="1">
                  <c:v>Other Sizes</c:v>
                </c:pt>
              </c:strCache>
            </c:strRef>
          </c:cat>
          <c:val>
            <c:numRef>
              <c:f>Sheet1!$B$2:$B$3</c:f>
              <c:numCache>
                <c:ptCount val="2"/>
                <c:pt idx="0">
                  <c:v>675</c:v>
                </c:pt>
                <c:pt idx="1">
                  <c:v>325</c:v>
                </c:pt>
              </c:numCache>
            </c:numRef>
          </c:val>
        </c:ser>
        <c:firstSliceAng val="0"/>
        <c:holeSize val="50"/>
      </c:doughnutChart>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32347"/>
                </a:solidFill>
                <a:latin typeface="Arial"/>
              </a:defRPr>
            </a:pPr>
            <a:r>
              <a:rPr sz="1100" b="0" i="0" u="none" strike="noStrike">
                <a:solidFill>
                  <a:srgbClr val="132347"/>
                </a:solidFill>
                <a:latin typeface="Arial"/>
              </a:rPr>
              <a:t>High vs Low Discount</a:t>
            </a:r>
          </a:p>
        </c:rich>
      </c:tx>
      <c:layout/>
      <c:overlay val="0"/>
    </c:title>
    <c:autoTitleDeleted val="0"/>
    <c:plotArea>
      <c:layout/>
      <c:barChart>
        <c:barDir val="col"/>
        <c:grouping val="clustered"/>
        <c:varyColors val="0"/>
        <c:ser>
          <c:idx val="0"/>
          <c:order val="0"/>
          <c:tx>
            <c:strRef>
              <c:f>Sheet1!$B$1</c:f>
              <c:strCache>
                <c:ptCount val="1"/>
                <c:pt idx="0">
                  <c:v>Products</c:v>
                </c:pt>
              </c:strCache>
            </c:strRef>
          </c:tx>
          <c:spPr>
            <a:solidFill>
              <a:srgbClr val="E07A2C"/>
            </a:solidFill>
            <a:effectLst/>
          </c:spPr>
          <c:invertIfNegative val="0"/>
          <c:dLbls>
            <c:numFmt formatCode="#,##0" sourceLinked="0"/>
            <c:txPr>
              <a:bodyPr/>
              <a:lstStyle/>
              <a:p>
                <a:pPr>
                  <a:defRPr b="0" i="0" strike="noStrike" sz="1000" u="none">
                    <a:solidFill>
                      <a:srgbClr val="132347"/>
                    </a:solidFill>
                    <a:latin typeface="Arial"/>
                  </a:defRPr>
                </a:pPr>
              </a:p>
            </c:txPr>
            <c:showLegendKey val="0"/>
            <c:showVal val="1"/>
            <c:showCatName val="0"/>
            <c:showSerName val="0"/>
            <c:showPercent val="0"/>
            <c:showBubbleSize val="0"/>
            <c:showLeaderLines val="0"/>
          </c:dLbls>
          <c:dPt>
            <c:idx val="0"/>
            <c:invertIfNegative val="0"/>
            <c:bubble3D val="0"/>
            <c:spPr>
              <a:solidFill>
                <a:srgbClr val="E07A2C"/>
              </a:solidFill>
              <a:effectLst/>
            </c:spPr>
          </c:dPt>
          <c:dPt>
            <c:idx val="1"/>
            <c:invertIfNegative val="0"/>
            <c:bubble3D val="0"/>
            <c:spPr>
              <a:solidFill>
                <a:srgbClr val="0E7C86"/>
              </a:solidFill>
              <a:effectLst/>
            </c:spPr>
          </c:dPt>
          <c:cat>
            <c:multiLvlStrRef>
              <c:f>Sheet1!$A$2:$A$3</c:f>
              <c:multiLvlStrCache>
                <c:ptCount val="2"/>
                <c:lvl>
                  <c:pt idx="0">
                    <c:v>High Discount</c:v>
                  </c:pt>
                  <c:pt idx="1">
                    <c:v>Low Discount</c:v>
                  </c:pt>
                </c:lvl>
              </c:multiLvlStrCache>
            </c:multiLvlStrRef>
          </c:cat>
          <c:val>
            <c:numRef>
              <c:f>Sheet1!$B$2:$B$3</c:f>
              <c:numCache>
                <c:formatCode>General</c:formatCode>
                <c:ptCount val="2"/>
                <c:pt idx="0">
                  <c:v>503</c:v>
                </c:pt>
                <c:pt idx="1">
                  <c:v>497</c:v>
                </c:pt>
              </c:numCache>
            </c:numRef>
          </c:val>
        </c:ser>
        <c:dLbls>
          <c:numFmt formatCode="#,##0" sourceLinked="0"/>
          <c:txPr>
            <a:bodyPr/>
            <a:lstStyle/>
            <a:p>
              <a:pPr>
                <a:defRPr b="0" i="0" strike="noStrike" sz="1000" u="none">
                  <a:solidFill>
                    <a:srgbClr val="13234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4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748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47"/>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0B1730"/>
          </a:solidFill>
          <a:ln/>
        </p:spPr>
      </p:sp>
      <p:sp>
        <p:nvSpPr>
          <p:cNvPr id="3" name="Shape 1"/>
          <p:cNvSpPr/>
          <p:nvPr/>
        </p:nvSpPr>
        <p:spPr>
          <a:xfrm>
            <a:off x="9692640" y="3931920"/>
            <a:ext cx="3840480" cy="3840480"/>
          </a:xfrm>
          <a:prstGeom prst="ellipse">
            <a:avLst/>
          </a:prstGeom>
          <a:solidFill>
            <a:srgbClr val="0E7C86"/>
          </a:solidFill>
          <a:ln/>
        </p:spPr>
      </p:sp>
      <p:sp>
        <p:nvSpPr>
          <p:cNvPr id="4" name="Shape 2"/>
          <p:cNvSpPr/>
          <p:nvPr/>
        </p:nvSpPr>
        <p:spPr>
          <a:xfrm>
            <a:off x="-1463040" y="4937760"/>
            <a:ext cx="3291840" cy="3291840"/>
          </a:xfrm>
          <a:prstGeom prst="ellipse">
            <a:avLst/>
          </a:prstGeom>
          <a:solidFill>
            <a:srgbClr val="0E7C86"/>
          </a:solidFill>
          <a:ln/>
        </p:spPr>
      </p:sp>
      <p:sp>
        <p:nvSpPr>
          <p:cNvPr id="5" name="Text 3"/>
          <p:cNvSpPr/>
          <p:nvPr/>
        </p:nvSpPr>
        <p:spPr>
          <a:xfrm>
            <a:off x="822960" y="1965960"/>
            <a:ext cx="7315200" cy="365760"/>
          </a:xfrm>
          <a:prstGeom prst="rect">
            <a:avLst/>
          </a:prstGeom>
          <a:noFill/>
          <a:ln/>
        </p:spPr>
        <p:txBody>
          <a:bodyPr wrap="square" lIns="0" tIns="0" rIns="0" bIns="0" rtlCol="0" anchor="ctr"/>
          <a:lstStyle/>
          <a:p>
            <a:pPr indent="0" marL="0">
              <a:buNone/>
            </a:pPr>
            <a:r>
              <a:rPr lang="en-US" sz="1300" b="1" spc="300" kern="0" dirty="0">
                <a:solidFill>
                  <a:srgbClr val="17A398"/>
                </a:solidFill>
                <a:latin typeface="Calibri" pitchFamily="34" charset="0"/>
                <a:ea typeface="Calibri" pitchFamily="34" charset="-122"/>
                <a:cs typeface="Calibri" pitchFamily="34" charset="-120"/>
              </a:rPr>
              <a:t>DATA ANALYTICS PROJECT</a:t>
            </a:r>
            <a:endParaRPr lang="en-US" sz="1300" dirty="0"/>
          </a:p>
        </p:txBody>
      </p:sp>
      <p:sp>
        <p:nvSpPr>
          <p:cNvPr id="6" name="Text 4"/>
          <p:cNvSpPr/>
          <p:nvPr/>
        </p:nvSpPr>
        <p:spPr>
          <a:xfrm>
            <a:off x="777240" y="2331720"/>
            <a:ext cx="987552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Myntra Fashion Clothing</a:t>
            </a:r>
            <a:endParaRPr lang="en-US" sz="4600" dirty="0"/>
          </a:p>
        </p:txBody>
      </p:sp>
      <p:sp>
        <p:nvSpPr>
          <p:cNvPr id="7" name="Text 5"/>
          <p:cNvSpPr/>
          <p:nvPr/>
        </p:nvSpPr>
        <p:spPr>
          <a:xfrm>
            <a:off x="777240" y="3063240"/>
            <a:ext cx="9875520" cy="731520"/>
          </a:xfrm>
          <a:prstGeom prst="rect">
            <a:avLst/>
          </a:prstGeom>
          <a:noFill/>
          <a:ln/>
        </p:spPr>
        <p:txBody>
          <a:bodyPr wrap="square" lIns="0" tIns="0" rIns="0" bIns="0" rtlCol="0" anchor="ctr"/>
          <a:lstStyle/>
          <a:p>
            <a:pPr indent="0" marL="0">
              <a:buNone/>
            </a:pPr>
            <a:r>
              <a:rPr lang="en-US" sz="4600" b="1" dirty="0">
                <a:solidFill>
                  <a:srgbClr val="17A398"/>
                </a:solidFill>
                <a:latin typeface="Cambria" pitchFamily="34" charset="0"/>
                <a:ea typeface="Cambria" pitchFamily="34" charset="-122"/>
                <a:cs typeface="Cambria" pitchFamily="34" charset="-120"/>
              </a:rPr>
              <a:t>Final Project</a:t>
            </a:r>
            <a:endParaRPr lang="en-US" sz="4600" dirty="0"/>
          </a:p>
        </p:txBody>
      </p:sp>
      <p:sp>
        <p:nvSpPr>
          <p:cNvPr id="8" name="Text 6"/>
          <p:cNvSpPr/>
          <p:nvPr/>
        </p:nvSpPr>
        <p:spPr>
          <a:xfrm>
            <a:off x="822960" y="3977640"/>
            <a:ext cx="7315200" cy="457200"/>
          </a:xfrm>
          <a:prstGeom prst="rect">
            <a:avLst/>
          </a:prstGeom>
          <a:noFill/>
          <a:ln/>
        </p:spPr>
        <p:txBody>
          <a:bodyPr wrap="square" lIns="0" tIns="0" rIns="0" bIns="0" rtlCol="0" anchor="ctr"/>
          <a:lstStyle/>
          <a:p>
            <a:pPr indent="0" marL="0">
              <a:buNone/>
            </a:pPr>
            <a:r>
              <a:rPr lang="en-US" sz="1800" i="1" dirty="0">
                <a:solidFill>
                  <a:srgbClr val="C9D6E3"/>
                </a:solidFill>
                <a:latin typeface="Calibri" pitchFamily="34" charset="0"/>
                <a:ea typeface="Calibri" pitchFamily="34" charset="-122"/>
                <a:cs typeface="Calibri" pitchFamily="34" charset="-120"/>
              </a:rPr>
              <a:t>Data Analysis &amp; Insights</a:t>
            </a:r>
            <a:endParaRPr lang="en-US" sz="1800" dirty="0"/>
          </a:p>
        </p:txBody>
      </p:sp>
      <p:sp>
        <p:nvSpPr>
          <p:cNvPr id="9" name="Shape 7"/>
          <p:cNvSpPr/>
          <p:nvPr/>
        </p:nvSpPr>
        <p:spPr>
          <a:xfrm>
            <a:off x="822960" y="5349240"/>
            <a:ext cx="3840480" cy="0"/>
          </a:xfrm>
          <a:prstGeom prst="line">
            <a:avLst/>
          </a:prstGeom>
          <a:noFill/>
          <a:ln w="15240">
            <a:solidFill>
              <a:srgbClr val="0E7C86"/>
            </a:solidFill>
            <a:prstDash val="solid"/>
          </a:ln>
        </p:spPr>
      </p:sp>
      <p:sp>
        <p:nvSpPr>
          <p:cNvPr id="10" name="Text 8"/>
          <p:cNvSpPr/>
          <p:nvPr/>
        </p:nvSpPr>
        <p:spPr>
          <a:xfrm>
            <a:off x="822960" y="5486400"/>
            <a:ext cx="5486400" cy="1005840"/>
          </a:xfrm>
          <a:prstGeom prst="rect">
            <a:avLst/>
          </a:prstGeom>
          <a:noFill/>
          <a:ln/>
        </p:spPr>
        <p:txBody>
          <a:bodyPr wrap="square" lIns="0" tIns="0" rIns="0" bIns="0" rtlCol="0" anchor="ctr"/>
          <a:lstStyle/>
          <a:p>
            <a:pPr indent="0" marL="0">
              <a:lnSpc>
                <a:spcPct val="135000"/>
              </a:lnSpc>
              <a:buNone/>
            </a:pPr>
            <a:r>
              <a:rPr lang="en-US" sz="1300" dirty="0">
                <a:solidFill>
                  <a:srgbClr val="8FA0B8"/>
                </a:solidFill>
                <a:latin typeface="Calibri" pitchFamily="34" charset="0"/>
                <a:ea typeface="Calibri" pitchFamily="34" charset="-122"/>
                <a:cs typeface="Calibri" pitchFamily="34" charset="-120"/>
              </a:rPr>
              <a:t>Prepared by:  </a:t>
            </a:r>
            <a:pPr indent="0" marL="0">
              <a:lnSpc>
                <a:spcPct val="135000"/>
              </a:lnSpc>
              <a:buNone/>
            </a:pPr>
            <a:r>
              <a:rPr lang="en-US" sz="1300" b="1" dirty="0">
                <a:solidFill>
                  <a:srgbClr val="FFFFFF"/>
                </a:solidFill>
                <a:latin typeface="Calibri" pitchFamily="34" charset="0"/>
                <a:ea typeface="Calibri" pitchFamily="34" charset="-122"/>
                <a:cs typeface="Calibri" pitchFamily="34" charset="-120"/>
              </a:rPr>
              <a:t>Deepanshu
</a:t>
            </a:r>
            <a:pPr indent="0" marL="0">
              <a:lnSpc>
                <a:spcPct val="135000"/>
              </a:lnSpc>
              <a:buNone/>
            </a:pPr>
            <a:r>
              <a:rPr lang="en-US" sz="1300" dirty="0">
                <a:solidFill>
                  <a:srgbClr val="8FA0B8"/>
                </a:solidFill>
                <a:latin typeface="Calibri" pitchFamily="34" charset="0"/>
                <a:ea typeface="Calibri" pitchFamily="34" charset="-122"/>
                <a:cs typeface="Calibri" pitchFamily="34" charset="-120"/>
              </a:rPr>
              <a:t>Guided by:  </a:t>
            </a:r>
            <a:pPr indent="0" marL="0">
              <a:lnSpc>
                <a:spcPct val="135000"/>
              </a:lnSpc>
              <a:buNone/>
            </a:pPr>
            <a:r>
              <a:rPr lang="en-US" sz="1300" b="1" dirty="0">
                <a:solidFill>
                  <a:srgbClr val="FFFFFF"/>
                </a:solidFill>
                <a:latin typeface="Calibri" pitchFamily="34" charset="0"/>
                <a:ea typeface="Calibri" pitchFamily="34" charset="-122"/>
                <a:cs typeface="Calibri" pitchFamily="34" charset="-120"/>
              </a:rPr>
              <a:t>[Guide Name]
</a:t>
            </a:r>
            <a:pPr indent="0" marL="0">
              <a:lnSpc>
                <a:spcPct val="135000"/>
              </a:lnSpc>
              <a:buNone/>
            </a:pPr>
            <a:r>
              <a:rPr lang="en-US" sz="1300" dirty="0">
                <a:solidFill>
                  <a:srgbClr val="8FA0B8"/>
                </a:solidFill>
                <a:latin typeface="Calibri" pitchFamily="34" charset="0"/>
                <a:ea typeface="Calibri" pitchFamily="34" charset="-122"/>
                <a:cs typeface="Calibri" pitchFamily="34" charset="-120"/>
              </a:rPr>
              <a:t>Date:  </a:t>
            </a:r>
            <a:pPr indent="0" marL="0">
              <a:lnSpc>
                <a:spcPct val="135000"/>
              </a:lnSpc>
              <a:buNone/>
            </a:pPr>
            <a:r>
              <a:rPr lang="en-US" sz="1300" b="1" dirty="0">
                <a:solidFill>
                  <a:srgbClr val="FFFFFF"/>
                </a:solidFill>
                <a:latin typeface="Calibri" pitchFamily="34" charset="0"/>
                <a:ea typeface="Calibri" pitchFamily="34" charset="-122"/>
                <a:cs typeface="Calibri" pitchFamily="34" charset="-120"/>
              </a:rPr>
              <a:t>12 August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sp>
      <p:sp>
        <p:nvSpPr>
          <p:cNvPr id="3" name="Text 1"/>
          <p:cNvSpPr/>
          <p:nvPr/>
        </p:nvSpPr>
        <p:spPr>
          <a:xfrm>
            <a:off x="457200" y="384048"/>
            <a:ext cx="86868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INTRO</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algn="l" indent="0" marL="0">
              <a:buNone/>
            </a:pPr>
            <a:r>
              <a:rPr lang="en-US" sz="2200" b="1" dirty="0">
                <a:solidFill>
                  <a:srgbClr val="132347"/>
                </a:solidFill>
                <a:latin typeface="Cambria" pitchFamily="34" charset="0"/>
                <a:ea typeface="Cambria" pitchFamily="34" charset="-122"/>
                <a:cs typeface="Cambria" pitchFamily="34" charset="-120"/>
              </a:rPr>
              <a:t>About This Presentation</a:t>
            </a:r>
            <a:endParaRPr lang="en-US" sz="2200" dirty="0"/>
          </a:p>
        </p:txBody>
      </p:sp>
      <p:sp>
        <p:nvSpPr>
          <p:cNvPr id="5" name="Shape 3"/>
          <p:cNvSpPr/>
          <p:nvPr/>
        </p:nvSpPr>
        <p:spPr>
          <a:xfrm>
            <a:off x="502920" y="1463040"/>
            <a:ext cx="109728" cy="109728"/>
          </a:xfrm>
          <a:prstGeom prst="ellipse">
            <a:avLst/>
          </a:prstGeom>
          <a:solidFill>
            <a:srgbClr val="E07A2C"/>
          </a:solidFill>
          <a:ln/>
        </p:spPr>
      </p:sp>
      <p:sp>
        <p:nvSpPr>
          <p:cNvPr id="6" name="Text 4"/>
          <p:cNvSpPr/>
          <p:nvPr/>
        </p:nvSpPr>
        <p:spPr>
          <a:xfrm>
            <a:off x="777240" y="1417320"/>
            <a:ext cx="5120640" cy="457200"/>
          </a:xfrm>
          <a:prstGeom prst="rect">
            <a:avLst/>
          </a:prstGeom>
          <a:noFill/>
          <a:ln/>
        </p:spPr>
        <p:txBody>
          <a:bodyPr wrap="square" lIns="0" tIns="0" rIns="0" bIns="0" rtlCol="0" anchor="t"/>
          <a:lstStyle/>
          <a:p>
            <a:pPr indent="0" marL="0">
              <a:buNone/>
            </a:pPr>
            <a:r>
              <a:rPr lang="en-US" sz="1350" dirty="0">
                <a:solidFill>
                  <a:srgbClr val="1B2233"/>
                </a:solidFill>
                <a:latin typeface="Calibri" pitchFamily="34" charset="0"/>
                <a:ea typeface="Calibri" pitchFamily="34" charset="-122"/>
                <a:cs typeface="Calibri" pitchFamily="34" charset="-120"/>
              </a:rPr>
              <a:t>Dataset: 1,000 Myntra product listings, 19 columns</a:t>
            </a:r>
            <a:endParaRPr lang="en-US" sz="1350" dirty="0"/>
          </a:p>
        </p:txBody>
      </p:sp>
      <p:sp>
        <p:nvSpPr>
          <p:cNvPr id="7" name="Shape 5"/>
          <p:cNvSpPr/>
          <p:nvPr/>
        </p:nvSpPr>
        <p:spPr>
          <a:xfrm>
            <a:off x="502920" y="2029968"/>
            <a:ext cx="109728" cy="109728"/>
          </a:xfrm>
          <a:prstGeom prst="ellipse">
            <a:avLst/>
          </a:prstGeom>
          <a:solidFill>
            <a:srgbClr val="E07A2C"/>
          </a:solidFill>
          <a:ln/>
        </p:spPr>
      </p:sp>
      <p:sp>
        <p:nvSpPr>
          <p:cNvPr id="8" name="Text 6"/>
          <p:cNvSpPr/>
          <p:nvPr/>
        </p:nvSpPr>
        <p:spPr>
          <a:xfrm>
            <a:off x="777240" y="1984248"/>
            <a:ext cx="5120640" cy="457200"/>
          </a:xfrm>
          <a:prstGeom prst="rect">
            <a:avLst/>
          </a:prstGeom>
          <a:noFill/>
          <a:ln/>
        </p:spPr>
        <p:txBody>
          <a:bodyPr wrap="square" lIns="0" tIns="0" rIns="0" bIns="0" rtlCol="0" anchor="t"/>
          <a:lstStyle/>
          <a:p>
            <a:pPr indent="0" marL="0">
              <a:buNone/>
            </a:pPr>
            <a:r>
              <a:rPr lang="en-US" sz="1350" dirty="0">
                <a:solidFill>
                  <a:srgbClr val="1B2233"/>
                </a:solidFill>
                <a:latin typeface="Calibri" pitchFamily="34" charset="0"/>
                <a:ea typeface="Calibri" pitchFamily="34" charset="-122"/>
                <a:cs typeface="Calibri" pitchFamily="34" charset="-120"/>
              </a:rPr>
              <a:t>Data cleaning: duplicate check &amp; null-value audit</a:t>
            </a:r>
            <a:endParaRPr lang="en-US" sz="1350" dirty="0"/>
          </a:p>
        </p:txBody>
      </p:sp>
      <p:sp>
        <p:nvSpPr>
          <p:cNvPr id="9" name="Shape 7"/>
          <p:cNvSpPr/>
          <p:nvPr/>
        </p:nvSpPr>
        <p:spPr>
          <a:xfrm>
            <a:off x="502920" y="2596896"/>
            <a:ext cx="109728" cy="109728"/>
          </a:xfrm>
          <a:prstGeom prst="ellipse">
            <a:avLst/>
          </a:prstGeom>
          <a:solidFill>
            <a:srgbClr val="E07A2C"/>
          </a:solidFill>
          <a:ln/>
        </p:spPr>
      </p:sp>
      <p:sp>
        <p:nvSpPr>
          <p:cNvPr id="10" name="Text 8"/>
          <p:cNvSpPr/>
          <p:nvPr/>
        </p:nvSpPr>
        <p:spPr>
          <a:xfrm>
            <a:off x="777240" y="2551176"/>
            <a:ext cx="5120640" cy="457200"/>
          </a:xfrm>
          <a:prstGeom prst="rect">
            <a:avLst/>
          </a:prstGeom>
          <a:noFill/>
          <a:ln/>
        </p:spPr>
        <p:txBody>
          <a:bodyPr wrap="square" lIns="0" tIns="0" rIns="0" bIns="0" rtlCol="0" anchor="t"/>
          <a:lstStyle/>
          <a:p>
            <a:pPr indent="0" marL="0">
              <a:buNone/>
            </a:pPr>
            <a:r>
              <a:rPr lang="en-US" sz="1350" dirty="0">
                <a:solidFill>
                  <a:srgbClr val="1B2233"/>
                </a:solidFill>
                <a:latin typeface="Calibri" pitchFamily="34" charset="0"/>
                <a:ea typeface="Calibri" pitchFamily="34" charset="-122"/>
                <a:cs typeface="Calibri" pitchFamily="34" charset="-120"/>
              </a:rPr>
              <a:t>Standardization: uniform DiscountOffer formatting</a:t>
            </a:r>
            <a:endParaRPr lang="en-US" sz="1350" dirty="0"/>
          </a:p>
        </p:txBody>
      </p:sp>
      <p:sp>
        <p:nvSpPr>
          <p:cNvPr id="11" name="Shape 9"/>
          <p:cNvSpPr/>
          <p:nvPr/>
        </p:nvSpPr>
        <p:spPr>
          <a:xfrm>
            <a:off x="502920" y="3163824"/>
            <a:ext cx="109728" cy="109728"/>
          </a:xfrm>
          <a:prstGeom prst="ellipse">
            <a:avLst/>
          </a:prstGeom>
          <a:solidFill>
            <a:srgbClr val="E07A2C"/>
          </a:solidFill>
          <a:ln/>
        </p:spPr>
      </p:sp>
      <p:sp>
        <p:nvSpPr>
          <p:cNvPr id="12" name="Text 10"/>
          <p:cNvSpPr/>
          <p:nvPr/>
        </p:nvSpPr>
        <p:spPr>
          <a:xfrm>
            <a:off x="777240" y="3118104"/>
            <a:ext cx="5120640" cy="457200"/>
          </a:xfrm>
          <a:prstGeom prst="rect">
            <a:avLst/>
          </a:prstGeom>
          <a:noFill/>
          <a:ln/>
        </p:spPr>
        <p:txBody>
          <a:bodyPr wrap="square" lIns="0" tIns="0" rIns="0" bIns="0" rtlCol="0" anchor="t"/>
          <a:lstStyle/>
          <a:p>
            <a:pPr indent="0" marL="0">
              <a:buNone/>
            </a:pPr>
            <a:r>
              <a:rPr lang="en-US" sz="1350" dirty="0">
                <a:solidFill>
                  <a:srgbClr val="1B2233"/>
                </a:solidFill>
                <a:latin typeface="Calibri" pitchFamily="34" charset="0"/>
                <a:ea typeface="Calibri" pitchFamily="34" charset="-122"/>
                <a:cs typeface="Calibri" pitchFamily="34" charset="-120"/>
              </a:rPr>
              <a:t>Analysis: pricing, rating &amp; discount-behaviour metrics</a:t>
            </a:r>
            <a:endParaRPr lang="en-US" sz="1350" dirty="0"/>
          </a:p>
        </p:txBody>
      </p:sp>
      <p:sp>
        <p:nvSpPr>
          <p:cNvPr id="13" name="Shape 11"/>
          <p:cNvSpPr/>
          <p:nvPr/>
        </p:nvSpPr>
        <p:spPr>
          <a:xfrm>
            <a:off x="502920" y="3730752"/>
            <a:ext cx="109728" cy="109728"/>
          </a:xfrm>
          <a:prstGeom prst="ellipse">
            <a:avLst/>
          </a:prstGeom>
          <a:solidFill>
            <a:srgbClr val="E07A2C"/>
          </a:solidFill>
          <a:ln/>
        </p:spPr>
      </p:sp>
      <p:sp>
        <p:nvSpPr>
          <p:cNvPr id="14" name="Text 12"/>
          <p:cNvSpPr/>
          <p:nvPr/>
        </p:nvSpPr>
        <p:spPr>
          <a:xfrm>
            <a:off x="777240" y="3685032"/>
            <a:ext cx="5120640" cy="457200"/>
          </a:xfrm>
          <a:prstGeom prst="rect">
            <a:avLst/>
          </a:prstGeom>
          <a:noFill/>
          <a:ln/>
        </p:spPr>
        <p:txBody>
          <a:bodyPr wrap="square" lIns="0" tIns="0" rIns="0" bIns="0" rtlCol="0" anchor="t"/>
          <a:lstStyle/>
          <a:p>
            <a:pPr indent="0" marL="0">
              <a:buNone/>
            </a:pPr>
            <a:r>
              <a:rPr lang="en-US" sz="1350" dirty="0">
                <a:solidFill>
                  <a:srgbClr val="1B2233"/>
                </a:solidFill>
                <a:latin typeface="Calibri" pitchFamily="34" charset="0"/>
                <a:ea typeface="Calibri" pitchFamily="34" charset="-122"/>
                <a:cs typeface="Calibri" pitchFamily="34" charset="-120"/>
              </a:rPr>
              <a:t>Lookup: VLOOKUP, INDEX-MATCH &amp; nested XLOOKUP</a:t>
            </a:r>
            <a:endParaRPr lang="en-US" sz="1350" dirty="0"/>
          </a:p>
        </p:txBody>
      </p:sp>
      <p:sp>
        <p:nvSpPr>
          <p:cNvPr id="15" name="Shape 13"/>
          <p:cNvSpPr/>
          <p:nvPr/>
        </p:nvSpPr>
        <p:spPr>
          <a:xfrm>
            <a:off x="6949440" y="1143000"/>
            <a:ext cx="3840480" cy="512064"/>
          </a:xfrm>
          <a:prstGeom prst="roundRect">
            <a:avLst>
              <a:gd name="adj" fmla="val 10714"/>
            </a:avLst>
          </a:prstGeom>
          <a:solidFill>
            <a:srgbClr val="132347"/>
          </a:solidFill>
          <a:ln w="12700">
            <a:solidFill>
              <a:srgbClr val="0E7C86"/>
            </a:solidFill>
            <a:prstDash val="solid"/>
          </a:ln>
        </p:spPr>
      </p:sp>
      <p:sp>
        <p:nvSpPr>
          <p:cNvPr id="16" name="Text 14"/>
          <p:cNvSpPr/>
          <p:nvPr/>
        </p:nvSpPr>
        <p:spPr>
          <a:xfrm>
            <a:off x="7040880" y="1143000"/>
            <a:ext cx="365760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RAW DATA</a:t>
            </a:r>
            <a:endParaRPr lang="en-US" sz="1100" dirty="0"/>
          </a:p>
        </p:txBody>
      </p:sp>
      <p:sp>
        <p:nvSpPr>
          <p:cNvPr id="17" name="Shape 15"/>
          <p:cNvSpPr/>
          <p:nvPr/>
        </p:nvSpPr>
        <p:spPr>
          <a:xfrm>
            <a:off x="8787384" y="1685239"/>
            <a:ext cx="164592" cy="140818"/>
          </a:xfrm>
          <a:prstGeom prst="downArrow">
            <a:avLst/>
          </a:prstGeom>
          <a:solidFill>
            <a:srgbClr val="0E7C86"/>
          </a:solidFill>
          <a:ln/>
        </p:spPr>
      </p:sp>
      <p:sp>
        <p:nvSpPr>
          <p:cNvPr id="18" name="Shape 16"/>
          <p:cNvSpPr/>
          <p:nvPr/>
        </p:nvSpPr>
        <p:spPr>
          <a:xfrm>
            <a:off x="6949440" y="1856232"/>
            <a:ext cx="3840480" cy="512064"/>
          </a:xfrm>
          <a:prstGeom prst="roundRect">
            <a:avLst>
              <a:gd name="adj" fmla="val 10714"/>
            </a:avLst>
          </a:prstGeom>
          <a:solidFill>
            <a:srgbClr val="E5F3F2"/>
          </a:solidFill>
          <a:ln w="12700">
            <a:solidFill>
              <a:srgbClr val="0E7C86"/>
            </a:solidFill>
            <a:prstDash val="solid"/>
          </a:ln>
        </p:spPr>
      </p:sp>
      <p:sp>
        <p:nvSpPr>
          <p:cNvPr id="19" name="Text 17"/>
          <p:cNvSpPr/>
          <p:nvPr/>
        </p:nvSpPr>
        <p:spPr>
          <a:xfrm>
            <a:off x="7040880" y="1856232"/>
            <a:ext cx="3657600" cy="512064"/>
          </a:xfrm>
          <a:prstGeom prst="rect">
            <a:avLst/>
          </a:prstGeom>
          <a:noFill/>
          <a:ln/>
        </p:spPr>
        <p:txBody>
          <a:bodyPr wrap="square" lIns="0" tIns="0" rIns="0" bIns="0" rtlCol="0" anchor="ctr"/>
          <a:lstStyle/>
          <a:p>
            <a:pPr algn="ctr" indent="0" marL="0">
              <a:buNone/>
            </a:pPr>
            <a:r>
              <a:rPr lang="en-US" sz="1100" b="1" dirty="0">
                <a:solidFill>
                  <a:srgbClr val="132347"/>
                </a:solidFill>
                <a:latin typeface="Calibri" pitchFamily="34" charset="0"/>
                <a:ea typeface="Calibri" pitchFamily="34" charset="-122"/>
                <a:cs typeface="Calibri" pitchFamily="34" charset="-120"/>
              </a:rPr>
              <a:t>DATA CLEANING</a:t>
            </a:r>
            <a:endParaRPr lang="en-US" sz="1100" dirty="0"/>
          </a:p>
        </p:txBody>
      </p:sp>
      <p:sp>
        <p:nvSpPr>
          <p:cNvPr id="20" name="Shape 18"/>
          <p:cNvSpPr/>
          <p:nvPr/>
        </p:nvSpPr>
        <p:spPr>
          <a:xfrm>
            <a:off x="8787384" y="2398471"/>
            <a:ext cx="164592" cy="140818"/>
          </a:xfrm>
          <a:prstGeom prst="downArrow">
            <a:avLst/>
          </a:prstGeom>
          <a:solidFill>
            <a:srgbClr val="0E7C86"/>
          </a:solidFill>
          <a:ln/>
        </p:spPr>
      </p:sp>
      <p:sp>
        <p:nvSpPr>
          <p:cNvPr id="21" name="Shape 19"/>
          <p:cNvSpPr/>
          <p:nvPr/>
        </p:nvSpPr>
        <p:spPr>
          <a:xfrm>
            <a:off x="6949440" y="2569464"/>
            <a:ext cx="3840480" cy="512064"/>
          </a:xfrm>
          <a:prstGeom prst="roundRect">
            <a:avLst>
              <a:gd name="adj" fmla="val 10714"/>
            </a:avLst>
          </a:prstGeom>
          <a:solidFill>
            <a:srgbClr val="E5F3F2"/>
          </a:solidFill>
          <a:ln w="12700">
            <a:solidFill>
              <a:srgbClr val="0E7C86"/>
            </a:solidFill>
            <a:prstDash val="solid"/>
          </a:ln>
        </p:spPr>
      </p:sp>
      <p:sp>
        <p:nvSpPr>
          <p:cNvPr id="22" name="Text 20"/>
          <p:cNvSpPr/>
          <p:nvPr/>
        </p:nvSpPr>
        <p:spPr>
          <a:xfrm>
            <a:off x="7040880" y="2569464"/>
            <a:ext cx="3657600" cy="512064"/>
          </a:xfrm>
          <a:prstGeom prst="rect">
            <a:avLst/>
          </a:prstGeom>
          <a:noFill/>
          <a:ln/>
        </p:spPr>
        <p:txBody>
          <a:bodyPr wrap="square" lIns="0" tIns="0" rIns="0" bIns="0" rtlCol="0" anchor="ctr"/>
          <a:lstStyle/>
          <a:p>
            <a:pPr algn="ctr" indent="0" marL="0">
              <a:buNone/>
            </a:pPr>
            <a:r>
              <a:rPr lang="en-US" sz="1100" b="1" dirty="0">
                <a:solidFill>
                  <a:srgbClr val="132347"/>
                </a:solidFill>
                <a:latin typeface="Calibri" pitchFamily="34" charset="0"/>
                <a:ea typeface="Calibri" pitchFamily="34" charset="-122"/>
                <a:cs typeface="Calibri" pitchFamily="34" charset="-120"/>
              </a:rPr>
              <a:t>STANDARDIZATION</a:t>
            </a:r>
            <a:endParaRPr lang="en-US" sz="1100" dirty="0"/>
          </a:p>
        </p:txBody>
      </p:sp>
      <p:sp>
        <p:nvSpPr>
          <p:cNvPr id="23" name="Shape 21"/>
          <p:cNvSpPr/>
          <p:nvPr/>
        </p:nvSpPr>
        <p:spPr>
          <a:xfrm>
            <a:off x="8787384" y="3111703"/>
            <a:ext cx="164592" cy="140818"/>
          </a:xfrm>
          <a:prstGeom prst="downArrow">
            <a:avLst/>
          </a:prstGeom>
          <a:solidFill>
            <a:srgbClr val="0E7C86"/>
          </a:solidFill>
          <a:ln/>
        </p:spPr>
      </p:sp>
      <p:sp>
        <p:nvSpPr>
          <p:cNvPr id="24" name="Shape 22"/>
          <p:cNvSpPr/>
          <p:nvPr/>
        </p:nvSpPr>
        <p:spPr>
          <a:xfrm>
            <a:off x="6949440" y="3282696"/>
            <a:ext cx="3840480" cy="512064"/>
          </a:xfrm>
          <a:prstGeom prst="roundRect">
            <a:avLst>
              <a:gd name="adj" fmla="val 10714"/>
            </a:avLst>
          </a:prstGeom>
          <a:solidFill>
            <a:srgbClr val="E5F3F2"/>
          </a:solidFill>
          <a:ln w="12700">
            <a:solidFill>
              <a:srgbClr val="0E7C86"/>
            </a:solidFill>
            <a:prstDash val="solid"/>
          </a:ln>
        </p:spPr>
      </p:sp>
      <p:sp>
        <p:nvSpPr>
          <p:cNvPr id="25" name="Text 23"/>
          <p:cNvSpPr/>
          <p:nvPr/>
        </p:nvSpPr>
        <p:spPr>
          <a:xfrm>
            <a:off x="7040880" y="3282696"/>
            <a:ext cx="3657600" cy="512064"/>
          </a:xfrm>
          <a:prstGeom prst="rect">
            <a:avLst/>
          </a:prstGeom>
          <a:noFill/>
          <a:ln/>
        </p:spPr>
        <p:txBody>
          <a:bodyPr wrap="square" lIns="0" tIns="0" rIns="0" bIns="0" rtlCol="0" anchor="ctr"/>
          <a:lstStyle/>
          <a:p>
            <a:pPr algn="ctr" indent="0" marL="0">
              <a:buNone/>
            </a:pPr>
            <a:r>
              <a:rPr lang="en-US" sz="1100" b="1" dirty="0">
                <a:solidFill>
                  <a:srgbClr val="132347"/>
                </a:solidFill>
                <a:latin typeface="Calibri" pitchFamily="34" charset="0"/>
                <a:ea typeface="Calibri" pitchFamily="34" charset="-122"/>
                <a:cs typeface="Calibri" pitchFamily="34" charset="-120"/>
              </a:rPr>
              <a:t>DATA ANALYSIS</a:t>
            </a:r>
            <a:endParaRPr lang="en-US" sz="1100" dirty="0"/>
          </a:p>
        </p:txBody>
      </p:sp>
      <p:sp>
        <p:nvSpPr>
          <p:cNvPr id="26" name="Shape 24"/>
          <p:cNvSpPr/>
          <p:nvPr/>
        </p:nvSpPr>
        <p:spPr>
          <a:xfrm>
            <a:off x="8787384" y="3824935"/>
            <a:ext cx="164592" cy="140818"/>
          </a:xfrm>
          <a:prstGeom prst="downArrow">
            <a:avLst/>
          </a:prstGeom>
          <a:solidFill>
            <a:srgbClr val="0E7C86"/>
          </a:solidFill>
          <a:ln/>
        </p:spPr>
      </p:sp>
      <p:sp>
        <p:nvSpPr>
          <p:cNvPr id="27" name="Shape 25"/>
          <p:cNvSpPr/>
          <p:nvPr/>
        </p:nvSpPr>
        <p:spPr>
          <a:xfrm>
            <a:off x="6949440" y="3995928"/>
            <a:ext cx="3840480" cy="512064"/>
          </a:xfrm>
          <a:prstGeom prst="roundRect">
            <a:avLst>
              <a:gd name="adj" fmla="val 10714"/>
            </a:avLst>
          </a:prstGeom>
          <a:solidFill>
            <a:srgbClr val="E5F3F2"/>
          </a:solidFill>
          <a:ln w="12700">
            <a:solidFill>
              <a:srgbClr val="0E7C86"/>
            </a:solidFill>
            <a:prstDash val="solid"/>
          </a:ln>
        </p:spPr>
      </p:sp>
      <p:sp>
        <p:nvSpPr>
          <p:cNvPr id="28" name="Text 26"/>
          <p:cNvSpPr/>
          <p:nvPr/>
        </p:nvSpPr>
        <p:spPr>
          <a:xfrm>
            <a:off x="7040880" y="3995928"/>
            <a:ext cx="3657600" cy="512064"/>
          </a:xfrm>
          <a:prstGeom prst="rect">
            <a:avLst/>
          </a:prstGeom>
          <a:noFill/>
          <a:ln/>
        </p:spPr>
        <p:txBody>
          <a:bodyPr wrap="square" lIns="0" tIns="0" rIns="0" bIns="0" rtlCol="0" anchor="ctr"/>
          <a:lstStyle/>
          <a:p>
            <a:pPr algn="ctr" indent="0" marL="0">
              <a:buNone/>
            </a:pPr>
            <a:r>
              <a:rPr lang="en-US" sz="1100" b="1" dirty="0">
                <a:solidFill>
                  <a:srgbClr val="132347"/>
                </a:solidFill>
                <a:latin typeface="Calibri" pitchFamily="34" charset="0"/>
                <a:ea typeface="Calibri" pitchFamily="34" charset="-122"/>
                <a:cs typeface="Calibri" pitchFamily="34" charset="-120"/>
              </a:rPr>
              <a:t>LOOKUP FUNCTIONS</a:t>
            </a:r>
            <a:endParaRPr lang="en-US" sz="1100" dirty="0"/>
          </a:p>
        </p:txBody>
      </p:sp>
      <p:sp>
        <p:nvSpPr>
          <p:cNvPr id="29" name="Shape 27"/>
          <p:cNvSpPr/>
          <p:nvPr/>
        </p:nvSpPr>
        <p:spPr>
          <a:xfrm>
            <a:off x="8787384" y="4538167"/>
            <a:ext cx="164592" cy="140818"/>
          </a:xfrm>
          <a:prstGeom prst="downArrow">
            <a:avLst/>
          </a:prstGeom>
          <a:solidFill>
            <a:srgbClr val="0E7C86"/>
          </a:solidFill>
          <a:ln/>
        </p:spPr>
      </p:sp>
      <p:sp>
        <p:nvSpPr>
          <p:cNvPr id="30" name="Shape 28"/>
          <p:cNvSpPr/>
          <p:nvPr/>
        </p:nvSpPr>
        <p:spPr>
          <a:xfrm>
            <a:off x="6949440" y="4709160"/>
            <a:ext cx="3840480" cy="512064"/>
          </a:xfrm>
          <a:prstGeom prst="roundRect">
            <a:avLst>
              <a:gd name="adj" fmla="val 10714"/>
            </a:avLst>
          </a:prstGeom>
          <a:solidFill>
            <a:srgbClr val="0E7C86"/>
          </a:solidFill>
          <a:ln w="12700">
            <a:solidFill>
              <a:srgbClr val="0E7C86"/>
            </a:solidFill>
            <a:prstDash val="solid"/>
          </a:ln>
        </p:spPr>
      </p:sp>
      <p:sp>
        <p:nvSpPr>
          <p:cNvPr id="31" name="Text 29"/>
          <p:cNvSpPr/>
          <p:nvPr/>
        </p:nvSpPr>
        <p:spPr>
          <a:xfrm>
            <a:off x="7040880" y="4709160"/>
            <a:ext cx="365760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FINAL INSIGHTS</a:t>
            </a:r>
            <a:endParaRPr lang="en-US" sz="1100" dirty="0"/>
          </a:p>
        </p:txBody>
      </p:sp>
      <p:sp>
        <p:nvSpPr>
          <p:cNvPr id="32" name="Text 3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7484"/>
                </a:solidFill>
                <a:latin typeface="Calibri" pitchFamily="34" charset="0"/>
                <a:ea typeface="Calibri" pitchFamily="34" charset="-122"/>
                <a:cs typeface="Calibri" pitchFamily="34" charset="-120"/>
              </a:rPr>
              <a:t>About This Presentation</a:t>
            </a:r>
            <a:endParaRPr lang="en-US" sz="900" dirty="0"/>
          </a:p>
        </p:txBody>
      </p:sp>
      <p:sp>
        <p:nvSpPr>
          <p:cNvPr id="33" name="Text 31"/>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6B7484"/>
                </a:solidFill>
                <a:latin typeface="Calibri" pitchFamily="34" charset="0"/>
                <a:ea typeface="Calibri" pitchFamily="34" charset="-122"/>
                <a:cs typeface="Calibri" pitchFamily="34" charset="-120"/>
              </a:rPr>
              <a:t>02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sp>
      <p:sp>
        <p:nvSpPr>
          <p:cNvPr id="3" name="Text 1"/>
          <p:cNvSpPr/>
          <p:nvPr/>
        </p:nvSpPr>
        <p:spPr>
          <a:xfrm>
            <a:off x="457200" y="384048"/>
            <a:ext cx="86868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 · Q1</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algn="l" indent="0" marL="0">
              <a:buNone/>
            </a:pPr>
            <a:r>
              <a:rPr lang="en-US" sz="2200" b="1" dirty="0">
                <a:solidFill>
                  <a:srgbClr val="132347"/>
                </a:solidFill>
                <a:latin typeface="Cambria" pitchFamily="34" charset="0"/>
                <a:ea typeface="Cambria" pitchFamily="34" charset="-122"/>
                <a:cs typeface="Cambria" pitchFamily="34" charset="-120"/>
              </a:rPr>
              <a:t>Check for Duplicate Values and Remove Them</a:t>
            </a:r>
            <a:endParaRPr lang="en-US" sz="2200" dirty="0"/>
          </a:p>
        </p:txBody>
      </p:sp>
      <p:sp>
        <p:nvSpPr>
          <p:cNvPr id="5" name="Shape 3"/>
          <p:cNvSpPr/>
          <p:nvPr/>
        </p:nvSpPr>
        <p:spPr>
          <a:xfrm>
            <a:off x="457200" y="1097280"/>
            <a:ext cx="10817352" cy="566928"/>
          </a:xfrm>
          <a:prstGeom prst="roundRect">
            <a:avLst>
              <a:gd name="adj" fmla="val 9677"/>
            </a:avLst>
          </a:prstGeom>
          <a:solidFill>
            <a:srgbClr val="E5F3F2"/>
          </a:solidFill>
          <a:ln/>
        </p:spPr>
      </p:sp>
      <p:sp>
        <p:nvSpPr>
          <p:cNvPr id="6" name="Text 4"/>
          <p:cNvSpPr/>
          <p:nvPr/>
        </p:nvSpPr>
        <p:spPr>
          <a:xfrm>
            <a:off x="640080" y="1097280"/>
            <a:ext cx="10424160" cy="566928"/>
          </a:xfrm>
          <a:prstGeom prst="rect">
            <a:avLst/>
          </a:prstGeom>
          <a:noFill/>
          <a:ln/>
        </p:spPr>
        <p:txBody>
          <a:bodyPr wrap="square" lIns="0" tIns="0" rIns="0" bIns="0" rtlCol="0" anchor="ctr"/>
          <a:lstStyle/>
          <a:p>
            <a:pPr indent="0" marL="0">
              <a:buNone/>
            </a:pPr>
            <a:r>
              <a:rPr lang="en-US" sz="1300" i="1" dirty="0">
                <a:solidFill>
                  <a:srgbClr val="132347"/>
                </a:solidFill>
                <a:latin typeface="Calibri" pitchFamily="34" charset="0"/>
                <a:ea typeface="Calibri" pitchFamily="34" charset="-122"/>
                <a:cs typeface="Calibri" pitchFamily="34" charset="-120"/>
              </a:rPr>
              <a:t>"Check for duplicate values in your dataset and remove them."</a:t>
            </a:r>
            <a:endParaRPr lang="en-US" sz="1300" dirty="0"/>
          </a:p>
        </p:txBody>
      </p:sp>
      <p:sp>
        <p:nvSpPr>
          <p:cNvPr id="7" name="Shape 5"/>
          <p:cNvSpPr/>
          <p:nvPr/>
        </p:nvSpPr>
        <p:spPr>
          <a:xfrm>
            <a:off x="457200" y="1965960"/>
            <a:ext cx="3108960" cy="1554480"/>
          </a:xfrm>
          <a:prstGeom prst="roundRect">
            <a:avLst>
              <a:gd name="adj" fmla="val 5882"/>
            </a:avLst>
          </a:prstGeom>
          <a:solidFill>
            <a:srgbClr val="132347"/>
          </a:solidFill>
          <a:ln/>
          <a:effectLst>
            <a:outerShdw sx="100000" sy="100000" kx="0" ky="0" algn="bl" rotWithShape="0" blurRad="76200" dist="38100" dir="5400000">
              <a:srgbClr val="1B2233">
                <a:alpha val="25000"/>
              </a:srgbClr>
            </a:outerShdw>
          </a:effectLst>
        </p:spPr>
      </p:sp>
      <p:sp>
        <p:nvSpPr>
          <p:cNvPr id="8" name="Text 6"/>
          <p:cNvSpPr/>
          <p:nvPr/>
        </p:nvSpPr>
        <p:spPr>
          <a:xfrm>
            <a:off x="685800" y="2130552"/>
            <a:ext cx="2651760" cy="274320"/>
          </a:xfrm>
          <a:prstGeom prst="rect">
            <a:avLst/>
          </a:prstGeom>
          <a:noFill/>
          <a:ln/>
        </p:spPr>
        <p:txBody>
          <a:bodyPr wrap="square" lIns="0" tIns="0" rIns="0" bIns="0" rtlCol="0" anchor="ctr"/>
          <a:lstStyle/>
          <a:p>
            <a:pPr algn="l" indent="0" marL="0">
              <a:buNone/>
            </a:pPr>
            <a:r>
              <a:rPr lang="en-US" sz="1100" b="1" spc="100" kern="0" dirty="0">
                <a:solidFill>
                  <a:srgbClr val="17A398"/>
                </a:solidFill>
                <a:latin typeface="Calibri" pitchFamily="34" charset="0"/>
                <a:ea typeface="Calibri" pitchFamily="34" charset="-122"/>
                <a:cs typeface="Calibri" pitchFamily="34" charset="-120"/>
              </a:rPr>
              <a:t>DUPLICATE ROWS FOUND</a:t>
            </a:r>
            <a:endParaRPr lang="en-US" sz="1100" dirty="0"/>
          </a:p>
        </p:txBody>
      </p:sp>
      <p:sp>
        <p:nvSpPr>
          <p:cNvPr id="9" name="Text 7"/>
          <p:cNvSpPr/>
          <p:nvPr/>
        </p:nvSpPr>
        <p:spPr>
          <a:xfrm>
            <a:off x="685800" y="2350008"/>
            <a:ext cx="2651760" cy="86868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0</a:t>
            </a:r>
            <a:endParaRPr lang="en-US" sz="3400" dirty="0"/>
          </a:p>
        </p:txBody>
      </p:sp>
      <p:sp>
        <p:nvSpPr>
          <p:cNvPr id="10" name="Text 8"/>
          <p:cNvSpPr/>
          <p:nvPr/>
        </p:nvSpPr>
        <p:spPr>
          <a:xfrm>
            <a:off x="685800" y="3191256"/>
            <a:ext cx="2651760" cy="274320"/>
          </a:xfrm>
          <a:prstGeom prst="rect">
            <a:avLst/>
          </a:prstGeom>
          <a:noFill/>
          <a:ln/>
        </p:spPr>
        <p:txBody>
          <a:bodyPr wrap="square" lIns="0" tIns="0" rIns="0" bIns="0" rtlCol="0" anchor="ctr"/>
          <a:lstStyle/>
          <a:p>
            <a:pPr algn="l" indent="0" marL="0">
              <a:buNone/>
            </a:pPr>
            <a:r>
              <a:rPr lang="en-US" sz="1050" dirty="0">
                <a:solidFill>
                  <a:srgbClr val="C9D6E3"/>
                </a:solidFill>
                <a:latin typeface="Calibri" pitchFamily="34" charset="0"/>
                <a:ea typeface="Calibri" pitchFamily="34" charset="-122"/>
                <a:cs typeface="Calibri" pitchFamily="34" charset="-120"/>
              </a:rPr>
              <a:t>checked full row + Product_id</a:t>
            </a:r>
            <a:endParaRPr lang="en-US" sz="1050" dirty="0"/>
          </a:p>
        </p:txBody>
      </p:sp>
      <p:sp>
        <p:nvSpPr>
          <p:cNvPr id="11" name="Shape 9"/>
          <p:cNvSpPr/>
          <p:nvPr/>
        </p:nvSpPr>
        <p:spPr>
          <a:xfrm>
            <a:off x="3794760" y="1965960"/>
            <a:ext cx="3108960" cy="1554480"/>
          </a:xfrm>
          <a:prstGeom prst="roundRect">
            <a:avLst>
              <a:gd name="adj" fmla="val 5882"/>
            </a:avLst>
          </a:prstGeom>
          <a:solidFill>
            <a:srgbClr val="132347"/>
          </a:solidFill>
          <a:ln/>
          <a:effectLst>
            <a:outerShdw sx="100000" sy="100000" kx="0" ky="0" algn="bl" rotWithShape="0" blurRad="76200" dist="38100" dir="5400000">
              <a:srgbClr val="1B2233">
                <a:alpha val="25000"/>
              </a:srgbClr>
            </a:outerShdw>
          </a:effectLst>
        </p:spPr>
      </p:sp>
      <p:sp>
        <p:nvSpPr>
          <p:cNvPr id="12" name="Text 10"/>
          <p:cNvSpPr/>
          <p:nvPr/>
        </p:nvSpPr>
        <p:spPr>
          <a:xfrm>
            <a:off x="4023360" y="2130552"/>
            <a:ext cx="2651760" cy="274320"/>
          </a:xfrm>
          <a:prstGeom prst="rect">
            <a:avLst/>
          </a:prstGeom>
          <a:noFill/>
          <a:ln/>
        </p:spPr>
        <p:txBody>
          <a:bodyPr wrap="square" lIns="0" tIns="0" rIns="0" bIns="0" rtlCol="0" anchor="ctr"/>
          <a:lstStyle/>
          <a:p>
            <a:pPr algn="l" indent="0" marL="0">
              <a:buNone/>
            </a:pPr>
            <a:r>
              <a:rPr lang="en-US" sz="1100" b="1" spc="100" kern="0" dirty="0">
                <a:solidFill>
                  <a:srgbClr val="17A398"/>
                </a:solidFill>
                <a:latin typeface="Calibri" pitchFamily="34" charset="0"/>
                <a:ea typeface="Calibri" pitchFamily="34" charset="-122"/>
                <a:cs typeface="Calibri" pitchFamily="34" charset="-120"/>
              </a:rPr>
              <a:t>TOTAL RECORDS CHECKED</a:t>
            </a:r>
            <a:endParaRPr lang="en-US" sz="1100" dirty="0"/>
          </a:p>
        </p:txBody>
      </p:sp>
      <p:sp>
        <p:nvSpPr>
          <p:cNvPr id="13" name="Text 11"/>
          <p:cNvSpPr/>
          <p:nvPr/>
        </p:nvSpPr>
        <p:spPr>
          <a:xfrm>
            <a:off x="4023360" y="2350008"/>
            <a:ext cx="2651760" cy="86868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1,000</a:t>
            </a:r>
            <a:endParaRPr lang="en-US" sz="3400" dirty="0"/>
          </a:p>
        </p:txBody>
      </p:sp>
      <p:sp>
        <p:nvSpPr>
          <p:cNvPr id="14" name="Text 12"/>
          <p:cNvSpPr/>
          <p:nvPr/>
        </p:nvSpPr>
        <p:spPr>
          <a:xfrm>
            <a:off x="4023360" y="3191256"/>
            <a:ext cx="2651760" cy="274320"/>
          </a:xfrm>
          <a:prstGeom prst="rect">
            <a:avLst/>
          </a:prstGeom>
          <a:noFill/>
          <a:ln/>
        </p:spPr>
        <p:txBody>
          <a:bodyPr wrap="square" lIns="0" tIns="0" rIns="0" bIns="0" rtlCol="0" anchor="ctr"/>
          <a:lstStyle/>
          <a:p>
            <a:pPr algn="l" indent="0" marL="0">
              <a:buNone/>
            </a:pPr>
            <a:r>
              <a:rPr lang="en-US" sz="1050" dirty="0">
                <a:solidFill>
                  <a:srgbClr val="C9D6E3"/>
                </a:solidFill>
                <a:latin typeface="Calibri" pitchFamily="34" charset="0"/>
                <a:ea typeface="Calibri" pitchFamily="34" charset="-122"/>
                <a:cs typeface="Calibri" pitchFamily="34" charset="-120"/>
              </a:rPr>
              <a:t>across 19 columns</a:t>
            </a:r>
            <a:endParaRPr lang="en-US" sz="1050" dirty="0"/>
          </a:p>
        </p:txBody>
      </p:sp>
      <p:sp>
        <p:nvSpPr>
          <p:cNvPr id="15" name="Shape 13"/>
          <p:cNvSpPr/>
          <p:nvPr/>
        </p:nvSpPr>
        <p:spPr>
          <a:xfrm>
            <a:off x="7360920" y="1965960"/>
            <a:ext cx="1554480" cy="1554480"/>
          </a:xfrm>
          <a:prstGeom prst="ellipse">
            <a:avLst/>
          </a:prstGeom>
          <a:solidFill>
            <a:srgbClr val="0E7C86"/>
          </a:solidFill>
          <a:ln/>
        </p:spPr>
      </p:sp>
      <p:sp>
        <p:nvSpPr>
          <p:cNvPr id="16" name="Text 14"/>
          <p:cNvSpPr/>
          <p:nvPr/>
        </p:nvSpPr>
        <p:spPr>
          <a:xfrm>
            <a:off x="7360920" y="196596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libri" pitchFamily="34" charset="0"/>
                <a:ea typeface="Calibri" pitchFamily="34" charset="-122"/>
                <a:cs typeface="Calibri" pitchFamily="34" charset="-120"/>
              </a:rPr>
              <a:t>✓</a:t>
            </a:r>
            <a:endParaRPr lang="en-US" sz="6000" dirty="0"/>
          </a:p>
        </p:txBody>
      </p:sp>
      <p:sp>
        <p:nvSpPr>
          <p:cNvPr id="17" name="Text 15"/>
          <p:cNvSpPr/>
          <p:nvPr/>
        </p:nvSpPr>
        <p:spPr>
          <a:xfrm>
            <a:off x="7360920" y="3566160"/>
            <a:ext cx="3474720" cy="365760"/>
          </a:xfrm>
          <a:prstGeom prst="rect">
            <a:avLst/>
          </a:prstGeom>
          <a:noFill/>
          <a:ln/>
        </p:spPr>
        <p:txBody>
          <a:bodyPr wrap="square" lIns="0" tIns="0" rIns="0" bIns="0" rtlCol="0" anchor="ctr"/>
          <a:lstStyle/>
          <a:p>
            <a:pPr algn="ctr" indent="0" marL="0">
              <a:buNone/>
            </a:pPr>
            <a:r>
              <a:rPr lang="en-US" sz="1150" b="1" dirty="0">
                <a:solidFill>
                  <a:srgbClr val="0E7C86"/>
                </a:solidFill>
                <a:latin typeface="Calibri" pitchFamily="34" charset="0"/>
                <a:ea typeface="Calibri" pitchFamily="34" charset="-122"/>
                <a:cs typeface="Calibri" pitchFamily="34" charset="-120"/>
              </a:rPr>
              <a:t>Final status: unique dataset</a:t>
            </a:r>
            <a:endParaRPr lang="en-US" sz="1150" dirty="0"/>
          </a:p>
        </p:txBody>
      </p:sp>
      <p:sp>
        <p:nvSpPr>
          <p:cNvPr id="18" name="Text 16"/>
          <p:cNvSpPr/>
          <p:nvPr/>
        </p:nvSpPr>
        <p:spPr>
          <a:xfrm>
            <a:off x="457200" y="4160520"/>
            <a:ext cx="6583680" cy="274320"/>
          </a:xfrm>
          <a:prstGeom prst="rect">
            <a:avLst/>
          </a:prstGeom>
          <a:noFill/>
          <a:ln/>
        </p:spPr>
        <p:txBody>
          <a:bodyPr wrap="square" lIns="0" tIns="0" rIns="0" bIns="0" rtlCol="0" anchor="ctr"/>
          <a:lstStyle/>
          <a:p>
            <a:pPr indent="0" marL="0">
              <a:buNone/>
            </a:pPr>
            <a:r>
              <a:rPr lang="en-US" sz="1100" b="1" dirty="0">
                <a:solidFill>
                  <a:srgbClr val="132347"/>
                </a:solidFill>
                <a:latin typeface="Calibri" pitchFamily="34" charset="0"/>
                <a:ea typeface="Calibri" pitchFamily="34" charset="-122"/>
                <a:cs typeface="Calibri" pitchFamily="34" charset="-120"/>
              </a:rPr>
              <a:t>DATASET → CHECK DUPLICATES → DUPLICATES FOUND?</a:t>
            </a:r>
            <a:endParaRPr lang="en-US" sz="1100" dirty="0"/>
          </a:p>
        </p:txBody>
      </p:sp>
      <p:sp>
        <p:nvSpPr>
          <p:cNvPr id="19" name="Shape 17"/>
          <p:cNvSpPr/>
          <p:nvPr/>
        </p:nvSpPr>
        <p:spPr>
          <a:xfrm>
            <a:off x="457200" y="4526280"/>
            <a:ext cx="3017520" cy="502920"/>
          </a:xfrm>
          <a:prstGeom prst="roundRect">
            <a:avLst>
              <a:gd name="adj" fmla="val 10909"/>
            </a:avLst>
          </a:prstGeom>
          <a:solidFill>
            <a:srgbClr val="6B7484"/>
          </a:solidFill>
          <a:ln/>
        </p:spPr>
      </p:sp>
      <p:sp>
        <p:nvSpPr>
          <p:cNvPr id="20" name="Text 18"/>
          <p:cNvSpPr/>
          <p:nvPr/>
        </p:nvSpPr>
        <p:spPr>
          <a:xfrm>
            <a:off x="457200" y="4526280"/>
            <a:ext cx="30175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YES → REMOVE</a:t>
            </a:r>
            <a:endParaRPr lang="en-US" sz="1200" dirty="0"/>
          </a:p>
        </p:txBody>
      </p:sp>
      <p:sp>
        <p:nvSpPr>
          <p:cNvPr id="21" name="Shape 19"/>
          <p:cNvSpPr/>
          <p:nvPr/>
        </p:nvSpPr>
        <p:spPr>
          <a:xfrm>
            <a:off x="3520440" y="4649724"/>
            <a:ext cx="457200" cy="256032"/>
          </a:xfrm>
          <a:prstGeom prst="rightArrow">
            <a:avLst/>
          </a:prstGeom>
          <a:solidFill>
            <a:srgbClr val="6B7484"/>
          </a:solidFill>
          <a:ln/>
        </p:spPr>
      </p:sp>
      <p:sp>
        <p:nvSpPr>
          <p:cNvPr id="22" name="Shape 20"/>
          <p:cNvSpPr/>
          <p:nvPr/>
        </p:nvSpPr>
        <p:spPr>
          <a:xfrm>
            <a:off x="4023360" y="4526280"/>
            <a:ext cx="3017520" cy="502920"/>
          </a:xfrm>
          <a:prstGeom prst="roundRect">
            <a:avLst>
              <a:gd name="adj" fmla="val 10909"/>
            </a:avLst>
          </a:prstGeom>
          <a:solidFill>
            <a:srgbClr val="0E7C86"/>
          </a:solidFill>
          <a:ln/>
        </p:spPr>
      </p:sp>
      <p:sp>
        <p:nvSpPr>
          <p:cNvPr id="23" name="Text 21"/>
          <p:cNvSpPr/>
          <p:nvPr/>
        </p:nvSpPr>
        <p:spPr>
          <a:xfrm>
            <a:off x="4023360" y="4526280"/>
            <a:ext cx="30175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 → KEEP  ✓</a:t>
            </a:r>
            <a:endParaRPr lang="en-US" sz="1200" dirty="0"/>
          </a:p>
        </p:txBody>
      </p:sp>
      <p:sp>
        <p:nvSpPr>
          <p:cNvPr id="24" name="Shape 22"/>
          <p:cNvSpPr/>
          <p:nvPr/>
        </p:nvSpPr>
        <p:spPr>
          <a:xfrm>
            <a:off x="457200" y="5257800"/>
            <a:ext cx="10817352" cy="914400"/>
          </a:xfrm>
          <a:prstGeom prst="roundRect">
            <a:avLst>
              <a:gd name="adj" fmla="val 8000"/>
            </a:avLst>
          </a:prstGeom>
          <a:solidFill>
            <a:srgbClr val="F5F7F9"/>
          </a:solidFill>
          <a:ln w="12700">
            <a:solidFill>
              <a:srgbClr val="DCE2E8"/>
            </a:solidFill>
            <a:prstDash val="solid"/>
          </a:ln>
        </p:spPr>
      </p:sp>
      <p:sp>
        <p:nvSpPr>
          <p:cNvPr id="25" name="Text 23"/>
          <p:cNvSpPr/>
          <p:nvPr/>
        </p:nvSpPr>
        <p:spPr>
          <a:xfrm>
            <a:off x="640080" y="5349240"/>
            <a:ext cx="10451592" cy="219456"/>
          </a:xfrm>
          <a:prstGeom prst="rect">
            <a:avLst/>
          </a:prstGeom>
          <a:noFill/>
          <a:ln/>
        </p:spPr>
        <p:txBody>
          <a:bodyPr wrap="square" lIns="0" tIns="0" rIns="0" bIns="0" rtlCol="0" anchor="ctr"/>
          <a:lstStyle/>
          <a:p>
            <a:pPr indent="0" marL="0">
              <a:buNone/>
            </a:pPr>
            <a:r>
              <a:rPr lang="en-US" sz="900" b="1" spc="100" kern="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26" name="Text 24"/>
          <p:cNvSpPr/>
          <p:nvPr/>
        </p:nvSpPr>
        <p:spPr>
          <a:xfrm>
            <a:off x="640080" y="5550408"/>
            <a:ext cx="10451592" cy="292608"/>
          </a:xfrm>
          <a:prstGeom prst="rect">
            <a:avLst/>
          </a:prstGeom>
          <a:noFill/>
          <a:ln/>
        </p:spPr>
        <p:txBody>
          <a:bodyPr wrap="square" lIns="0" tIns="0" rIns="0" bIns="0" rtlCol="0" anchor="t">
            <a:normAutofit/>
          </a:bodyPr>
          <a:lstStyle/>
          <a:p>
            <a:pPr indent="0" marL="0">
              <a:buNone/>
            </a:pPr>
            <a:r>
              <a:rPr lang="en-US" sz="1250" dirty="0">
                <a:solidFill>
                  <a:srgbClr val="132347"/>
                </a:solidFill>
                <a:latin typeface="Courier New" pitchFamily="34" charset="0"/>
                <a:ea typeface="Courier New" pitchFamily="34" charset="-122"/>
                <a:cs typeface="Courier New" pitchFamily="34" charset="-120"/>
              </a:rPr>
              <a:t>=SUMPRODUCT((COUNTIFS($B$2:$B$1001,$B$2:$B$1001)&gt;1)*1)   →   Result: 0</a:t>
            </a:r>
            <a:endParaRPr lang="en-US" sz="1250" dirty="0"/>
          </a:p>
        </p:txBody>
      </p:sp>
      <p:sp>
        <p:nvSpPr>
          <p:cNvPr id="27" name="Text 25"/>
          <p:cNvSpPr/>
          <p:nvPr/>
        </p:nvSpPr>
        <p:spPr>
          <a:xfrm>
            <a:off x="640080" y="5861304"/>
            <a:ext cx="10451592" cy="256032"/>
          </a:xfrm>
          <a:prstGeom prst="rect">
            <a:avLst/>
          </a:prstGeom>
          <a:noFill/>
          <a:ln/>
        </p:spPr>
        <p:txBody>
          <a:bodyPr wrap="square" lIns="0" tIns="0" rIns="0" bIns="0" rtlCol="0" anchor="ctr"/>
          <a:lstStyle/>
          <a:p>
            <a:pPr indent="0" marL="0">
              <a:buNone/>
            </a:pPr>
            <a:r>
              <a:rPr lang="en-US" sz="950" i="1" dirty="0">
                <a:solidFill>
                  <a:srgbClr val="6B7484"/>
                </a:solidFill>
                <a:latin typeface="Calibri" pitchFamily="34" charset="0"/>
                <a:ea typeface="Calibri" pitchFamily="34" charset="-122"/>
                <a:cs typeface="Calibri" pitchFamily="34" charset="-120"/>
              </a:rPr>
              <a:t>Cross-checked on full-row match and on Product_id alone — both return zero duplicates.</a:t>
            </a:r>
            <a:endParaRPr lang="en-US" sz="950" dirty="0"/>
          </a:p>
        </p:txBody>
      </p:sp>
      <p:sp>
        <p:nvSpPr>
          <p:cNvPr id="28"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7484"/>
                </a:solidFill>
                <a:latin typeface="Calibri" pitchFamily="34" charset="0"/>
                <a:ea typeface="Calibri" pitchFamily="34" charset="-122"/>
                <a:cs typeface="Calibri" pitchFamily="34" charset="-120"/>
              </a:rPr>
              <a:t>Data Cleaning — Q1</a:t>
            </a:r>
            <a:endParaRPr lang="en-US" sz="900" dirty="0"/>
          </a:p>
        </p:txBody>
      </p:sp>
      <p:sp>
        <p:nvSpPr>
          <p:cNvPr id="29" name="Text 27"/>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6B7484"/>
                </a:solidFill>
                <a:latin typeface="Calibri" pitchFamily="34" charset="0"/>
                <a:ea typeface="Calibri" pitchFamily="34" charset="-122"/>
                <a:cs typeface="Calibri" pitchFamily="34" charset="-120"/>
              </a:rPr>
              <a:t>03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sp>
      <p:sp>
        <p:nvSpPr>
          <p:cNvPr id="3" name="Text 1"/>
          <p:cNvSpPr/>
          <p:nvPr/>
        </p:nvSpPr>
        <p:spPr>
          <a:xfrm>
            <a:off x="457200" y="384048"/>
            <a:ext cx="86868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 · Q2</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algn="l" indent="0" marL="0">
              <a:buNone/>
            </a:pPr>
            <a:r>
              <a:rPr lang="en-US" sz="2200" b="1" dirty="0">
                <a:solidFill>
                  <a:srgbClr val="132347"/>
                </a:solidFill>
                <a:latin typeface="Cambria" pitchFamily="34" charset="0"/>
                <a:ea typeface="Cambria" pitchFamily="34" charset="-122"/>
                <a:cs typeface="Cambria" pitchFamily="34" charset="-120"/>
              </a:rPr>
              <a:t>Standardize the "DiscountOffer" Column</a:t>
            </a:r>
            <a:endParaRPr lang="en-US" sz="2200" dirty="0"/>
          </a:p>
        </p:txBody>
      </p:sp>
      <p:sp>
        <p:nvSpPr>
          <p:cNvPr id="5" name="Shape 3"/>
          <p:cNvSpPr/>
          <p:nvPr/>
        </p:nvSpPr>
        <p:spPr>
          <a:xfrm>
            <a:off x="457200" y="1097280"/>
            <a:ext cx="10817352" cy="566928"/>
          </a:xfrm>
          <a:prstGeom prst="roundRect">
            <a:avLst>
              <a:gd name="adj" fmla="val 9677"/>
            </a:avLst>
          </a:prstGeom>
          <a:solidFill>
            <a:srgbClr val="E5F3F2"/>
          </a:solidFill>
          <a:ln/>
        </p:spPr>
      </p:sp>
      <p:sp>
        <p:nvSpPr>
          <p:cNvPr id="6" name="Text 4"/>
          <p:cNvSpPr/>
          <p:nvPr/>
        </p:nvSpPr>
        <p:spPr>
          <a:xfrm>
            <a:off x="640080" y="1097280"/>
            <a:ext cx="10424160" cy="566928"/>
          </a:xfrm>
          <a:prstGeom prst="rect">
            <a:avLst/>
          </a:prstGeom>
          <a:noFill/>
          <a:ln/>
        </p:spPr>
        <p:txBody>
          <a:bodyPr wrap="square" lIns="0" tIns="0" rIns="0" bIns="0" rtlCol="0" anchor="ctr"/>
          <a:lstStyle/>
          <a:p>
            <a:pPr indent="0" marL="0">
              <a:buNone/>
            </a:pPr>
            <a:r>
              <a:rPr lang="en-US" sz="1300" i="1" dirty="0">
                <a:solidFill>
                  <a:srgbClr val="132347"/>
                </a:solidFill>
                <a:latin typeface="Calibri" pitchFamily="34" charset="0"/>
                <a:ea typeface="Calibri" pitchFamily="34" charset="-122"/>
                <a:cs typeface="Calibri" pitchFamily="34" charset="-120"/>
              </a:rPr>
              <a:t>"Standardize the DiscountOffer column to a single format, ensuring all values are uniform."</a:t>
            </a:r>
            <a:endParaRPr lang="en-US" sz="1300" dirty="0"/>
          </a:p>
        </p:txBody>
      </p:sp>
      <p:sp>
        <p:nvSpPr>
          <p:cNvPr id="7" name="Shape 5"/>
          <p:cNvSpPr/>
          <p:nvPr/>
        </p:nvSpPr>
        <p:spPr>
          <a:xfrm>
            <a:off x="457200" y="1965960"/>
            <a:ext cx="3108960" cy="1371600"/>
          </a:xfrm>
          <a:prstGeom prst="roundRect">
            <a:avLst>
              <a:gd name="adj" fmla="val 6667"/>
            </a:avLst>
          </a:prstGeom>
          <a:solidFill>
            <a:srgbClr val="132347"/>
          </a:solidFill>
          <a:ln/>
          <a:effectLst>
            <a:outerShdw sx="100000" sy="100000" kx="0" ky="0" algn="bl" rotWithShape="0" blurRad="76200" dist="38100" dir="5400000">
              <a:srgbClr val="1B2233">
                <a:alpha val="25000"/>
              </a:srgbClr>
            </a:outerShdw>
          </a:effectLst>
        </p:spPr>
      </p:sp>
      <p:sp>
        <p:nvSpPr>
          <p:cNvPr id="8" name="Text 6"/>
          <p:cNvSpPr/>
          <p:nvPr/>
        </p:nvSpPr>
        <p:spPr>
          <a:xfrm>
            <a:off x="685800" y="2130552"/>
            <a:ext cx="2651760" cy="274320"/>
          </a:xfrm>
          <a:prstGeom prst="rect">
            <a:avLst/>
          </a:prstGeom>
          <a:noFill/>
          <a:ln/>
        </p:spPr>
        <p:txBody>
          <a:bodyPr wrap="square" lIns="0" tIns="0" rIns="0" bIns="0" rtlCol="0" anchor="ctr"/>
          <a:lstStyle/>
          <a:p>
            <a:pPr algn="l" indent="0" marL="0">
              <a:buNone/>
            </a:pPr>
            <a:r>
              <a:rPr lang="en-US" sz="1100" b="1" spc="100" kern="0" dirty="0">
                <a:solidFill>
                  <a:srgbClr val="17A398"/>
                </a:solidFill>
                <a:latin typeface="Calibri" pitchFamily="34" charset="0"/>
                <a:ea typeface="Calibri" pitchFamily="34" charset="-122"/>
                <a:cs typeface="Calibri" pitchFamily="34" charset="-120"/>
              </a:rPr>
              <a:t>UNIQUE RAW FORMATS</a:t>
            </a:r>
            <a:endParaRPr lang="en-US" sz="1100" dirty="0"/>
          </a:p>
        </p:txBody>
      </p:sp>
      <p:sp>
        <p:nvSpPr>
          <p:cNvPr id="9" name="Text 7"/>
          <p:cNvSpPr/>
          <p:nvPr/>
        </p:nvSpPr>
        <p:spPr>
          <a:xfrm>
            <a:off x="685800" y="2350008"/>
            <a:ext cx="2651760" cy="68580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71</a:t>
            </a:r>
            <a:endParaRPr lang="en-US" sz="3400" dirty="0"/>
          </a:p>
        </p:txBody>
      </p:sp>
      <p:sp>
        <p:nvSpPr>
          <p:cNvPr id="10" name="Text 8"/>
          <p:cNvSpPr/>
          <p:nvPr/>
        </p:nvSpPr>
        <p:spPr>
          <a:xfrm>
            <a:off x="685800" y="3008376"/>
            <a:ext cx="2651760" cy="274320"/>
          </a:xfrm>
          <a:prstGeom prst="rect">
            <a:avLst/>
          </a:prstGeom>
          <a:noFill/>
          <a:ln/>
        </p:spPr>
        <p:txBody>
          <a:bodyPr wrap="square" lIns="0" tIns="0" rIns="0" bIns="0" rtlCol="0" anchor="ctr"/>
          <a:lstStyle/>
          <a:p>
            <a:pPr algn="l" indent="0" marL="0">
              <a:buNone/>
            </a:pPr>
            <a:r>
              <a:rPr lang="en-US" sz="1050" dirty="0">
                <a:solidFill>
                  <a:srgbClr val="C9D6E3"/>
                </a:solidFill>
                <a:latin typeface="Calibri" pitchFamily="34" charset="0"/>
                <a:ea typeface="Calibri" pitchFamily="34" charset="-122"/>
                <a:cs typeface="Calibri" pitchFamily="34" charset="-120"/>
              </a:rPr>
              <a:t>e.g. "45% OFF", "55% OFF"</a:t>
            </a:r>
            <a:endParaRPr lang="en-US" sz="1050" dirty="0"/>
          </a:p>
        </p:txBody>
      </p:sp>
      <p:sp>
        <p:nvSpPr>
          <p:cNvPr id="11" name="Shape 9"/>
          <p:cNvSpPr/>
          <p:nvPr/>
        </p:nvSpPr>
        <p:spPr>
          <a:xfrm>
            <a:off x="3794760" y="1965960"/>
            <a:ext cx="3108960" cy="1371600"/>
          </a:xfrm>
          <a:prstGeom prst="roundRect">
            <a:avLst>
              <a:gd name="adj" fmla="val 6667"/>
            </a:avLst>
          </a:prstGeom>
          <a:solidFill>
            <a:srgbClr val="132347"/>
          </a:solidFill>
          <a:ln/>
          <a:effectLst>
            <a:outerShdw sx="100000" sy="100000" kx="0" ky="0" algn="bl" rotWithShape="0" blurRad="76200" dist="38100" dir="5400000">
              <a:srgbClr val="1B2233">
                <a:alpha val="25000"/>
              </a:srgbClr>
            </a:outerShdw>
          </a:effectLst>
        </p:spPr>
      </p:sp>
      <p:sp>
        <p:nvSpPr>
          <p:cNvPr id="12" name="Text 10"/>
          <p:cNvSpPr/>
          <p:nvPr/>
        </p:nvSpPr>
        <p:spPr>
          <a:xfrm>
            <a:off x="4023360" y="2130552"/>
            <a:ext cx="2651760" cy="274320"/>
          </a:xfrm>
          <a:prstGeom prst="rect">
            <a:avLst/>
          </a:prstGeom>
          <a:noFill/>
          <a:ln/>
        </p:spPr>
        <p:txBody>
          <a:bodyPr wrap="square" lIns="0" tIns="0" rIns="0" bIns="0" rtlCol="0" anchor="ctr"/>
          <a:lstStyle/>
          <a:p>
            <a:pPr algn="l" indent="0" marL="0">
              <a:buNone/>
            </a:pPr>
            <a:r>
              <a:rPr lang="en-US" sz="1100" b="1" spc="100" kern="0" dirty="0">
                <a:solidFill>
                  <a:srgbClr val="17A398"/>
                </a:solidFill>
                <a:latin typeface="Calibri" pitchFamily="34" charset="0"/>
                <a:ea typeface="Calibri" pitchFamily="34" charset="-122"/>
                <a:cs typeface="Calibri" pitchFamily="34" charset="-120"/>
              </a:rPr>
              <a:t>NON-BLANK ENTRIES</a:t>
            </a:r>
            <a:endParaRPr lang="en-US" sz="1100" dirty="0"/>
          </a:p>
        </p:txBody>
      </p:sp>
      <p:sp>
        <p:nvSpPr>
          <p:cNvPr id="13" name="Text 11"/>
          <p:cNvSpPr/>
          <p:nvPr/>
        </p:nvSpPr>
        <p:spPr>
          <a:xfrm>
            <a:off x="4023360" y="2350008"/>
            <a:ext cx="2651760" cy="68580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906</a:t>
            </a:r>
            <a:endParaRPr lang="en-US" sz="3400" dirty="0"/>
          </a:p>
        </p:txBody>
      </p:sp>
      <p:sp>
        <p:nvSpPr>
          <p:cNvPr id="14" name="Text 12"/>
          <p:cNvSpPr/>
          <p:nvPr/>
        </p:nvSpPr>
        <p:spPr>
          <a:xfrm>
            <a:off x="4023360" y="3008376"/>
            <a:ext cx="2651760" cy="274320"/>
          </a:xfrm>
          <a:prstGeom prst="rect">
            <a:avLst/>
          </a:prstGeom>
          <a:noFill/>
          <a:ln/>
        </p:spPr>
        <p:txBody>
          <a:bodyPr wrap="square" lIns="0" tIns="0" rIns="0" bIns="0" rtlCol="0" anchor="ctr"/>
          <a:lstStyle/>
          <a:p>
            <a:pPr algn="l" indent="0" marL="0">
              <a:buNone/>
            </a:pPr>
            <a:r>
              <a:rPr lang="en-US" sz="1050" dirty="0">
                <a:solidFill>
                  <a:srgbClr val="C9D6E3"/>
                </a:solidFill>
                <a:latin typeface="Calibri" pitchFamily="34" charset="0"/>
                <a:ea typeface="Calibri" pitchFamily="34" charset="-122"/>
                <a:cs typeface="Calibri" pitchFamily="34" charset="-120"/>
              </a:rPr>
              <a:t>of 1,000 rows (94 blank)</a:t>
            </a:r>
            <a:endParaRPr lang="en-US" sz="1050" dirty="0"/>
          </a:p>
        </p:txBody>
      </p:sp>
      <p:sp>
        <p:nvSpPr>
          <p:cNvPr id="15" name="Text 13"/>
          <p:cNvSpPr/>
          <p:nvPr/>
        </p:nvSpPr>
        <p:spPr>
          <a:xfrm>
            <a:off x="7360920" y="1965960"/>
            <a:ext cx="3931920" cy="274320"/>
          </a:xfrm>
          <a:prstGeom prst="rect">
            <a:avLst/>
          </a:prstGeom>
          <a:noFill/>
          <a:ln/>
        </p:spPr>
        <p:txBody>
          <a:bodyPr wrap="square" lIns="0" tIns="0" rIns="0" bIns="0" rtlCol="0" anchor="ctr"/>
          <a:lstStyle/>
          <a:p>
            <a:pPr indent="0" marL="0">
              <a:buNone/>
            </a:pPr>
            <a:r>
              <a:rPr lang="en-US" sz="1100" b="1" dirty="0">
                <a:solidFill>
                  <a:srgbClr val="132347"/>
                </a:solidFill>
                <a:latin typeface="Calibri" pitchFamily="34" charset="0"/>
                <a:ea typeface="Calibri" pitchFamily="34" charset="-122"/>
                <a:cs typeface="Calibri" pitchFamily="34" charset="-120"/>
              </a:rPr>
              <a:t>BEFORE → STANDARDIZE → AFTER</a:t>
            </a:r>
            <a:endParaRPr lang="en-US" sz="1100" dirty="0"/>
          </a:p>
        </p:txBody>
      </p:sp>
      <p:sp>
        <p:nvSpPr>
          <p:cNvPr id="16" name="Shape 14"/>
          <p:cNvSpPr/>
          <p:nvPr/>
        </p:nvSpPr>
        <p:spPr>
          <a:xfrm>
            <a:off x="7360920" y="2331720"/>
            <a:ext cx="3931920" cy="502920"/>
          </a:xfrm>
          <a:prstGeom prst="roundRect">
            <a:avLst>
              <a:gd name="adj" fmla="val 10909"/>
            </a:avLst>
          </a:prstGeom>
          <a:solidFill>
            <a:srgbClr val="6B7484"/>
          </a:solidFill>
          <a:ln/>
        </p:spPr>
      </p:sp>
      <p:sp>
        <p:nvSpPr>
          <p:cNvPr id="17" name="Text 15"/>
          <p:cNvSpPr/>
          <p:nvPr/>
        </p:nvSpPr>
        <p:spPr>
          <a:xfrm>
            <a:off x="7360920" y="2331720"/>
            <a:ext cx="3931920" cy="502920"/>
          </a:xfrm>
          <a:prstGeom prst="rect">
            <a:avLst/>
          </a:prstGeom>
          <a:noFill/>
          <a:ln/>
        </p:spPr>
        <p:txBody>
          <a:bodyPr wrap="square" lIns="0" tIns="0" rIns="0" bIns="0" rtlCol="0" anchor="ctr"/>
          <a:lstStyle/>
          <a:p>
            <a:pPr algn="ctr" indent="0" marL="0">
              <a:buNone/>
            </a:pPr>
            <a:r>
              <a:rPr lang="en-US" sz="1400" dirty="0">
                <a:solidFill>
                  <a:srgbClr val="FFFFFF"/>
                </a:solidFill>
                <a:latin typeface="Courier New" pitchFamily="34" charset="0"/>
                <a:ea typeface="Courier New" pitchFamily="34" charset="-122"/>
                <a:cs typeface="Courier New" pitchFamily="34" charset="-120"/>
              </a:rPr>
              <a:t>"45% OFF"</a:t>
            </a:r>
            <a:endParaRPr lang="en-US" sz="1400" dirty="0"/>
          </a:p>
        </p:txBody>
      </p:sp>
      <p:sp>
        <p:nvSpPr>
          <p:cNvPr id="18" name="Shape 16"/>
          <p:cNvSpPr/>
          <p:nvPr/>
        </p:nvSpPr>
        <p:spPr>
          <a:xfrm>
            <a:off x="9244584" y="2871216"/>
            <a:ext cx="164592" cy="219456"/>
          </a:xfrm>
          <a:prstGeom prst="downArrow">
            <a:avLst/>
          </a:prstGeom>
          <a:solidFill>
            <a:srgbClr val="0E7C86"/>
          </a:solidFill>
          <a:ln/>
        </p:spPr>
      </p:sp>
      <p:sp>
        <p:nvSpPr>
          <p:cNvPr id="19" name="Shape 17"/>
          <p:cNvSpPr/>
          <p:nvPr/>
        </p:nvSpPr>
        <p:spPr>
          <a:xfrm>
            <a:off x="7360920" y="3127248"/>
            <a:ext cx="3931920" cy="502920"/>
          </a:xfrm>
          <a:prstGeom prst="roundRect">
            <a:avLst>
              <a:gd name="adj" fmla="val 10909"/>
            </a:avLst>
          </a:prstGeom>
          <a:solidFill>
            <a:srgbClr val="0E7C86"/>
          </a:solidFill>
          <a:ln/>
        </p:spPr>
      </p:sp>
      <p:sp>
        <p:nvSpPr>
          <p:cNvPr id="20" name="Text 18"/>
          <p:cNvSpPr/>
          <p:nvPr/>
        </p:nvSpPr>
        <p:spPr>
          <a:xfrm>
            <a:off x="7360920" y="3127248"/>
            <a:ext cx="3931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"45%"</a:t>
            </a:r>
            <a:endParaRPr lang="en-US" sz="1400" dirty="0"/>
          </a:p>
        </p:txBody>
      </p:sp>
      <p:sp>
        <p:nvSpPr>
          <p:cNvPr id="21" name="Text 19"/>
          <p:cNvSpPr/>
          <p:nvPr/>
        </p:nvSpPr>
        <p:spPr>
          <a:xfrm>
            <a:off x="457200" y="3566160"/>
            <a:ext cx="6583680" cy="1097280"/>
          </a:xfrm>
          <a:prstGeom prst="rect">
            <a:avLst/>
          </a:prstGeom>
          <a:noFill/>
          <a:ln/>
        </p:spPr>
        <p:txBody>
          <a:bodyPr wrap="square" lIns="0" tIns="0" rIns="0" bIns="0" rtlCol="0" anchor="t"/>
          <a:lstStyle/>
          <a:p>
            <a:pPr algn="l" indent="0" marL="0">
              <a:lnSpc>
                <a:spcPct val="115000"/>
              </a:lnSpc>
              <a:buNone/>
            </a:pPr>
            <a:r>
              <a:rPr lang="en-US" sz="1250" dirty="0">
                <a:solidFill>
                  <a:srgbClr val="1B2233"/>
                </a:solidFill>
                <a:latin typeface="Calibri" pitchFamily="34" charset="0"/>
                <a:ea typeface="Calibri" pitchFamily="34" charset="-122"/>
                <a:cs typeface="Calibri" pitchFamily="34" charset="-120"/>
              </a:rPr>
              <a:t>All raw values follow one pattern — a number followed by "% OFF" (e.g. 45% OFF, 55% OFF, 31% OFF). Standardization strips the " OFF" suffix for display and converts the figure to a true numeric percentage for calculation, so every value is consistently comparable.</a:t>
            </a:r>
            <a:endParaRPr lang="en-US" sz="1250" dirty="0"/>
          </a:p>
        </p:txBody>
      </p:sp>
      <p:sp>
        <p:nvSpPr>
          <p:cNvPr id="22" name="Shape 20"/>
          <p:cNvSpPr/>
          <p:nvPr/>
        </p:nvSpPr>
        <p:spPr>
          <a:xfrm>
            <a:off x="457200" y="5257800"/>
            <a:ext cx="10817352" cy="914400"/>
          </a:xfrm>
          <a:prstGeom prst="roundRect">
            <a:avLst>
              <a:gd name="adj" fmla="val 8000"/>
            </a:avLst>
          </a:prstGeom>
          <a:solidFill>
            <a:srgbClr val="F5F7F9"/>
          </a:solidFill>
          <a:ln w="12700">
            <a:solidFill>
              <a:srgbClr val="DCE2E8"/>
            </a:solidFill>
            <a:prstDash val="solid"/>
          </a:ln>
        </p:spPr>
      </p:sp>
      <p:sp>
        <p:nvSpPr>
          <p:cNvPr id="23" name="Text 21"/>
          <p:cNvSpPr/>
          <p:nvPr/>
        </p:nvSpPr>
        <p:spPr>
          <a:xfrm>
            <a:off x="640080" y="5349240"/>
            <a:ext cx="10451592" cy="219456"/>
          </a:xfrm>
          <a:prstGeom prst="rect">
            <a:avLst/>
          </a:prstGeom>
          <a:noFill/>
          <a:ln/>
        </p:spPr>
        <p:txBody>
          <a:bodyPr wrap="square" lIns="0" tIns="0" rIns="0" bIns="0" rtlCol="0" anchor="ctr"/>
          <a:lstStyle/>
          <a:p>
            <a:pPr indent="0" marL="0">
              <a:buNone/>
            </a:pPr>
            <a:r>
              <a:rPr lang="en-US" sz="900" b="1" spc="100" kern="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24" name="Text 22"/>
          <p:cNvSpPr/>
          <p:nvPr/>
        </p:nvSpPr>
        <p:spPr>
          <a:xfrm>
            <a:off x="640080" y="5550408"/>
            <a:ext cx="10451592" cy="292608"/>
          </a:xfrm>
          <a:prstGeom prst="rect">
            <a:avLst/>
          </a:prstGeom>
          <a:noFill/>
          <a:ln/>
        </p:spPr>
        <p:txBody>
          <a:bodyPr wrap="square" lIns="0" tIns="0" rIns="0" bIns="0" rtlCol="0" anchor="t">
            <a:normAutofit/>
          </a:bodyPr>
          <a:lstStyle/>
          <a:p>
            <a:pPr indent="0" marL="0">
              <a:buNone/>
            </a:pPr>
            <a:r>
              <a:rPr lang="en-US" sz="1250" dirty="0">
                <a:solidFill>
                  <a:srgbClr val="132347"/>
                </a:solidFill>
                <a:latin typeface="Courier New" pitchFamily="34" charset="0"/>
                <a:ea typeface="Courier New" pitchFamily="34" charset="-122"/>
                <a:cs typeface="Courier New" pitchFamily="34" charset="-120"/>
              </a:rPr>
              <a:t>Display:  =SUBSTITUTE(J2," OFF","")        Numeric:  =VALUE(SUBSTITUTE(J2," OFF",""))/100</a:t>
            </a:r>
            <a:endParaRPr lang="en-US" sz="1250" dirty="0"/>
          </a:p>
        </p:txBody>
      </p:sp>
      <p:sp>
        <p:nvSpPr>
          <p:cNvPr id="25" name="Text 23"/>
          <p:cNvSpPr/>
          <p:nvPr/>
        </p:nvSpPr>
        <p:spPr>
          <a:xfrm>
            <a:off x="640080" y="5861304"/>
            <a:ext cx="10451592" cy="256032"/>
          </a:xfrm>
          <a:prstGeom prst="rect">
            <a:avLst/>
          </a:prstGeom>
          <a:noFill/>
          <a:ln/>
        </p:spPr>
        <p:txBody>
          <a:bodyPr wrap="square" lIns="0" tIns="0" rIns="0" bIns="0" rtlCol="0" anchor="ctr"/>
          <a:lstStyle/>
          <a:p>
            <a:pPr indent="0" marL="0">
              <a:buNone/>
            </a:pPr>
            <a:r>
              <a:rPr lang="en-US" sz="950" i="1" dirty="0">
                <a:solidFill>
                  <a:srgbClr val="6B7484"/>
                </a:solidFill>
                <a:latin typeface="Calibri" pitchFamily="34" charset="0"/>
                <a:ea typeface="Calibri" pitchFamily="34" charset="-122"/>
                <a:cs typeface="Calibri" pitchFamily="34" charset="-120"/>
              </a:rPr>
              <a:t>Applied via Find &amp; Replace / helper column "Standardized_DiscountOffer" across all 906 non-blank rows.</a:t>
            </a:r>
            <a:endParaRPr lang="en-US" sz="950" dirty="0"/>
          </a:p>
        </p:txBody>
      </p:sp>
      <p:sp>
        <p:nvSpPr>
          <p:cNvPr id="26" name="Text 2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7484"/>
                </a:solidFill>
                <a:latin typeface="Calibri" pitchFamily="34" charset="0"/>
                <a:ea typeface="Calibri" pitchFamily="34" charset="-122"/>
                <a:cs typeface="Calibri" pitchFamily="34" charset="-120"/>
              </a:rPr>
              <a:t>Data Cleaning — Q2</a:t>
            </a:r>
            <a:endParaRPr lang="en-US" sz="900" dirty="0"/>
          </a:p>
        </p:txBody>
      </p:sp>
      <p:sp>
        <p:nvSpPr>
          <p:cNvPr id="27" name="Text 25"/>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6B7484"/>
                </a:solidFill>
                <a:latin typeface="Calibri" pitchFamily="34" charset="0"/>
                <a:ea typeface="Calibri" pitchFamily="34" charset="-122"/>
                <a:cs typeface="Calibri" pitchFamily="34" charset="-120"/>
              </a:rPr>
              <a:t>04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sp>
      <p:sp>
        <p:nvSpPr>
          <p:cNvPr id="3" name="Text 1"/>
          <p:cNvSpPr/>
          <p:nvPr/>
        </p:nvSpPr>
        <p:spPr>
          <a:xfrm>
            <a:off x="457200" y="384048"/>
            <a:ext cx="86868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 · Q3</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algn="l" indent="0" marL="0">
              <a:buNone/>
            </a:pPr>
            <a:r>
              <a:rPr lang="en-US" sz="2200" b="1" dirty="0">
                <a:solidFill>
                  <a:srgbClr val="132347"/>
                </a:solidFill>
                <a:latin typeface="Cambria" pitchFamily="34" charset="0"/>
                <a:ea typeface="Cambria" pitchFamily="34" charset="-122"/>
                <a:cs typeface="Cambria" pitchFamily="34" charset="-120"/>
              </a:rPr>
              <a:t>Fill DiscountPrice Using Category Average</a:t>
            </a:r>
            <a:endParaRPr lang="en-US" sz="2200" dirty="0"/>
          </a:p>
        </p:txBody>
      </p:sp>
      <p:sp>
        <p:nvSpPr>
          <p:cNvPr id="5" name="Shape 3"/>
          <p:cNvSpPr/>
          <p:nvPr/>
        </p:nvSpPr>
        <p:spPr>
          <a:xfrm>
            <a:off x="457200" y="1051560"/>
            <a:ext cx="10817352" cy="685800"/>
          </a:xfrm>
          <a:prstGeom prst="roundRect">
            <a:avLst>
              <a:gd name="adj" fmla="val 8000"/>
            </a:avLst>
          </a:prstGeom>
          <a:solidFill>
            <a:srgbClr val="E5F3F2"/>
          </a:solidFill>
          <a:ln/>
        </p:spPr>
      </p:sp>
      <p:sp>
        <p:nvSpPr>
          <p:cNvPr id="6" name="Text 4"/>
          <p:cNvSpPr/>
          <p:nvPr/>
        </p:nvSpPr>
        <p:spPr>
          <a:xfrm>
            <a:off x="640080" y="1051560"/>
            <a:ext cx="10424160" cy="685800"/>
          </a:xfrm>
          <a:prstGeom prst="rect">
            <a:avLst/>
          </a:prstGeom>
          <a:noFill/>
          <a:ln/>
        </p:spPr>
        <p:txBody>
          <a:bodyPr wrap="square" lIns="0" tIns="0" rIns="0" bIns="0" rtlCol="0" anchor="ctr"/>
          <a:lstStyle/>
          <a:p>
            <a:pPr indent="0" marL="0">
              <a:buNone/>
            </a:pPr>
            <a:r>
              <a:rPr lang="en-US" sz="1250" i="1" dirty="0">
                <a:solidFill>
                  <a:srgbClr val="132347"/>
                </a:solidFill>
                <a:latin typeface="Calibri" pitchFamily="34" charset="0"/>
                <a:ea typeface="Calibri" pitchFamily="34" charset="-122"/>
                <a:cs typeface="Calibri" pitchFamily="34" charset="-120"/>
              </a:rPr>
              <a:t>"Identify rows where both DiscountPrice and DiscountOffer are null and fill DiscountPrice with the average discount price of the respective category."</a:t>
            </a:r>
            <a:endParaRPr lang="en-US" sz="1250" dirty="0"/>
          </a:p>
        </p:txBody>
      </p:sp>
      <p:sp>
        <p:nvSpPr>
          <p:cNvPr id="7" name="Shape 5"/>
          <p:cNvSpPr/>
          <p:nvPr/>
        </p:nvSpPr>
        <p:spPr>
          <a:xfrm>
            <a:off x="457200" y="1920240"/>
            <a:ext cx="2651760" cy="1234440"/>
          </a:xfrm>
          <a:prstGeom prst="roundRect">
            <a:avLst>
              <a:gd name="adj" fmla="val 7407"/>
            </a:avLst>
          </a:prstGeom>
          <a:solidFill>
            <a:srgbClr val="132347"/>
          </a:solidFill>
          <a:ln/>
          <a:effectLst>
            <a:outerShdw sx="100000" sy="100000" kx="0" ky="0" algn="bl" rotWithShape="0" blurRad="76200" dist="38100" dir="5400000">
              <a:srgbClr val="1B2233">
                <a:alpha val="25000"/>
              </a:srgbClr>
            </a:outerShdw>
          </a:effectLst>
        </p:spPr>
      </p:sp>
      <p:sp>
        <p:nvSpPr>
          <p:cNvPr id="8" name="Text 6"/>
          <p:cNvSpPr/>
          <p:nvPr/>
        </p:nvSpPr>
        <p:spPr>
          <a:xfrm>
            <a:off x="685800" y="2084832"/>
            <a:ext cx="2194560" cy="274320"/>
          </a:xfrm>
          <a:prstGeom prst="rect">
            <a:avLst/>
          </a:prstGeom>
          <a:noFill/>
          <a:ln/>
        </p:spPr>
        <p:txBody>
          <a:bodyPr wrap="square" lIns="0" tIns="0" rIns="0" bIns="0" rtlCol="0" anchor="ctr"/>
          <a:lstStyle/>
          <a:p>
            <a:pPr algn="l" indent="0" marL="0">
              <a:buNone/>
            </a:pPr>
            <a:r>
              <a:rPr lang="en-US" sz="1100" b="1" spc="100" kern="0" dirty="0">
                <a:solidFill>
                  <a:srgbClr val="17A398"/>
                </a:solidFill>
                <a:latin typeface="Calibri" pitchFamily="34" charset="0"/>
                <a:ea typeface="Calibri" pitchFamily="34" charset="-122"/>
                <a:cs typeface="Calibri" pitchFamily="34" charset="-120"/>
              </a:rPr>
              <a:t>AFFECTED ROWS</a:t>
            </a:r>
            <a:endParaRPr lang="en-US" sz="1100" dirty="0"/>
          </a:p>
        </p:txBody>
      </p:sp>
      <p:sp>
        <p:nvSpPr>
          <p:cNvPr id="9" name="Text 7"/>
          <p:cNvSpPr/>
          <p:nvPr/>
        </p:nvSpPr>
        <p:spPr>
          <a:xfrm>
            <a:off x="685800" y="2304288"/>
            <a:ext cx="2194560" cy="5486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94</a:t>
            </a:r>
            <a:endParaRPr lang="en-US" sz="3400" dirty="0"/>
          </a:p>
        </p:txBody>
      </p:sp>
      <p:sp>
        <p:nvSpPr>
          <p:cNvPr id="10" name="Text 8"/>
          <p:cNvSpPr/>
          <p:nvPr/>
        </p:nvSpPr>
        <p:spPr>
          <a:xfrm>
            <a:off x="685800" y="2825496"/>
            <a:ext cx="2194560" cy="274320"/>
          </a:xfrm>
          <a:prstGeom prst="rect">
            <a:avLst/>
          </a:prstGeom>
          <a:noFill/>
          <a:ln/>
        </p:spPr>
        <p:txBody>
          <a:bodyPr wrap="square" lIns="0" tIns="0" rIns="0" bIns="0" rtlCol="0" anchor="ctr"/>
          <a:lstStyle/>
          <a:p>
            <a:pPr algn="l" indent="0" marL="0">
              <a:buNone/>
            </a:pPr>
            <a:r>
              <a:rPr lang="en-US" sz="1050" dirty="0">
                <a:solidFill>
                  <a:srgbClr val="C9D6E3"/>
                </a:solidFill>
                <a:latin typeface="Calibri" pitchFamily="34" charset="0"/>
                <a:ea typeface="Calibri" pitchFamily="34" charset="-122"/>
                <a:cs typeface="Calibri" pitchFamily="34" charset="-120"/>
              </a:rPr>
              <a:t>both fields blank</a:t>
            </a:r>
            <a:endParaRPr lang="en-US" sz="1050" dirty="0"/>
          </a:p>
        </p:txBody>
      </p:sp>
      <p:sp>
        <p:nvSpPr>
          <p:cNvPr id="11" name="Shape 9"/>
          <p:cNvSpPr/>
          <p:nvPr/>
        </p:nvSpPr>
        <p:spPr>
          <a:xfrm>
            <a:off x="3337560" y="1920240"/>
            <a:ext cx="2377440" cy="292608"/>
          </a:xfrm>
          <a:prstGeom prst="roundRect">
            <a:avLst>
              <a:gd name="adj" fmla="val 18750"/>
            </a:avLst>
          </a:prstGeom>
          <a:solidFill>
            <a:srgbClr val="132347"/>
          </a:solidFill>
          <a:ln w="12700">
            <a:solidFill>
              <a:srgbClr val="0E7C86"/>
            </a:solidFill>
            <a:prstDash val="solid"/>
          </a:ln>
        </p:spPr>
      </p:sp>
      <p:sp>
        <p:nvSpPr>
          <p:cNvPr id="12" name="Text 10"/>
          <p:cNvSpPr/>
          <p:nvPr/>
        </p:nvSpPr>
        <p:spPr>
          <a:xfrm>
            <a:off x="3429000" y="1920240"/>
            <a:ext cx="2194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Both NULL</a:t>
            </a:r>
            <a:endParaRPr lang="en-US" sz="950" dirty="0"/>
          </a:p>
        </p:txBody>
      </p:sp>
      <p:sp>
        <p:nvSpPr>
          <p:cNvPr id="13" name="Shape 11"/>
          <p:cNvSpPr/>
          <p:nvPr/>
        </p:nvSpPr>
        <p:spPr>
          <a:xfrm>
            <a:off x="4443984" y="2225192"/>
            <a:ext cx="164592" cy="57607"/>
          </a:xfrm>
          <a:prstGeom prst="downArrow">
            <a:avLst/>
          </a:prstGeom>
          <a:solidFill>
            <a:srgbClr val="0E7C86"/>
          </a:solidFill>
          <a:ln/>
        </p:spPr>
      </p:sp>
      <p:sp>
        <p:nvSpPr>
          <p:cNvPr id="14" name="Shape 12"/>
          <p:cNvSpPr/>
          <p:nvPr/>
        </p:nvSpPr>
        <p:spPr>
          <a:xfrm>
            <a:off x="3337560" y="2295144"/>
            <a:ext cx="2377440" cy="292608"/>
          </a:xfrm>
          <a:prstGeom prst="roundRect">
            <a:avLst>
              <a:gd name="adj" fmla="val 18750"/>
            </a:avLst>
          </a:prstGeom>
          <a:solidFill>
            <a:srgbClr val="E5F3F2"/>
          </a:solidFill>
          <a:ln w="12700">
            <a:solidFill>
              <a:srgbClr val="0E7C86"/>
            </a:solidFill>
            <a:prstDash val="solid"/>
          </a:ln>
        </p:spPr>
      </p:sp>
      <p:sp>
        <p:nvSpPr>
          <p:cNvPr id="15" name="Text 13"/>
          <p:cNvSpPr/>
          <p:nvPr/>
        </p:nvSpPr>
        <p:spPr>
          <a:xfrm>
            <a:off x="3429000" y="2295144"/>
            <a:ext cx="2194560" cy="292608"/>
          </a:xfrm>
          <a:prstGeom prst="rect">
            <a:avLst/>
          </a:prstGeom>
          <a:noFill/>
          <a:ln/>
        </p:spPr>
        <p:txBody>
          <a:bodyPr wrap="square" lIns="0" tIns="0" rIns="0" bIns="0" rtlCol="0" anchor="ctr"/>
          <a:lstStyle/>
          <a:p>
            <a:pPr algn="ctr" indent="0" marL="0">
              <a:buNone/>
            </a:pPr>
            <a:r>
              <a:rPr lang="en-US" sz="950" b="1" dirty="0">
                <a:solidFill>
                  <a:srgbClr val="132347"/>
                </a:solidFill>
                <a:latin typeface="Calibri" pitchFamily="34" charset="0"/>
                <a:ea typeface="Calibri" pitchFamily="34" charset="-122"/>
                <a:cs typeface="Calibri" pitchFamily="34" charset="-120"/>
              </a:rPr>
              <a:t>Find Category</a:t>
            </a:r>
            <a:endParaRPr lang="en-US" sz="950" dirty="0"/>
          </a:p>
        </p:txBody>
      </p:sp>
      <p:sp>
        <p:nvSpPr>
          <p:cNvPr id="16" name="Shape 14"/>
          <p:cNvSpPr/>
          <p:nvPr/>
        </p:nvSpPr>
        <p:spPr>
          <a:xfrm>
            <a:off x="4443984" y="2600096"/>
            <a:ext cx="164592" cy="57607"/>
          </a:xfrm>
          <a:prstGeom prst="downArrow">
            <a:avLst/>
          </a:prstGeom>
          <a:solidFill>
            <a:srgbClr val="0E7C86"/>
          </a:solidFill>
          <a:ln/>
        </p:spPr>
      </p:sp>
      <p:sp>
        <p:nvSpPr>
          <p:cNvPr id="17" name="Shape 15"/>
          <p:cNvSpPr/>
          <p:nvPr/>
        </p:nvSpPr>
        <p:spPr>
          <a:xfrm>
            <a:off x="3337560" y="2670048"/>
            <a:ext cx="2377440" cy="292608"/>
          </a:xfrm>
          <a:prstGeom prst="roundRect">
            <a:avLst>
              <a:gd name="adj" fmla="val 18750"/>
            </a:avLst>
          </a:prstGeom>
          <a:solidFill>
            <a:srgbClr val="E5F3F2"/>
          </a:solidFill>
          <a:ln w="12700">
            <a:solidFill>
              <a:srgbClr val="0E7C86"/>
            </a:solidFill>
            <a:prstDash val="solid"/>
          </a:ln>
        </p:spPr>
      </p:sp>
      <p:sp>
        <p:nvSpPr>
          <p:cNvPr id="18" name="Text 16"/>
          <p:cNvSpPr/>
          <p:nvPr/>
        </p:nvSpPr>
        <p:spPr>
          <a:xfrm>
            <a:off x="3429000" y="2670048"/>
            <a:ext cx="2194560" cy="292608"/>
          </a:xfrm>
          <a:prstGeom prst="rect">
            <a:avLst/>
          </a:prstGeom>
          <a:noFill/>
          <a:ln/>
        </p:spPr>
        <p:txBody>
          <a:bodyPr wrap="square" lIns="0" tIns="0" rIns="0" bIns="0" rtlCol="0" anchor="ctr"/>
          <a:lstStyle/>
          <a:p>
            <a:pPr algn="ctr" indent="0" marL="0">
              <a:buNone/>
            </a:pPr>
            <a:r>
              <a:rPr lang="en-US" sz="950" b="1" dirty="0">
                <a:solidFill>
                  <a:srgbClr val="132347"/>
                </a:solidFill>
                <a:latin typeface="Calibri" pitchFamily="34" charset="0"/>
                <a:ea typeface="Calibri" pitchFamily="34" charset="-122"/>
                <a:cs typeface="Calibri" pitchFamily="34" charset="-120"/>
              </a:rPr>
              <a:t>Category AVG</a:t>
            </a:r>
            <a:endParaRPr lang="en-US" sz="950" dirty="0"/>
          </a:p>
        </p:txBody>
      </p:sp>
      <p:sp>
        <p:nvSpPr>
          <p:cNvPr id="19" name="Shape 17"/>
          <p:cNvSpPr/>
          <p:nvPr/>
        </p:nvSpPr>
        <p:spPr>
          <a:xfrm>
            <a:off x="4443984" y="2975000"/>
            <a:ext cx="164592" cy="57607"/>
          </a:xfrm>
          <a:prstGeom prst="downArrow">
            <a:avLst/>
          </a:prstGeom>
          <a:solidFill>
            <a:srgbClr val="0E7C86"/>
          </a:solidFill>
          <a:ln/>
        </p:spPr>
      </p:sp>
      <p:sp>
        <p:nvSpPr>
          <p:cNvPr id="20" name="Shape 18"/>
          <p:cNvSpPr/>
          <p:nvPr/>
        </p:nvSpPr>
        <p:spPr>
          <a:xfrm>
            <a:off x="3337560" y="3044952"/>
            <a:ext cx="2377440" cy="292608"/>
          </a:xfrm>
          <a:prstGeom prst="roundRect">
            <a:avLst>
              <a:gd name="adj" fmla="val 18750"/>
            </a:avLst>
          </a:prstGeom>
          <a:solidFill>
            <a:srgbClr val="0E7C86"/>
          </a:solidFill>
          <a:ln w="12700">
            <a:solidFill>
              <a:srgbClr val="0E7C86"/>
            </a:solidFill>
            <a:prstDash val="solid"/>
          </a:ln>
        </p:spPr>
      </p:sp>
      <p:sp>
        <p:nvSpPr>
          <p:cNvPr id="21" name="Text 19"/>
          <p:cNvSpPr/>
          <p:nvPr/>
        </p:nvSpPr>
        <p:spPr>
          <a:xfrm>
            <a:off x="3429000" y="3044952"/>
            <a:ext cx="2194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Fill Price</a:t>
            </a:r>
            <a:endParaRPr lang="en-US" sz="950" dirty="0"/>
          </a:p>
        </p:txBody>
      </p:sp>
      <p:graphicFrame>
        <p:nvGraphicFramePr>
          <p:cNvPr id="22" name="Chart 0" descr=""/>
          <p:cNvGraphicFramePr/>
          <p:nvPr/>
        </p:nvGraphicFramePr>
        <p:xfrm>
          <a:off x="5989320" y="1874520"/>
          <a:ext cx="5623560" cy="3246120"/>
        </p:xfrm>
        <a:graphic xmlns:a="http://schemas.openxmlformats.org/drawingml/2006/main">
          <a:graphicData uri="http://schemas.openxmlformats.org/drawingml/2006/chart">
            <c:chart xmlns:c="http://schemas.openxmlformats.org/drawingml/2006/chart" r:id="rId1"/>
          </a:graphicData>
        </a:graphic>
      </p:graphicFrame>
      <p:sp>
        <p:nvSpPr>
          <p:cNvPr id="23" name="Text 20"/>
          <p:cNvSpPr/>
          <p:nvPr/>
        </p:nvSpPr>
        <p:spPr>
          <a:xfrm>
            <a:off x="457200" y="3337560"/>
            <a:ext cx="5349240" cy="1965960"/>
          </a:xfrm>
          <a:prstGeom prst="rect">
            <a:avLst/>
          </a:prstGeom>
          <a:noFill/>
          <a:ln/>
        </p:spPr>
        <p:txBody>
          <a:bodyPr wrap="square" lIns="0" tIns="0" rIns="0" bIns="0" rtlCol="0" anchor="t"/>
          <a:lstStyle/>
          <a:p>
            <a:pPr algn="l" indent="0" marL="0">
              <a:lnSpc>
                <a:spcPct val="115000"/>
              </a:lnSpc>
              <a:buNone/>
            </a:pPr>
            <a:r>
              <a:rPr lang="en-US" sz="1250" dirty="0">
                <a:solidFill>
                  <a:srgbClr val="1B2233"/>
                </a:solidFill>
                <a:latin typeface="Calibri" pitchFamily="34" charset="0"/>
                <a:ea typeface="Calibri" pitchFamily="34" charset="-122"/>
                <a:cs typeface="Calibri" pitchFamily="34" charset="-120"/>
              </a:rPr>
              <a:t>Rows are grouped by "Category" and the mean of all non-blank Discount Price values in that group is computed, then written into the blank cells.</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1B2233"/>
                </a:solidFill>
                <a:latin typeface="Calibri" pitchFamily="34" charset="0"/>
                <a:ea typeface="Calibri" pitchFamily="34" charset="-122"/>
                <a:cs typeface="Calibri" pitchFamily="34" charset="-120"/>
              </a:rPr>
              <a:t>Data-quality note: the "Western" category (21 of the 94 rows) has NO non-blank Discount Price anywhere in the dataset, so its category average cannot be calculated — flagged as "Not supported by the provided dataset" for those rows.</a:t>
            </a:r>
            <a:endParaRPr lang="en-US" sz="1250" dirty="0"/>
          </a:p>
        </p:txBody>
      </p:sp>
      <p:sp>
        <p:nvSpPr>
          <p:cNvPr id="24" name="Shape 21"/>
          <p:cNvSpPr/>
          <p:nvPr/>
        </p:nvSpPr>
        <p:spPr>
          <a:xfrm>
            <a:off x="457200" y="5394960"/>
            <a:ext cx="10817352" cy="868680"/>
          </a:xfrm>
          <a:prstGeom prst="roundRect">
            <a:avLst>
              <a:gd name="adj" fmla="val 8421"/>
            </a:avLst>
          </a:prstGeom>
          <a:solidFill>
            <a:srgbClr val="F5F7F9"/>
          </a:solidFill>
          <a:ln w="12700">
            <a:solidFill>
              <a:srgbClr val="DCE2E8"/>
            </a:solidFill>
            <a:prstDash val="solid"/>
          </a:ln>
        </p:spPr>
      </p:sp>
      <p:sp>
        <p:nvSpPr>
          <p:cNvPr id="25" name="Text 22"/>
          <p:cNvSpPr/>
          <p:nvPr/>
        </p:nvSpPr>
        <p:spPr>
          <a:xfrm>
            <a:off x="640080" y="5486400"/>
            <a:ext cx="10451592" cy="219456"/>
          </a:xfrm>
          <a:prstGeom prst="rect">
            <a:avLst/>
          </a:prstGeom>
          <a:noFill/>
          <a:ln/>
        </p:spPr>
        <p:txBody>
          <a:bodyPr wrap="square" lIns="0" tIns="0" rIns="0" bIns="0" rtlCol="0" anchor="ctr"/>
          <a:lstStyle/>
          <a:p>
            <a:pPr indent="0" marL="0">
              <a:buNone/>
            </a:pPr>
            <a:r>
              <a:rPr lang="en-US" sz="900" b="1" spc="100" kern="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26" name="Text 23"/>
          <p:cNvSpPr/>
          <p:nvPr/>
        </p:nvSpPr>
        <p:spPr>
          <a:xfrm>
            <a:off x="640080" y="5687568"/>
            <a:ext cx="10451592" cy="246888"/>
          </a:xfrm>
          <a:prstGeom prst="rect">
            <a:avLst/>
          </a:prstGeom>
          <a:noFill/>
          <a:ln/>
        </p:spPr>
        <p:txBody>
          <a:bodyPr wrap="square" lIns="0" tIns="0" rIns="0" bIns="0" rtlCol="0" anchor="t">
            <a:normAutofit/>
          </a:bodyPr>
          <a:lstStyle/>
          <a:p>
            <a:pPr indent="0" marL="0">
              <a:buNone/>
            </a:pPr>
            <a:r>
              <a:rPr lang="en-US" sz="1250" dirty="0">
                <a:solidFill>
                  <a:srgbClr val="132347"/>
                </a:solidFill>
                <a:latin typeface="Courier New" pitchFamily="34" charset="0"/>
                <a:ea typeface="Courier New" pitchFamily="34" charset="-122"/>
                <a:cs typeface="Courier New" pitchFamily="34" charset="-120"/>
              </a:rPr>
              <a:t>=IF(AND(H2="",J2=""), AVERAGEIF($D$2:$D$1001,D2,$H$2:$H$1001), H2)</a:t>
            </a:r>
            <a:endParaRPr lang="en-US" sz="1250" dirty="0"/>
          </a:p>
        </p:txBody>
      </p:sp>
      <p:sp>
        <p:nvSpPr>
          <p:cNvPr id="27" name="Text 24"/>
          <p:cNvSpPr/>
          <p:nvPr/>
        </p:nvSpPr>
        <p:spPr>
          <a:xfrm>
            <a:off x="640080" y="5952744"/>
            <a:ext cx="10451592" cy="256032"/>
          </a:xfrm>
          <a:prstGeom prst="rect">
            <a:avLst/>
          </a:prstGeom>
          <a:noFill/>
          <a:ln/>
        </p:spPr>
        <p:txBody>
          <a:bodyPr wrap="square" lIns="0" tIns="0" rIns="0" bIns="0" rtlCol="0" anchor="ctr"/>
          <a:lstStyle/>
          <a:p>
            <a:pPr indent="0" marL="0">
              <a:buNone/>
            </a:pPr>
            <a:r>
              <a:rPr lang="en-US" sz="950" i="1" dirty="0">
                <a:solidFill>
                  <a:srgbClr val="6B7484"/>
                </a:solidFill>
                <a:latin typeface="Calibri" pitchFamily="34" charset="0"/>
                <a:ea typeface="Calibri" pitchFamily="34" charset="-122"/>
                <a:cs typeface="Calibri" pitchFamily="34" charset="-120"/>
              </a:rPr>
              <a:t>D = Category, H = DiscountPrice, J = DiscountOffer. Returns #DIV/0! only for the Western category, as noted above.</a:t>
            </a:r>
            <a:endParaRPr lang="en-US" sz="950" dirty="0"/>
          </a:p>
        </p:txBody>
      </p:sp>
      <p:sp>
        <p:nvSpPr>
          <p:cNvPr id="28" name="Text 25"/>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7484"/>
                </a:solidFill>
                <a:latin typeface="Calibri" pitchFamily="34" charset="0"/>
                <a:ea typeface="Calibri" pitchFamily="34" charset="-122"/>
                <a:cs typeface="Calibri" pitchFamily="34" charset="-120"/>
              </a:rPr>
              <a:t>Data Cleaning — Q3</a:t>
            </a:r>
            <a:endParaRPr lang="en-US" sz="900" dirty="0"/>
          </a:p>
        </p:txBody>
      </p:sp>
      <p:sp>
        <p:nvSpPr>
          <p:cNvPr id="29" name="Text 26"/>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6B7484"/>
                </a:solidFill>
                <a:latin typeface="Calibri" pitchFamily="34" charset="0"/>
                <a:ea typeface="Calibri" pitchFamily="34" charset="-122"/>
                <a:cs typeface="Calibri" pitchFamily="34" charset="-120"/>
              </a:rPr>
              <a:t>05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sp>
      <p:sp>
        <p:nvSpPr>
          <p:cNvPr id="3" name="Text 1"/>
          <p:cNvSpPr/>
          <p:nvPr/>
        </p:nvSpPr>
        <p:spPr>
          <a:xfrm>
            <a:off x="457200" y="384048"/>
            <a:ext cx="86868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 · Q4</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algn="l" indent="0" marL="0">
              <a:buNone/>
            </a:pPr>
            <a:r>
              <a:rPr lang="en-US" sz="2200" b="1" dirty="0">
                <a:solidFill>
                  <a:srgbClr val="132347"/>
                </a:solidFill>
                <a:latin typeface="Cambria" pitchFamily="34" charset="0"/>
                <a:ea typeface="Cambria" pitchFamily="34" charset="-122"/>
                <a:cs typeface="Cambria" pitchFamily="34" charset="-120"/>
              </a:rPr>
              <a:t>Replace Nulls in "SizeOption" with "Not Available"</a:t>
            </a:r>
            <a:endParaRPr lang="en-US" sz="2200" dirty="0"/>
          </a:p>
        </p:txBody>
      </p:sp>
      <p:sp>
        <p:nvSpPr>
          <p:cNvPr id="5" name="Shape 3"/>
          <p:cNvSpPr/>
          <p:nvPr/>
        </p:nvSpPr>
        <p:spPr>
          <a:xfrm>
            <a:off x="457200" y="1097280"/>
            <a:ext cx="10817352" cy="566928"/>
          </a:xfrm>
          <a:prstGeom prst="roundRect">
            <a:avLst>
              <a:gd name="adj" fmla="val 9677"/>
            </a:avLst>
          </a:prstGeom>
          <a:solidFill>
            <a:srgbClr val="E5F3F2"/>
          </a:solidFill>
          <a:ln/>
        </p:spPr>
      </p:sp>
      <p:sp>
        <p:nvSpPr>
          <p:cNvPr id="6" name="Text 4"/>
          <p:cNvSpPr/>
          <p:nvPr/>
        </p:nvSpPr>
        <p:spPr>
          <a:xfrm>
            <a:off x="640080" y="1097280"/>
            <a:ext cx="10424160" cy="566928"/>
          </a:xfrm>
          <a:prstGeom prst="rect">
            <a:avLst/>
          </a:prstGeom>
          <a:noFill/>
          <a:ln/>
        </p:spPr>
        <p:txBody>
          <a:bodyPr wrap="square" lIns="0" tIns="0" rIns="0" bIns="0" rtlCol="0" anchor="ctr"/>
          <a:lstStyle/>
          <a:p>
            <a:pPr indent="0" marL="0">
              <a:buNone/>
            </a:pPr>
            <a:r>
              <a:rPr lang="en-US" sz="1300" i="1" dirty="0">
                <a:solidFill>
                  <a:srgbClr val="132347"/>
                </a:solidFill>
                <a:latin typeface="Calibri" pitchFamily="34" charset="0"/>
                <a:ea typeface="Calibri" pitchFamily="34" charset="-122"/>
                <a:cs typeface="Calibri" pitchFamily="34" charset="-120"/>
              </a:rPr>
              <a:t>"Replace all null values in the SizeOption column with the text \"Not Available\"."</a:t>
            </a:r>
            <a:endParaRPr lang="en-US" sz="1300" dirty="0"/>
          </a:p>
        </p:txBody>
      </p:sp>
      <p:sp>
        <p:nvSpPr>
          <p:cNvPr id="7" name="Shape 5"/>
          <p:cNvSpPr/>
          <p:nvPr/>
        </p:nvSpPr>
        <p:spPr>
          <a:xfrm>
            <a:off x="457200" y="1965960"/>
            <a:ext cx="3108960" cy="1463040"/>
          </a:xfrm>
          <a:prstGeom prst="roundRect">
            <a:avLst>
              <a:gd name="adj" fmla="val 6250"/>
            </a:avLst>
          </a:prstGeom>
          <a:solidFill>
            <a:srgbClr val="132347"/>
          </a:solidFill>
          <a:ln/>
          <a:effectLst>
            <a:outerShdw sx="100000" sy="100000" kx="0" ky="0" algn="bl" rotWithShape="0" blurRad="76200" dist="38100" dir="5400000">
              <a:srgbClr val="1B2233">
                <a:alpha val="25000"/>
              </a:srgbClr>
            </a:outerShdw>
          </a:effectLst>
        </p:spPr>
      </p:sp>
      <p:sp>
        <p:nvSpPr>
          <p:cNvPr id="8" name="Text 6"/>
          <p:cNvSpPr/>
          <p:nvPr/>
        </p:nvSpPr>
        <p:spPr>
          <a:xfrm>
            <a:off x="685800" y="2130552"/>
            <a:ext cx="2651760" cy="274320"/>
          </a:xfrm>
          <a:prstGeom prst="rect">
            <a:avLst/>
          </a:prstGeom>
          <a:noFill/>
          <a:ln/>
        </p:spPr>
        <p:txBody>
          <a:bodyPr wrap="square" lIns="0" tIns="0" rIns="0" bIns="0" rtlCol="0" anchor="ctr"/>
          <a:lstStyle/>
          <a:p>
            <a:pPr algn="l" indent="0" marL="0">
              <a:buNone/>
            </a:pPr>
            <a:r>
              <a:rPr lang="en-US" sz="1100" b="1" spc="100" kern="0" dirty="0">
                <a:solidFill>
                  <a:srgbClr val="17A398"/>
                </a:solidFill>
                <a:latin typeface="Calibri" pitchFamily="34" charset="0"/>
                <a:ea typeface="Calibri" pitchFamily="34" charset="-122"/>
                <a:cs typeface="Calibri" pitchFamily="34" charset="-120"/>
              </a:rPr>
              <a:t>NULLS BEFORE CLEANING</a:t>
            </a:r>
            <a:endParaRPr lang="en-US" sz="1100" dirty="0"/>
          </a:p>
        </p:txBody>
      </p:sp>
      <p:sp>
        <p:nvSpPr>
          <p:cNvPr id="9" name="Text 7"/>
          <p:cNvSpPr/>
          <p:nvPr/>
        </p:nvSpPr>
        <p:spPr>
          <a:xfrm>
            <a:off x="685800" y="2350008"/>
            <a:ext cx="265176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0</a:t>
            </a:r>
            <a:endParaRPr lang="en-US" sz="3400" dirty="0"/>
          </a:p>
        </p:txBody>
      </p:sp>
      <p:sp>
        <p:nvSpPr>
          <p:cNvPr id="10" name="Text 8"/>
          <p:cNvSpPr/>
          <p:nvPr/>
        </p:nvSpPr>
        <p:spPr>
          <a:xfrm>
            <a:off x="685800" y="3099816"/>
            <a:ext cx="2651760" cy="274320"/>
          </a:xfrm>
          <a:prstGeom prst="rect">
            <a:avLst/>
          </a:prstGeom>
          <a:noFill/>
          <a:ln/>
        </p:spPr>
        <p:txBody>
          <a:bodyPr wrap="square" lIns="0" tIns="0" rIns="0" bIns="0" rtlCol="0" anchor="ctr"/>
          <a:lstStyle/>
          <a:p>
            <a:pPr algn="l" indent="0" marL="0">
              <a:buNone/>
            </a:pPr>
            <a:r>
              <a:rPr lang="en-US" sz="1050" dirty="0">
                <a:solidFill>
                  <a:srgbClr val="C9D6E3"/>
                </a:solidFill>
                <a:latin typeface="Calibri" pitchFamily="34" charset="0"/>
                <a:ea typeface="Calibri" pitchFamily="34" charset="-122"/>
                <a:cs typeface="Calibri" pitchFamily="34" charset="-120"/>
              </a:rPr>
              <a:t>of 1,000 rows</a:t>
            </a:r>
            <a:endParaRPr lang="en-US" sz="1050" dirty="0"/>
          </a:p>
        </p:txBody>
      </p:sp>
      <p:sp>
        <p:nvSpPr>
          <p:cNvPr id="11" name="Shape 9"/>
          <p:cNvSpPr/>
          <p:nvPr/>
        </p:nvSpPr>
        <p:spPr>
          <a:xfrm>
            <a:off x="3794760" y="1965960"/>
            <a:ext cx="3108960" cy="1463040"/>
          </a:xfrm>
          <a:prstGeom prst="roundRect">
            <a:avLst>
              <a:gd name="adj" fmla="val 6250"/>
            </a:avLst>
          </a:prstGeom>
          <a:solidFill>
            <a:srgbClr val="132347"/>
          </a:solidFill>
          <a:ln/>
          <a:effectLst>
            <a:outerShdw sx="100000" sy="100000" kx="0" ky="0" algn="bl" rotWithShape="0" blurRad="76200" dist="38100" dir="5400000">
              <a:srgbClr val="1B2233">
                <a:alpha val="25000"/>
              </a:srgbClr>
            </a:outerShdw>
          </a:effectLst>
        </p:spPr>
      </p:sp>
      <p:sp>
        <p:nvSpPr>
          <p:cNvPr id="12" name="Text 10"/>
          <p:cNvSpPr/>
          <p:nvPr/>
        </p:nvSpPr>
        <p:spPr>
          <a:xfrm>
            <a:off x="4023360" y="2130552"/>
            <a:ext cx="2651760" cy="274320"/>
          </a:xfrm>
          <a:prstGeom prst="rect">
            <a:avLst/>
          </a:prstGeom>
          <a:noFill/>
          <a:ln/>
        </p:spPr>
        <p:txBody>
          <a:bodyPr wrap="square" lIns="0" tIns="0" rIns="0" bIns="0" rtlCol="0" anchor="ctr"/>
          <a:lstStyle/>
          <a:p>
            <a:pPr algn="l" indent="0" marL="0">
              <a:buNone/>
            </a:pPr>
            <a:r>
              <a:rPr lang="en-US" sz="1100" b="1" spc="100" kern="0" dirty="0">
                <a:solidFill>
                  <a:srgbClr val="17A398"/>
                </a:solidFill>
                <a:latin typeface="Calibri" pitchFamily="34" charset="0"/>
                <a:ea typeface="Calibri" pitchFamily="34" charset="-122"/>
                <a:cs typeface="Calibri" pitchFamily="34" charset="-120"/>
              </a:rPr>
              <a:t>NULLS AFTER CLEANING</a:t>
            </a:r>
            <a:endParaRPr lang="en-US" sz="1100" dirty="0"/>
          </a:p>
        </p:txBody>
      </p:sp>
      <p:sp>
        <p:nvSpPr>
          <p:cNvPr id="13" name="Text 11"/>
          <p:cNvSpPr/>
          <p:nvPr/>
        </p:nvSpPr>
        <p:spPr>
          <a:xfrm>
            <a:off x="4023360" y="2350008"/>
            <a:ext cx="265176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0</a:t>
            </a:r>
            <a:endParaRPr lang="en-US" sz="3400" dirty="0"/>
          </a:p>
        </p:txBody>
      </p:sp>
      <p:sp>
        <p:nvSpPr>
          <p:cNvPr id="14" name="Text 12"/>
          <p:cNvSpPr/>
          <p:nvPr/>
        </p:nvSpPr>
        <p:spPr>
          <a:xfrm>
            <a:off x="4023360" y="3099816"/>
            <a:ext cx="2651760" cy="274320"/>
          </a:xfrm>
          <a:prstGeom prst="rect">
            <a:avLst/>
          </a:prstGeom>
          <a:noFill/>
          <a:ln/>
        </p:spPr>
        <p:txBody>
          <a:bodyPr wrap="square" lIns="0" tIns="0" rIns="0" bIns="0" rtlCol="0" anchor="ctr"/>
          <a:lstStyle/>
          <a:p>
            <a:pPr algn="l" indent="0" marL="0">
              <a:buNone/>
            </a:pPr>
            <a:r>
              <a:rPr lang="en-US" sz="1050" dirty="0">
                <a:solidFill>
                  <a:srgbClr val="C9D6E3"/>
                </a:solidFill>
                <a:latin typeface="Calibri" pitchFamily="34" charset="0"/>
                <a:ea typeface="Calibri" pitchFamily="34" charset="-122"/>
                <a:cs typeface="Calibri" pitchFamily="34" charset="-120"/>
              </a:rPr>
              <a:t>no replacement needed</a:t>
            </a:r>
            <a:endParaRPr lang="en-US" sz="1050" dirty="0"/>
          </a:p>
        </p:txBody>
      </p:sp>
      <p:graphicFrame>
        <p:nvGraphicFramePr>
          <p:cNvPr id="15" name="Chart 0" descr=""/>
          <p:cNvGraphicFramePr/>
          <p:nvPr/>
        </p:nvGraphicFramePr>
        <p:xfrm>
          <a:off x="7360920" y="1874520"/>
          <a:ext cx="3931920" cy="301752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457200" y="3657600"/>
            <a:ext cx="6583680" cy="1280160"/>
          </a:xfrm>
          <a:prstGeom prst="rect">
            <a:avLst/>
          </a:prstGeom>
          <a:noFill/>
          <a:ln/>
        </p:spPr>
        <p:txBody>
          <a:bodyPr wrap="square" lIns="0" tIns="0" rIns="0" bIns="0" rtlCol="0" anchor="t"/>
          <a:lstStyle/>
          <a:p>
            <a:pPr algn="l" indent="0" marL="0">
              <a:lnSpc>
                <a:spcPct val="115000"/>
              </a:lnSpc>
              <a:buNone/>
            </a:pPr>
            <a:r>
              <a:rPr lang="en-US" sz="1250" dirty="0">
                <a:solidFill>
                  <a:srgbClr val="1B2233"/>
                </a:solidFill>
                <a:latin typeface="Calibri" pitchFamily="34" charset="0"/>
                <a:ea typeface="Calibri" pitchFamily="34" charset="-122"/>
                <a:cs typeface="Calibri" pitchFamily="34" charset="-120"/>
              </a:rPr>
              <a:t>An ISBLANK / COUNTBLANK audit of the SizeOption column returns zero blanks across all 1,000 rows — every product already lists at least one size. The cleaning formula below is applied regardless (as the task requires) and safely returns the original value for every row since no blanks exist.</a:t>
            </a:r>
            <a:endParaRPr lang="en-US" sz="1250" dirty="0"/>
          </a:p>
        </p:txBody>
      </p:sp>
      <p:sp>
        <p:nvSpPr>
          <p:cNvPr id="17" name="Shape 14"/>
          <p:cNvSpPr/>
          <p:nvPr/>
        </p:nvSpPr>
        <p:spPr>
          <a:xfrm>
            <a:off x="457200" y="5257800"/>
            <a:ext cx="10817352" cy="914400"/>
          </a:xfrm>
          <a:prstGeom prst="roundRect">
            <a:avLst>
              <a:gd name="adj" fmla="val 8000"/>
            </a:avLst>
          </a:prstGeom>
          <a:solidFill>
            <a:srgbClr val="F5F7F9"/>
          </a:solidFill>
          <a:ln w="12700">
            <a:solidFill>
              <a:srgbClr val="DCE2E8"/>
            </a:solidFill>
            <a:prstDash val="solid"/>
          </a:ln>
        </p:spPr>
      </p:sp>
      <p:sp>
        <p:nvSpPr>
          <p:cNvPr id="18" name="Text 15"/>
          <p:cNvSpPr/>
          <p:nvPr/>
        </p:nvSpPr>
        <p:spPr>
          <a:xfrm>
            <a:off x="640080" y="5349240"/>
            <a:ext cx="10451592" cy="219456"/>
          </a:xfrm>
          <a:prstGeom prst="rect">
            <a:avLst/>
          </a:prstGeom>
          <a:noFill/>
          <a:ln/>
        </p:spPr>
        <p:txBody>
          <a:bodyPr wrap="square" lIns="0" tIns="0" rIns="0" bIns="0" rtlCol="0" anchor="ctr"/>
          <a:lstStyle/>
          <a:p>
            <a:pPr indent="0" marL="0">
              <a:buNone/>
            </a:pPr>
            <a:r>
              <a:rPr lang="en-US" sz="900" b="1" spc="100" kern="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19" name="Text 16"/>
          <p:cNvSpPr/>
          <p:nvPr/>
        </p:nvSpPr>
        <p:spPr>
          <a:xfrm>
            <a:off x="640080" y="5550408"/>
            <a:ext cx="10451592" cy="292608"/>
          </a:xfrm>
          <a:prstGeom prst="rect">
            <a:avLst/>
          </a:prstGeom>
          <a:noFill/>
          <a:ln/>
        </p:spPr>
        <p:txBody>
          <a:bodyPr wrap="square" lIns="0" tIns="0" rIns="0" bIns="0" rtlCol="0" anchor="t">
            <a:normAutofit/>
          </a:bodyPr>
          <a:lstStyle/>
          <a:p>
            <a:pPr indent="0" marL="0">
              <a:buNone/>
            </a:pPr>
            <a:r>
              <a:rPr lang="en-US" sz="1250" dirty="0">
                <a:solidFill>
                  <a:srgbClr val="132347"/>
                </a:solidFill>
                <a:latin typeface="Courier New" pitchFamily="34" charset="0"/>
                <a:ea typeface="Courier New" pitchFamily="34" charset="-122"/>
                <a:cs typeface="Courier New" pitchFamily="34" charset="-120"/>
              </a:rPr>
              <a:t>=IF(ISBLANK(K2),"Not Available",K2)        Nulls found: =COUNTBLANK(K2:K1001) → 0</a:t>
            </a:r>
            <a:endParaRPr lang="en-US" sz="1250" dirty="0"/>
          </a:p>
        </p:txBody>
      </p:sp>
      <p:sp>
        <p:nvSpPr>
          <p:cNvPr id="20" name="Text 17"/>
          <p:cNvSpPr/>
          <p:nvPr/>
        </p:nvSpPr>
        <p:spPr>
          <a:xfrm>
            <a:off x="640080" y="5861304"/>
            <a:ext cx="10451592" cy="256032"/>
          </a:xfrm>
          <a:prstGeom prst="rect">
            <a:avLst/>
          </a:prstGeom>
          <a:noFill/>
          <a:ln/>
        </p:spPr>
        <p:txBody>
          <a:bodyPr wrap="square" lIns="0" tIns="0" rIns="0" bIns="0" rtlCol="0" anchor="ctr"/>
          <a:lstStyle/>
          <a:p>
            <a:pPr indent="0" marL="0">
              <a:buNone/>
            </a:pPr>
            <a:r>
              <a:rPr lang="en-US" sz="950" i="1" dirty="0">
                <a:solidFill>
                  <a:srgbClr val="6B7484"/>
                </a:solidFill>
                <a:latin typeface="Calibri" pitchFamily="34" charset="0"/>
                <a:ea typeface="Calibri" pitchFamily="34" charset="-122"/>
                <a:cs typeface="Calibri" pitchFamily="34" charset="-120"/>
              </a:rPr>
              <a:t>K = SizeOption column.</a:t>
            </a:r>
            <a:endParaRPr lang="en-US" sz="950" dirty="0"/>
          </a:p>
        </p:txBody>
      </p:sp>
      <p:sp>
        <p:nvSpPr>
          <p:cNvPr id="21" name="Text 1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7484"/>
                </a:solidFill>
                <a:latin typeface="Calibri" pitchFamily="34" charset="0"/>
                <a:ea typeface="Calibri" pitchFamily="34" charset="-122"/>
                <a:cs typeface="Calibri" pitchFamily="34" charset="-120"/>
              </a:rPr>
              <a:t>Data Cleaning — Q4</a:t>
            </a:r>
            <a:endParaRPr lang="en-US" sz="900" dirty="0"/>
          </a:p>
        </p:txBody>
      </p:sp>
      <p:sp>
        <p:nvSpPr>
          <p:cNvPr id="22" name="Text 19"/>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6B7484"/>
                </a:solidFill>
                <a:latin typeface="Calibri" pitchFamily="34" charset="0"/>
                <a:ea typeface="Calibri" pitchFamily="34" charset="-122"/>
                <a:cs typeface="Calibri" pitchFamily="34" charset="-120"/>
              </a:rPr>
              <a:t>06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sp>
      <p:sp>
        <p:nvSpPr>
          <p:cNvPr id="3" name="Text 1"/>
          <p:cNvSpPr/>
          <p:nvPr/>
        </p:nvSpPr>
        <p:spPr>
          <a:xfrm>
            <a:off x="457200" y="384048"/>
            <a:ext cx="86868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 · Q5</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algn="l" indent="0" marL="0">
              <a:buNone/>
            </a:pPr>
            <a:r>
              <a:rPr lang="en-US" sz="2200" b="1" dirty="0">
                <a:solidFill>
                  <a:srgbClr val="132347"/>
                </a:solidFill>
                <a:latin typeface="Cambria" pitchFamily="34" charset="0"/>
                <a:ea typeface="Cambria" pitchFamily="34" charset="-122"/>
                <a:cs typeface="Cambria" pitchFamily="34" charset="-120"/>
              </a:rPr>
              <a:t>Average Original Price for Ratings &gt; 4</a:t>
            </a:r>
            <a:endParaRPr lang="en-US" sz="2200" dirty="0"/>
          </a:p>
        </p:txBody>
      </p:sp>
      <p:sp>
        <p:nvSpPr>
          <p:cNvPr id="5" name="Shape 3"/>
          <p:cNvSpPr/>
          <p:nvPr/>
        </p:nvSpPr>
        <p:spPr>
          <a:xfrm>
            <a:off x="457200" y="1097280"/>
            <a:ext cx="10817352" cy="566928"/>
          </a:xfrm>
          <a:prstGeom prst="roundRect">
            <a:avLst>
              <a:gd name="adj" fmla="val 9677"/>
            </a:avLst>
          </a:prstGeom>
          <a:solidFill>
            <a:srgbClr val="E5F3F2"/>
          </a:solidFill>
          <a:ln/>
        </p:spPr>
      </p:sp>
      <p:sp>
        <p:nvSpPr>
          <p:cNvPr id="6" name="Text 4"/>
          <p:cNvSpPr/>
          <p:nvPr/>
        </p:nvSpPr>
        <p:spPr>
          <a:xfrm>
            <a:off x="640080" y="1097280"/>
            <a:ext cx="10424160" cy="566928"/>
          </a:xfrm>
          <a:prstGeom prst="rect">
            <a:avLst/>
          </a:prstGeom>
          <a:noFill/>
          <a:ln/>
        </p:spPr>
        <p:txBody>
          <a:bodyPr wrap="square" lIns="0" tIns="0" rIns="0" bIns="0" rtlCol="0" anchor="ctr"/>
          <a:lstStyle/>
          <a:p>
            <a:pPr indent="0" marL="0">
              <a:buNone/>
            </a:pPr>
            <a:r>
              <a:rPr lang="en-US" sz="1300" i="1" dirty="0">
                <a:solidFill>
                  <a:srgbClr val="132347"/>
                </a:solidFill>
                <a:latin typeface="Calibri" pitchFamily="34" charset="0"/>
                <a:ea typeface="Calibri" pitchFamily="34" charset="-122"/>
                <a:cs typeface="Calibri" pitchFamily="34" charset="-120"/>
              </a:rPr>
              <a:t>"Calculate the overall average original price for products with ratings greater than 4."</a:t>
            </a:r>
            <a:endParaRPr lang="en-US" sz="1300" dirty="0"/>
          </a:p>
        </p:txBody>
      </p:sp>
      <p:sp>
        <p:nvSpPr>
          <p:cNvPr id="7" name="Shape 5"/>
          <p:cNvSpPr/>
          <p:nvPr/>
        </p:nvSpPr>
        <p:spPr>
          <a:xfrm>
            <a:off x="457200" y="1965960"/>
            <a:ext cx="3291840" cy="1645920"/>
          </a:xfrm>
          <a:prstGeom prst="roundRect">
            <a:avLst>
              <a:gd name="adj" fmla="val 5556"/>
            </a:avLst>
          </a:prstGeom>
          <a:solidFill>
            <a:srgbClr val="132347"/>
          </a:solidFill>
          <a:ln/>
          <a:effectLst>
            <a:outerShdw sx="100000" sy="100000" kx="0" ky="0" algn="bl" rotWithShape="0" blurRad="76200" dist="38100" dir="5400000">
              <a:srgbClr val="1B2233">
                <a:alpha val="25000"/>
              </a:srgbClr>
            </a:outerShdw>
          </a:effectLst>
        </p:spPr>
      </p:sp>
      <p:sp>
        <p:nvSpPr>
          <p:cNvPr id="8" name="Text 6"/>
          <p:cNvSpPr/>
          <p:nvPr/>
        </p:nvSpPr>
        <p:spPr>
          <a:xfrm>
            <a:off x="685800" y="2130552"/>
            <a:ext cx="2834640" cy="274320"/>
          </a:xfrm>
          <a:prstGeom prst="rect">
            <a:avLst/>
          </a:prstGeom>
          <a:noFill/>
          <a:ln/>
        </p:spPr>
        <p:txBody>
          <a:bodyPr wrap="square" lIns="0" tIns="0" rIns="0" bIns="0" rtlCol="0" anchor="ctr"/>
          <a:lstStyle/>
          <a:p>
            <a:pPr algn="l" indent="0" marL="0">
              <a:buNone/>
            </a:pPr>
            <a:r>
              <a:rPr lang="en-US" sz="1100" b="1" spc="100" kern="0" dirty="0">
                <a:solidFill>
                  <a:srgbClr val="17A398"/>
                </a:solidFill>
                <a:latin typeface="Calibri" pitchFamily="34" charset="0"/>
                <a:ea typeface="Calibri" pitchFamily="34" charset="-122"/>
                <a:cs typeface="Calibri" pitchFamily="34" charset="-120"/>
              </a:rPr>
              <a:t>AVERAGE ORIGINAL PRICE</a:t>
            </a:r>
            <a:endParaRPr lang="en-US" sz="1100" dirty="0"/>
          </a:p>
          <a:p>
            <a:pPr algn="l" indent="0" marL="0">
              <a:buNone/>
            </a:pPr>
            <a:r>
              <a:rPr lang="en-US" sz="1100" b="1" spc="100" kern="0" dirty="0">
                <a:solidFill>
                  <a:srgbClr val="17A398"/>
                </a:solidFill>
                <a:latin typeface="Calibri" pitchFamily="34" charset="0"/>
                <a:ea typeface="Calibri" pitchFamily="34" charset="-122"/>
                <a:cs typeface="Calibri" pitchFamily="34" charset="-120"/>
              </a:rPr>
              <a:t>(RATING &gt; 4)</a:t>
            </a:r>
            <a:endParaRPr lang="en-US" sz="1100" dirty="0"/>
          </a:p>
        </p:txBody>
      </p:sp>
      <p:sp>
        <p:nvSpPr>
          <p:cNvPr id="9" name="Text 7"/>
          <p:cNvSpPr/>
          <p:nvPr/>
        </p:nvSpPr>
        <p:spPr>
          <a:xfrm>
            <a:off x="685800" y="2350008"/>
            <a:ext cx="2834640" cy="96012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₹1,591</a:t>
            </a:r>
            <a:endParaRPr lang="en-US" sz="3400" dirty="0"/>
          </a:p>
        </p:txBody>
      </p:sp>
      <p:sp>
        <p:nvSpPr>
          <p:cNvPr id="10" name="Text 8"/>
          <p:cNvSpPr/>
          <p:nvPr/>
        </p:nvSpPr>
        <p:spPr>
          <a:xfrm>
            <a:off x="685800" y="3282696"/>
            <a:ext cx="2834640" cy="274320"/>
          </a:xfrm>
          <a:prstGeom prst="rect">
            <a:avLst/>
          </a:prstGeom>
          <a:noFill/>
          <a:ln/>
        </p:spPr>
        <p:txBody>
          <a:bodyPr wrap="square" lIns="0" tIns="0" rIns="0" bIns="0" rtlCol="0" anchor="ctr"/>
          <a:lstStyle/>
          <a:p>
            <a:pPr algn="l" indent="0" marL="0">
              <a:buNone/>
            </a:pPr>
            <a:r>
              <a:rPr lang="en-US" sz="1050" dirty="0">
                <a:solidFill>
                  <a:srgbClr val="C9D6E3"/>
                </a:solidFill>
                <a:latin typeface="Calibri" pitchFamily="34" charset="0"/>
                <a:ea typeface="Calibri" pitchFamily="34" charset="-122"/>
                <a:cs typeface="Calibri" pitchFamily="34" charset="-120"/>
              </a:rPr>
              <a:t>precise: ₹1,590.999</a:t>
            </a:r>
            <a:endParaRPr lang="en-US" sz="1050" dirty="0"/>
          </a:p>
        </p:txBody>
      </p:sp>
      <p:graphicFrame>
        <p:nvGraphicFramePr>
          <p:cNvPr id="11" name="Chart 0" descr=""/>
          <p:cNvGraphicFramePr/>
          <p:nvPr/>
        </p:nvGraphicFramePr>
        <p:xfrm>
          <a:off x="4023360" y="1874520"/>
          <a:ext cx="7223760" cy="329184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p:nvPr/>
        </p:nvSpPr>
        <p:spPr>
          <a:xfrm>
            <a:off x="457200" y="3794760"/>
            <a:ext cx="3291840" cy="1371600"/>
          </a:xfrm>
          <a:prstGeom prst="rect">
            <a:avLst/>
          </a:prstGeom>
          <a:noFill/>
          <a:ln/>
        </p:spPr>
        <p:txBody>
          <a:bodyPr wrap="square" lIns="0" tIns="0" rIns="0" bIns="0" rtlCol="0" anchor="t"/>
          <a:lstStyle/>
          <a:p>
            <a:pPr algn="l" indent="0" marL="0">
              <a:lnSpc>
                <a:spcPct val="115000"/>
              </a:lnSpc>
              <a:buNone/>
            </a:pPr>
            <a:r>
              <a:rPr lang="en-US" sz="1250" dirty="0">
                <a:solidFill>
                  <a:srgbClr val="1B2233"/>
                </a:solidFill>
                <a:latin typeface="Calibri" pitchFamily="34" charset="0"/>
                <a:ea typeface="Calibri" pitchFamily="34" charset="-122"/>
                <a:cs typeface="Calibri" pitchFamily="34" charset="-120"/>
              </a:rPr>
              <a:t>Higher-rated products (&gt;4★) average slightly LOWER than the full catalog average — rating is not strongly tied to a price premium in this dataset.</a:t>
            </a:r>
            <a:endParaRPr lang="en-US" sz="1250" dirty="0"/>
          </a:p>
        </p:txBody>
      </p:sp>
      <p:sp>
        <p:nvSpPr>
          <p:cNvPr id="13" name="Shape 10"/>
          <p:cNvSpPr/>
          <p:nvPr/>
        </p:nvSpPr>
        <p:spPr>
          <a:xfrm>
            <a:off x="457200" y="5257800"/>
            <a:ext cx="10817352" cy="914400"/>
          </a:xfrm>
          <a:prstGeom prst="roundRect">
            <a:avLst>
              <a:gd name="adj" fmla="val 8000"/>
            </a:avLst>
          </a:prstGeom>
          <a:solidFill>
            <a:srgbClr val="F5F7F9"/>
          </a:solidFill>
          <a:ln w="12700">
            <a:solidFill>
              <a:srgbClr val="DCE2E8"/>
            </a:solidFill>
            <a:prstDash val="solid"/>
          </a:ln>
        </p:spPr>
      </p:sp>
      <p:sp>
        <p:nvSpPr>
          <p:cNvPr id="14" name="Text 11"/>
          <p:cNvSpPr/>
          <p:nvPr/>
        </p:nvSpPr>
        <p:spPr>
          <a:xfrm>
            <a:off x="640080" y="5349240"/>
            <a:ext cx="10451592" cy="219456"/>
          </a:xfrm>
          <a:prstGeom prst="rect">
            <a:avLst/>
          </a:prstGeom>
          <a:noFill/>
          <a:ln/>
        </p:spPr>
        <p:txBody>
          <a:bodyPr wrap="square" lIns="0" tIns="0" rIns="0" bIns="0" rtlCol="0" anchor="ctr"/>
          <a:lstStyle/>
          <a:p>
            <a:pPr indent="0" marL="0">
              <a:buNone/>
            </a:pPr>
            <a:r>
              <a:rPr lang="en-US" sz="900" b="1" spc="100" kern="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15" name="Text 12"/>
          <p:cNvSpPr/>
          <p:nvPr/>
        </p:nvSpPr>
        <p:spPr>
          <a:xfrm>
            <a:off x="640080" y="5550408"/>
            <a:ext cx="10451592" cy="292608"/>
          </a:xfrm>
          <a:prstGeom prst="rect">
            <a:avLst/>
          </a:prstGeom>
          <a:noFill/>
          <a:ln/>
        </p:spPr>
        <p:txBody>
          <a:bodyPr wrap="square" lIns="0" tIns="0" rIns="0" bIns="0" rtlCol="0" anchor="t">
            <a:normAutofit/>
          </a:bodyPr>
          <a:lstStyle/>
          <a:p>
            <a:pPr indent="0" marL="0">
              <a:buNone/>
            </a:pPr>
            <a:r>
              <a:rPr lang="en-US" sz="1250" dirty="0">
                <a:solidFill>
                  <a:srgbClr val="132347"/>
                </a:solidFill>
                <a:latin typeface="Courier New" pitchFamily="34" charset="0"/>
                <a:ea typeface="Courier New" pitchFamily="34" charset="-122"/>
                <a:cs typeface="Courier New" pitchFamily="34" charset="-120"/>
              </a:rPr>
              <a:t>=AVERAGEIF(L2:L1001,"&gt;4",I2:I1001)   →   Result: ₹1,590.9986</a:t>
            </a:r>
            <a:endParaRPr lang="en-US" sz="1250" dirty="0"/>
          </a:p>
        </p:txBody>
      </p:sp>
      <p:sp>
        <p:nvSpPr>
          <p:cNvPr id="16" name="Text 13"/>
          <p:cNvSpPr/>
          <p:nvPr/>
        </p:nvSpPr>
        <p:spPr>
          <a:xfrm>
            <a:off x="640080" y="5861304"/>
            <a:ext cx="10451592" cy="256032"/>
          </a:xfrm>
          <a:prstGeom prst="rect">
            <a:avLst/>
          </a:prstGeom>
          <a:noFill/>
          <a:ln/>
        </p:spPr>
        <p:txBody>
          <a:bodyPr wrap="square" lIns="0" tIns="0" rIns="0" bIns="0" rtlCol="0" anchor="ctr"/>
          <a:lstStyle/>
          <a:p>
            <a:pPr indent="0" marL="0">
              <a:buNone/>
            </a:pPr>
            <a:r>
              <a:rPr lang="en-US" sz="950" i="1" dirty="0">
                <a:solidFill>
                  <a:srgbClr val="6B7484"/>
                </a:solidFill>
                <a:latin typeface="Calibri" pitchFamily="34" charset="0"/>
                <a:ea typeface="Calibri" pitchFamily="34" charset="-122"/>
                <a:cs typeface="Calibri" pitchFamily="34" charset="-120"/>
              </a:rPr>
              <a:t>L = Ratings, I = Original Price (in Rs).</a:t>
            </a:r>
            <a:endParaRPr lang="en-US" sz="950" dirty="0"/>
          </a:p>
        </p:txBody>
      </p:sp>
      <p:sp>
        <p:nvSpPr>
          <p:cNvPr id="17" name="Text 1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7484"/>
                </a:solidFill>
                <a:latin typeface="Calibri" pitchFamily="34" charset="0"/>
                <a:ea typeface="Calibri" pitchFamily="34" charset="-122"/>
                <a:cs typeface="Calibri" pitchFamily="34" charset="-120"/>
              </a:rPr>
              <a:t>Data Analysis — Q5</a:t>
            </a:r>
            <a:endParaRPr lang="en-US" sz="900" dirty="0"/>
          </a:p>
        </p:txBody>
      </p:sp>
      <p:sp>
        <p:nvSpPr>
          <p:cNvPr id="18" name="Text 15"/>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6B7484"/>
                </a:solidFill>
                <a:latin typeface="Calibri" pitchFamily="34" charset="0"/>
                <a:ea typeface="Calibri" pitchFamily="34" charset="-122"/>
                <a:cs typeface="Calibri" pitchFamily="34" charset="-120"/>
              </a:rPr>
              <a:t>07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sp>
      <p:sp>
        <p:nvSpPr>
          <p:cNvPr id="3" name="Text 1"/>
          <p:cNvSpPr/>
          <p:nvPr/>
        </p:nvSpPr>
        <p:spPr>
          <a:xfrm>
            <a:off x="457200" y="384048"/>
            <a:ext cx="86868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 · Q6</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algn="l" indent="0" marL="0">
              <a:buNone/>
            </a:pPr>
            <a:r>
              <a:rPr lang="en-US" sz="2200" b="1" dirty="0">
                <a:solidFill>
                  <a:srgbClr val="132347"/>
                </a:solidFill>
                <a:latin typeface="Cambria" pitchFamily="34" charset="0"/>
                <a:ea typeface="Cambria" pitchFamily="34" charset="-122"/>
                <a:cs typeface="Cambria" pitchFamily="34" charset="-120"/>
              </a:rPr>
              <a:t>Products with a Discount Offer Greater than 50%</a:t>
            </a:r>
            <a:endParaRPr lang="en-US" sz="2200" dirty="0"/>
          </a:p>
        </p:txBody>
      </p:sp>
      <p:sp>
        <p:nvSpPr>
          <p:cNvPr id="5" name="Shape 3"/>
          <p:cNvSpPr/>
          <p:nvPr/>
        </p:nvSpPr>
        <p:spPr>
          <a:xfrm>
            <a:off x="457200" y="1097280"/>
            <a:ext cx="10817352" cy="566928"/>
          </a:xfrm>
          <a:prstGeom prst="roundRect">
            <a:avLst>
              <a:gd name="adj" fmla="val 9677"/>
            </a:avLst>
          </a:prstGeom>
          <a:solidFill>
            <a:srgbClr val="E5F3F2"/>
          </a:solidFill>
          <a:ln/>
        </p:spPr>
      </p:sp>
      <p:sp>
        <p:nvSpPr>
          <p:cNvPr id="6" name="Text 4"/>
          <p:cNvSpPr/>
          <p:nvPr/>
        </p:nvSpPr>
        <p:spPr>
          <a:xfrm>
            <a:off x="640080" y="1097280"/>
            <a:ext cx="10424160" cy="566928"/>
          </a:xfrm>
          <a:prstGeom prst="rect">
            <a:avLst/>
          </a:prstGeom>
          <a:noFill/>
          <a:ln/>
        </p:spPr>
        <p:txBody>
          <a:bodyPr wrap="square" lIns="0" tIns="0" rIns="0" bIns="0" rtlCol="0" anchor="ctr"/>
          <a:lstStyle/>
          <a:p>
            <a:pPr indent="0" marL="0">
              <a:buNone/>
            </a:pPr>
            <a:r>
              <a:rPr lang="en-US" sz="1300" i="1" dirty="0">
                <a:solidFill>
                  <a:srgbClr val="132347"/>
                </a:solidFill>
                <a:latin typeface="Calibri" pitchFamily="34" charset="0"/>
                <a:ea typeface="Calibri" pitchFamily="34" charset="-122"/>
                <a:cs typeface="Calibri" pitchFamily="34" charset="-120"/>
              </a:rPr>
              <a:t>"Count the number of products with a discount offer greater than 50% OFF."</a:t>
            </a:r>
            <a:endParaRPr lang="en-US" sz="1300" dirty="0"/>
          </a:p>
        </p:txBody>
      </p:sp>
      <p:sp>
        <p:nvSpPr>
          <p:cNvPr id="7" name="Shape 5"/>
          <p:cNvSpPr/>
          <p:nvPr/>
        </p:nvSpPr>
        <p:spPr>
          <a:xfrm>
            <a:off x="457200" y="1965960"/>
            <a:ext cx="3291840" cy="1554480"/>
          </a:xfrm>
          <a:prstGeom prst="roundRect">
            <a:avLst>
              <a:gd name="adj" fmla="val 5882"/>
            </a:avLst>
          </a:prstGeom>
          <a:solidFill>
            <a:srgbClr val="132347"/>
          </a:solidFill>
          <a:ln/>
          <a:effectLst>
            <a:outerShdw sx="100000" sy="100000" kx="0" ky="0" algn="bl" rotWithShape="0" blurRad="76200" dist="38100" dir="5400000">
              <a:srgbClr val="1B2233">
                <a:alpha val="25000"/>
              </a:srgbClr>
            </a:outerShdw>
          </a:effectLst>
        </p:spPr>
      </p:sp>
      <p:sp>
        <p:nvSpPr>
          <p:cNvPr id="8" name="Text 6"/>
          <p:cNvSpPr/>
          <p:nvPr/>
        </p:nvSpPr>
        <p:spPr>
          <a:xfrm>
            <a:off x="685800" y="2130552"/>
            <a:ext cx="2834640" cy="274320"/>
          </a:xfrm>
          <a:prstGeom prst="rect">
            <a:avLst/>
          </a:prstGeom>
          <a:noFill/>
          <a:ln/>
        </p:spPr>
        <p:txBody>
          <a:bodyPr wrap="square" lIns="0" tIns="0" rIns="0" bIns="0" rtlCol="0" anchor="ctr"/>
          <a:lstStyle/>
          <a:p>
            <a:pPr algn="l" indent="0" marL="0">
              <a:buNone/>
            </a:pPr>
            <a:r>
              <a:rPr lang="en-US" sz="1100" b="1" spc="100" kern="0" dirty="0">
                <a:solidFill>
                  <a:srgbClr val="17A398"/>
                </a:solidFill>
                <a:latin typeface="Calibri" pitchFamily="34" charset="0"/>
                <a:ea typeface="Calibri" pitchFamily="34" charset="-122"/>
                <a:cs typeface="Calibri" pitchFamily="34" charset="-120"/>
              </a:rPr>
              <a:t>PRODUCTS &gt; 50% OFF</a:t>
            </a:r>
            <a:endParaRPr lang="en-US" sz="1100" dirty="0"/>
          </a:p>
        </p:txBody>
      </p:sp>
      <p:sp>
        <p:nvSpPr>
          <p:cNvPr id="9" name="Text 7"/>
          <p:cNvSpPr/>
          <p:nvPr/>
        </p:nvSpPr>
        <p:spPr>
          <a:xfrm>
            <a:off x="685800" y="2350008"/>
            <a:ext cx="2834640" cy="86868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503</a:t>
            </a:r>
            <a:endParaRPr lang="en-US" sz="3400" dirty="0"/>
          </a:p>
        </p:txBody>
      </p:sp>
      <p:sp>
        <p:nvSpPr>
          <p:cNvPr id="10" name="Text 8"/>
          <p:cNvSpPr/>
          <p:nvPr/>
        </p:nvSpPr>
        <p:spPr>
          <a:xfrm>
            <a:off x="685800" y="3191256"/>
            <a:ext cx="2834640" cy="274320"/>
          </a:xfrm>
          <a:prstGeom prst="rect">
            <a:avLst/>
          </a:prstGeom>
          <a:noFill/>
          <a:ln/>
        </p:spPr>
        <p:txBody>
          <a:bodyPr wrap="square" lIns="0" tIns="0" rIns="0" bIns="0" rtlCol="0" anchor="ctr"/>
          <a:lstStyle/>
          <a:p>
            <a:pPr algn="l" indent="0" marL="0">
              <a:buNone/>
            </a:pPr>
            <a:r>
              <a:rPr lang="en-US" sz="1050" dirty="0">
                <a:solidFill>
                  <a:srgbClr val="C9D6E3"/>
                </a:solidFill>
                <a:latin typeface="Calibri" pitchFamily="34" charset="0"/>
                <a:ea typeface="Calibri" pitchFamily="34" charset="-122"/>
                <a:cs typeface="Calibri" pitchFamily="34" charset="-120"/>
              </a:rPr>
              <a:t>of 874 with a discount listed</a:t>
            </a:r>
            <a:endParaRPr lang="en-US" sz="1050" dirty="0"/>
          </a:p>
        </p:txBody>
      </p:sp>
      <p:graphicFrame>
        <p:nvGraphicFramePr>
          <p:cNvPr id="11" name="Chart 0" descr=""/>
          <p:cNvGraphicFramePr/>
          <p:nvPr/>
        </p:nvGraphicFramePr>
        <p:xfrm>
          <a:off x="4023360" y="1874520"/>
          <a:ext cx="7223760" cy="329184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p:nvPr/>
        </p:nvSpPr>
        <p:spPr>
          <a:xfrm>
            <a:off x="457200" y="3749040"/>
            <a:ext cx="3291840" cy="1463040"/>
          </a:xfrm>
          <a:prstGeom prst="rect">
            <a:avLst/>
          </a:prstGeom>
          <a:noFill/>
          <a:ln/>
        </p:spPr>
        <p:txBody>
          <a:bodyPr wrap="square" lIns="0" tIns="0" rIns="0" bIns="0" rtlCol="0" anchor="t"/>
          <a:lstStyle/>
          <a:p>
            <a:pPr algn="l" indent="0" marL="0">
              <a:lnSpc>
                <a:spcPct val="115000"/>
              </a:lnSpc>
              <a:buNone/>
            </a:pPr>
            <a:r>
              <a:rPr lang="en-US" sz="1250" dirty="0">
                <a:solidFill>
                  <a:srgbClr val="1B2233"/>
                </a:solidFill>
                <a:latin typeface="Calibri" pitchFamily="34" charset="0"/>
                <a:ea typeface="Calibri" pitchFamily="34" charset="-122"/>
                <a:cs typeface="Calibri" pitchFamily="34" charset="-120"/>
              </a:rPr>
              <a:t>50% itself is NOT included — only offers strictly greater than 50% count. 126 products carry no discount offer at all and are excluded from this base.</a:t>
            </a:r>
            <a:endParaRPr lang="en-US" sz="1250" dirty="0"/>
          </a:p>
        </p:txBody>
      </p:sp>
      <p:sp>
        <p:nvSpPr>
          <p:cNvPr id="13" name="Shape 10"/>
          <p:cNvSpPr/>
          <p:nvPr/>
        </p:nvSpPr>
        <p:spPr>
          <a:xfrm>
            <a:off x="457200" y="5257800"/>
            <a:ext cx="10817352" cy="914400"/>
          </a:xfrm>
          <a:prstGeom prst="roundRect">
            <a:avLst>
              <a:gd name="adj" fmla="val 8000"/>
            </a:avLst>
          </a:prstGeom>
          <a:solidFill>
            <a:srgbClr val="F5F7F9"/>
          </a:solidFill>
          <a:ln w="12700">
            <a:solidFill>
              <a:srgbClr val="DCE2E8"/>
            </a:solidFill>
            <a:prstDash val="solid"/>
          </a:ln>
        </p:spPr>
      </p:sp>
      <p:sp>
        <p:nvSpPr>
          <p:cNvPr id="14" name="Text 11"/>
          <p:cNvSpPr/>
          <p:nvPr/>
        </p:nvSpPr>
        <p:spPr>
          <a:xfrm>
            <a:off x="640080" y="5349240"/>
            <a:ext cx="10451592" cy="219456"/>
          </a:xfrm>
          <a:prstGeom prst="rect">
            <a:avLst/>
          </a:prstGeom>
          <a:noFill/>
          <a:ln/>
        </p:spPr>
        <p:txBody>
          <a:bodyPr wrap="square" lIns="0" tIns="0" rIns="0" bIns="0" rtlCol="0" anchor="ctr"/>
          <a:lstStyle/>
          <a:p>
            <a:pPr indent="0" marL="0">
              <a:buNone/>
            </a:pPr>
            <a:r>
              <a:rPr lang="en-US" sz="900" b="1" spc="100" kern="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15" name="Text 12"/>
          <p:cNvSpPr/>
          <p:nvPr/>
        </p:nvSpPr>
        <p:spPr>
          <a:xfrm>
            <a:off x="640080" y="5550408"/>
            <a:ext cx="10451592" cy="292608"/>
          </a:xfrm>
          <a:prstGeom prst="rect">
            <a:avLst/>
          </a:prstGeom>
          <a:noFill/>
          <a:ln/>
        </p:spPr>
        <p:txBody>
          <a:bodyPr wrap="square" lIns="0" tIns="0" rIns="0" bIns="0" rtlCol="0" anchor="t">
            <a:normAutofit/>
          </a:bodyPr>
          <a:lstStyle/>
          <a:p>
            <a:pPr indent="0" marL="0">
              <a:buNone/>
            </a:pPr>
            <a:r>
              <a:rPr lang="en-US" sz="1250" dirty="0">
                <a:solidFill>
                  <a:srgbClr val="132347"/>
                </a:solidFill>
                <a:latin typeface="Courier New" pitchFamily="34" charset="0"/>
                <a:ea typeface="Courier New" pitchFamily="34" charset="-122"/>
                <a:cs typeface="Courier New" pitchFamily="34" charset="-120"/>
              </a:rPr>
              <a:t>=COUNTIF(StandardizedOffer2:StandardizedOffer1001,"&gt;0.5")   →   Result: 503</a:t>
            </a:r>
            <a:endParaRPr lang="en-US" sz="1250" dirty="0"/>
          </a:p>
        </p:txBody>
      </p:sp>
      <p:sp>
        <p:nvSpPr>
          <p:cNvPr id="16" name="Text 13"/>
          <p:cNvSpPr/>
          <p:nvPr/>
        </p:nvSpPr>
        <p:spPr>
          <a:xfrm>
            <a:off x="640080" y="5861304"/>
            <a:ext cx="10451592" cy="256032"/>
          </a:xfrm>
          <a:prstGeom prst="rect">
            <a:avLst/>
          </a:prstGeom>
          <a:noFill/>
          <a:ln/>
        </p:spPr>
        <p:txBody>
          <a:bodyPr wrap="square" lIns="0" tIns="0" rIns="0" bIns="0" rtlCol="0" anchor="ctr"/>
          <a:lstStyle/>
          <a:p>
            <a:pPr indent="0" marL="0">
              <a:buNone/>
            </a:pPr>
            <a:r>
              <a:rPr lang="en-US" sz="950" i="1" dirty="0">
                <a:solidFill>
                  <a:srgbClr val="6B7484"/>
                </a:solidFill>
                <a:latin typeface="Calibri" pitchFamily="34" charset="0"/>
                <a:ea typeface="Calibri" pitchFamily="34" charset="-122"/>
                <a:cs typeface="Calibri" pitchFamily="34" charset="-120"/>
              </a:rPr>
              <a:t>Applied to the numeric standardized DiscountOffer column from Q2 (values as decimals, e.g. 0.55).</a:t>
            </a:r>
            <a:endParaRPr lang="en-US" sz="950" dirty="0"/>
          </a:p>
        </p:txBody>
      </p:sp>
      <p:sp>
        <p:nvSpPr>
          <p:cNvPr id="17" name="Text 1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7484"/>
                </a:solidFill>
                <a:latin typeface="Calibri" pitchFamily="34" charset="0"/>
                <a:ea typeface="Calibri" pitchFamily="34" charset="-122"/>
                <a:cs typeface="Calibri" pitchFamily="34" charset="-120"/>
              </a:rPr>
              <a:t>Data Analysis — Q6</a:t>
            </a:r>
            <a:endParaRPr lang="en-US" sz="900" dirty="0"/>
          </a:p>
        </p:txBody>
      </p:sp>
      <p:sp>
        <p:nvSpPr>
          <p:cNvPr id="18" name="Text 15"/>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6B7484"/>
                </a:solidFill>
                <a:latin typeface="Calibri" pitchFamily="34" charset="0"/>
                <a:ea typeface="Calibri" pitchFamily="34" charset="-122"/>
                <a:cs typeface="Calibri" pitchFamily="34" charset="-120"/>
              </a:rPr>
              <a:t>08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sp>
      <p:sp>
        <p:nvSpPr>
          <p:cNvPr id="3" name="Text 1"/>
          <p:cNvSpPr/>
          <p:nvPr/>
        </p:nvSpPr>
        <p:spPr>
          <a:xfrm>
            <a:off x="457200" y="384048"/>
            <a:ext cx="86868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 · Q7</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algn="l" indent="0" marL="0">
              <a:buNone/>
            </a:pPr>
            <a:r>
              <a:rPr lang="en-US" sz="2200" b="1" dirty="0">
                <a:solidFill>
                  <a:srgbClr val="132347"/>
                </a:solidFill>
                <a:latin typeface="Cambria" pitchFamily="34" charset="0"/>
                <a:ea typeface="Cambria" pitchFamily="34" charset="-122"/>
                <a:cs typeface="Cambria" pitchFamily="34" charset="-120"/>
              </a:rPr>
              <a:t>Products Available in Size "M"</a:t>
            </a:r>
            <a:endParaRPr lang="en-US" sz="2200" dirty="0"/>
          </a:p>
        </p:txBody>
      </p:sp>
      <p:sp>
        <p:nvSpPr>
          <p:cNvPr id="5" name="Shape 3"/>
          <p:cNvSpPr/>
          <p:nvPr/>
        </p:nvSpPr>
        <p:spPr>
          <a:xfrm>
            <a:off x="457200" y="1097280"/>
            <a:ext cx="10817352" cy="566928"/>
          </a:xfrm>
          <a:prstGeom prst="roundRect">
            <a:avLst>
              <a:gd name="adj" fmla="val 9677"/>
            </a:avLst>
          </a:prstGeom>
          <a:solidFill>
            <a:srgbClr val="E5F3F2"/>
          </a:solidFill>
          <a:ln/>
        </p:spPr>
      </p:sp>
      <p:sp>
        <p:nvSpPr>
          <p:cNvPr id="6" name="Text 4"/>
          <p:cNvSpPr/>
          <p:nvPr/>
        </p:nvSpPr>
        <p:spPr>
          <a:xfrm>
            <a:off x="640080" y="1097280"/>
            <a:ext cx="10424160" cy="566928"/>
          </a:xfrm>
          <a:prstGeom prst="rect">
            <a:avLst/>
          </a:prstGeom>
          <a:noFill/>
          <a:ln/>
        </p:spPr>
        <p:txBody>
          <a:bodyPr wrap="square" lIns="0" tIns="0" rIns="0" bIns="0" rtlCol="0" anchor="ctr"/>
          <a:lstStyle/>
          <a:p>
            <a:pPr indent="0" marL="0">
              <a:buNone/>
            </a:pPr>
            <a:r>
              <a:rPr lang="en-US" sz="1300" i="1" dirty="0">
                <a:solidFill>
                  <a:srgbClr val="132347"/>
                </a:solidFill>
                <a:latin typeface="Calibri" pitchFamily="34" charset="0"/>
                <a:ea typeface="Calibri" pitchFamily="34" charset="-122"/>
                <a:cs typeface="Calibri" pitchFamily="34" charset="-120"/>
              </a:rPr>
              <a:t>"Count the number of products available in size \"M\"."</a:t>
            </a:r>
            <a:endParaRPr lang="en-US" sz="1300" dirty="0"/>
          </a:p>
        </p:txBody>
      </p:sp>
      <p:sp>
        <p:nvSpPr>
          <p:cNvPr id="7" name="Shape 5"/>
          <p:cNvSpPr/>
          <p:nvPr/>
        </p:nvSpPr>
        <p:spPr>
          <a:xfrm>
            <a:off x="457200" y="1965960"/>
            <a:ext cx="3108960" cy="1554480"/>
          </a:xfrm>
          <a:prstGeom prst="roundRect">
            <a:avLst>
              <a:gd name="adj" fmla="val 5882"/>
            </a:avLst>
          </a:prstGeom>
          <a:solidFill>
            <a:srgbClr val="132347"/>
          </a:solidFill>
          <a:ln/>
          <a:effectLst>
            <a:outerShdw sx="100000" sy="100000" kx="0" ky="0" algn="bl" rotWithShape="0" blurRad="76200" dist="38100" dir="5400000">
              <a:srgbClr val="1B2233">
                <a:alpha val="25000"/>
              </a:srgbClr>
            </a:outerShdw>
          </a:effectLst>
        </p:spPr>
      </p:sp>
      <p:sp>
        <p:nvSpPr>
          <p:cNvPr id="8" name="Text 6"/>
          <p:cNvSpPr/>
          <p:nvPr/>
        </p:nvSpPr>
        <p:spPr>
          <a:xfrm>
            <a:off x="685800" y="2130552"/>
            <a:ext cx="2651760" cy="274320"/>
          </a:xfrm>
          <a:prstGeom prst="rect">
            <a:avLst/>
          </a:prstGeom>
          <a:noFill/>
          <a:ln/>
        </p:spPr>
        <p:txBody>
          <a:bodyPr wrap="square" lIns="0" tIns="0" rIns="0" bIns="0" rtlCol="0" anchor="ctr"/>
          <a:lstStyle/>
          <a:p>
            <a:pPr algn="l" indent="0" marL="0">
              <a:buNone/>
            </a:pPr>
            <a:r>
              <a:rPr lang="en-US" sz="1100" b="1" spc="100" kern="0" dirty="0">
                <a:solidFill>
                  <a:srgbClr val="17A398"/>
                </a:solidFill>
                <a:latin typeface="Calibri" pitchFamily="34" charset="0"/>
                <a:ea typeface="Calibri" pitchFamily="34" charset="-122"/>
                <a:cs typeface="Calibri" pitchFamily="34" charset="-120"/>
              </a:rPr>
              <a:t>PRODUCTS IN SIZE M</a:t>
            </a:r>
            <a:endParaRPr lang="en-US" sz="1100" dirty="0"/>
          </a:p>
        </p:txBody>
      </p:sp>
      <p:sp>
        <p:nvSpPr>
          <p:cNvPr id="9" name="Text 7"/>
          <p:cNvSpPr/>
          <p:nvPr/>
        </p:nvSpPr>
        <p:spPr>
          <a:xfrm>
            <a:off x="685800" y="2350008"/>
            <a:ext cx="2651760" cy="86868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675</a:t>
            </a:r>
            <a:endParaRPr lang="en-US" sz="3400" dirty="0"/>
          </a:p>
        </p:txBody>
      </p:sp>
      <p:sp>
        <p:nvSpPr>
          <p:cNvPr id="10" name="Text 8"/>
          <p:cNvSpPr/>
          <p:nvPr/>
        </p:nvSpPr>
        <p:spPr>
          <a:xfrm>
            <a:off x="685800" y="3191256"/>
            <a:ext cx="2651760" cy="274320"/>
          </a:xfrm>
          <a:prstGeom prst="rect">
            <a:avLst/>
          </a:prstGeom>
          <a:noFill/>
          <a:ln/>
        </p:spPr>
        <p:txBody>
          <a:bodyPr wrap="square" lIns="0" tIns="0" rIns="0" bIns="0" rtlCol="0" anchor="ctr"/>
          <a:lstStyle/>
          <a:p>
            <a:pPr algn="l" indent="0" marL="0">
              <a:buNone/>
            </a:pPr>
            <a:r>
              <a:rPr lang="en-US" sz="1050" dirty="0">
                <a:solidFill>
                  <a:srgbClr val="C9D6E3"/>
                </a:solidFill>
                <a:latin typeface="Calibri" pitchFamily="34" charset="0"/>
                <a:ea typeface="Calibri" pitchFamily="34" charset="-122"/>
                <a:cs typeface="Calibri" pitchFamily="34" charset="-120"/>
              </a:rPr>
              <a:t>of 1,000 (67.5%)</a:t>
            </a:r>
            <a:endParaRPr lang="en-US" sz="1050" dirty="0"/>
          </a:p>
        </p:txBody>
      </p:sp>
      <p:graphicFrame>
        <p:nvGraphicFramePr>
          <p:cNvPr id="11" name="Chart 0" descr=""/>
          <p:cNvGraphicFramePr/>
          <p:nvPr/>
        </p:nvGraphicFramePr>
        <p:xfrm>
          <a:off x="3931920" y="1828800"/>
          <a:ext cx="3931920" cy="329184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p:nvPr/>
        </p:nvSpPr>
        <p:spPr>
          <a:xfrm>
            <a:off x="8138160" y="1920240"/>
            <a:ext cx="3154680" cy="3200400"/>
          </a:xfrm>
          <a:prstGeom prst="rect">
            <a:avLst/>
          </a:prstGeom>
          <a:noFill/>
          <a:ln/>
        </p:spPr>
        <p:txBody>
          <a:bodyPr wrap="square" lIns="0" tIns="0" rIns="0" bIns="0" rtlCol="0" anchor="t"/>
          <a:lstStyle/>
          <a:p>
            <a:pPr algn="l" indent="0" marL="0">
              <a:lnSpc>
                <a:spcPct val="115000"/>
              </a:lnSpc>
              <a:buNone/>
            </a:pPr>
            <a:r>
              <a:rPr lang="en-US" sz="1250" dirty="0">
                <a:solidFill>
                  <a:srgbClr val="1B2233"/>
                </a:solidFill>
                <a:latin typeface="Calibri" pitchFamily="34" charset="0"/>
                <a:ea typeface="Calibri" pitchFamily="34" charset="-122"/>
                <a:cs typeface="Calibri" pitchFamily="34" charset="-120"/>
              </a:rPr>
              <a:t>Counted where "M" appears as its own size in the comma-separated SizeOption list.</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1B2233"/>
                </a:solidFill>
                <a:latin typeface="Calibri" pitchFamily="34" charset="0"/>
                <a:ea typeface="Calibri" pitchFamily="34" charset="-122"/>
                <a:cs typeface="Calibri" pitchFamily="34" charset="-120"/>
              </a:rPr>
              <a:t>One combined code, "S/M" (1 product), is a distinct size label and was not counted as a literal "M".</a:t>
            </a:r>
            <a:endParaRPr lang="en-US" sz="1250" dirty="0"/>
          </a:p>
        </p:txBody>
      </p:sp>
      <p:sp>
        <p:nvSpPr>
          <p:cNvPr id="13" name="Shape 10"/>
          <p:cNvSpPr/>
          <p:nvPr/>
        </p:nvSpPr>
        <p:spPr>
          <a:xfrm>
            <a:off x="457200" y="5257800"/>
            <a:ext cx="10817352" cy="914400"/>
          </a:xfrm>
          <a:prstGeom prst="roundRect">
            <a:avLst>
              <a:gd name="adj" fmla="val 8000"/>
            </a:avLst>
          </a:prstGeom>
          <a:solidFill>
            <a:srgbClr val="F5F7F9"/>
          </a:solidFill>
          <a:ln w="12700">
            <a:solidFill>
              <a:srgbClr val="DCE2E8"/>
            </a:solidFill>
            <a:prstDash val="solid"/>
          </a:ln>
        </p:spPr>
      </p:sp>
      <p:sp>
        <p:nvSpPr>
          <p:cNvPr id="14" name="Text 11"/>
          <p:cNvSpPr/>
          <p:nvPr/>
        </p:nvSpPr>
        <p:spPr>
          <a:xfrm>
            <a:off x="640080" y="5349240"/>
            <a:ext cx="10451592" cy="219456"/>
          </a:xfrm>
          <a:prstGeom prst="rect">
            <a:avLst/>
          </a:prstGeom>
          <a:noFill/>
          <a:ln/>
        </p:spPr>
        <p:txBody>
          <a:bodyPr wrap="square" lIns="0" tIns="0" rIns="0" bIns="0" rtlCol="0" anchor="ctr"/>
          <a:lstStyle/>
          <a:p>
            <a:pPr indent="0" marL="0">
              <a:buNone/>
            </a:pPr>
            <a:r>
              <a:rPr lang="en-US" sz="900" b="1" spc="100" kern="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15" name="Text 12"/>
          <p:cNvSpPr/>
          <p:nvPr/>
        </p:nvSpPr>
        <p:spPr>
          <a:xfrm>
            <a:off x="640080" y="5550408"/>
            <a:ext cx="10451592" cy="292608"/>
          </a:xfrm>
          <a:prstGeom prst="rect">
            <a:avLst/>
          </a:prstGeom>
          <a:noFill/>
          <a:ln/>
        </p:spPr>
        <p:txBody>
          <a:bodyPr wrap="square" lIns="0" tIns="0" rIns="0" bIns="0" rtlCol="0" anchor="t">
            <a:normAutofit/>
          </a:bodyPr>
          <a:lstStyle/>
          <a:p>
            <a:pPr indent="0" marL="0">
              <a:buNone/>
            </a:pPr>
            <a:r>
              <a:rPr lang="en-US" sz="1250" dirty="0">
                <a:solidFill>
                  <a:srgbClr val="132347"/>
                </a:solidFill>
                <a:latin typeface="Courier New" pitchFamily="34" charset="0"/>
                <a:ea typeface="Courier New" pitchFamily="34" charset="-122"/>
                <a:cs typeface="Courier New" pitchFamily="34" charset="-120"/>
              </a:rPr>
              <a:t>=SUMPRODUCT(ISNUMBER(SEARCH(",M,", ","&amp;SUBSTITUTE(K2:K1001," ","")&amp;",")))   →   Result: 675</a:t>
            </a:r>
            <a:endParaRPr lang="en-US" sz="1250" dirty="0"/>
          </a:p>
        </p:txBody>
      </p:sp>
      <p:sp>
        <p:nvSpPr>
          <p:cNvPr id="16" name="Text 13"/>
          <p:cNvSpPr/>
          <p:nvPr/>
        </p:nvSpPr>
        <p:spPr>
          <a:xfrm>
            <a:off x="640080" y="5861304"/>
            <a:ext cx="10451592" cy="256032"/>
          </a:xfrm>
          <a:prstGeom prst="rect">
            <a:avLst/>
          </a:prstGeom>
          <a:noFill/>
          <a:ln/>
        </p:spPr>
        <p:txBody>
          <a:bodyPr wrap="square" lIns="0" tIns="0" rIns="0" bIns="0" rtlCol="0" anchor="ctr"/>
          <a:lstStyle/>
          <a:p>
            <a:pPr indent="0" marL="0">
              <a:buNone/>
            </a:pPr>
            <a:r>
              <a:rPr lang="en-US" sz="950" i="1" dirty="0">
                <a:solidFill>
                  <a:srgbClr val="6B7484"/>
                </a:solidFill>
                <a:latin typeface="Calibri" pitchFamily="34" charset="0"/>
                <a:ea typeface="Calibri" pitchFamily="34" charset="-122"/>
                <a:cs typeface="Calibri" pitchFamily="34" charset="-120"/>
              </a:rPr>
              <a:t>K = SizeOption. Padding each list with leading/trailing commas isolates the exact "M" token.</a:t>
            </a:r>
            <a:endParaRPr lang="en-US" sz="950" dirty="0"/>
          </a:p>
        </p:txBody>
      </p:sp>
      <p:sp>
        <p:nvSpPr>
          <p:cNvPr id="17" name="Text 1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7484"/>
                </a:solidFill>
                <a:latin typeface="Calibri" pitchFamily="34" charset="0"/>
                <a:ea typeface="Calibri" pitchFamily="34" charset="-122"/>
                <a:cs typeface="Calibri" pitchFamily="34" charset="-120"/>
              </a:rPr>
              <a:t>Data Analysis — Q7</a:t>
            </a:r>
            <a:endParaRPr lang="en-US" sz="900" dirty="0"/>
          </a:p>
        </p:txBody>
      </p:sp>
      <p:sp>
        <p:nvSpPr>
          <p:cNvPr id="18" name="Text 15"/>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6B7484"/>
                </a:solidFill>
                <a:latin typeface="Calibri" pitchFamily="34" charset="0"/>
                <a:ea typeface="Calibri" pitchFamily="34" charset="-122"/>
                <a:cs typeface="Calibri" pitchFamily="34" charset="-120"/>
              </a:rPr>
              <a:t>09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sp>
      <p:sp>
        <p:nvSpPr>
          <p:cNvPr id="3" name="Text 1"/>
          <p:cNvSpPr/>
          <p:nvPr/>
        </p:nvSpPr>
        <p:spPr>
          <a:xfrm>
            <a:off x="457200" y="384048"/>
            <a:ext cx="86868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 · Q8</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algn="l" indent="0" marL="0">
              <a:buNone/>
            </a:pPr>
            <a:r>
              <a:rPr lang="en-US" sz="2200" b="1" dirty="0">
                <a:solidFill>
                  <a:srgbClr val="132347"/>
                </a:solidFill>
                <a:latin typeface="Cambria" pitchFamily="34" charset="0"/>
                <a:ea typeface="Cambria" pitchFamily="34" charset="-122"/>
                <a:cs typeface="Cambria" pitchFamily="34" charset="-120"/>
              </a:rPr>
              <a:t>Label Products as High Discount / Low Discount</a:t>
            </a:r>
            <a:endParaRPr lang="en-US" sz="2200" dirty="0"/>
          </a:p>
        </p:txBody>
      </p:sp>
      <p:sp>
        <p:nvSpPr>
          <p:cNvPr id="5" name="Shape 3"/>
          <p:cNvSpPr/>
          <p:nvPr/>
        </p:nvSpPr>
        <p:spPr>
          <a:xfrm>
            <a:off x="457200" y="1051560"/>
            <a:ext cx="10817352" cy="658368"/>
          </a:xfrm>
          <a:prstGeom prst="roundRect">
            <a:avLst>
              <a:gd name="adj" fmla="val 8333"/>
            </a:avLst>
          </a:prstGeom>
          <a:solidFill>
            <a:srgbClr val="E5F3F2"/>
          </a:solidFill>
          <a:ln/>
        </p:spPr>
      </p:sp>
      <p:sp>
        <p:nvSpPr>
          <p:cNvPr id="6" name="Text 4"/>
          <p:cNvSpPr/>
          <p:nvPr/>
        </p:nvSpPr>
        <p:spPr>
          <a:xfrm>
            <a:off x="640080" y="1051560"/>
            <a:ext cx="10424160" cy="658368"/>
          </a:xfrm>
          <a:prstGeom prst="rect">
            <a:avLst/>
          </a:prstGeom>
          <a:noFill/>
          <a:ln/>
        </p:spPr>
        <p:txBody>
          <a:bodyPr wrap="square" lIns="0" tIns="0" rIns="0" bIns="0" rtlCol="0" anchor="ctr"/>
          <a:lstStyle/>
          <a:p>
            <a:pPr indent="0" marL="0">
              <a:buNone/>
            </a:pPr>
            <a:r>
              <a:rPr lang="en-US" sz="1250" i="1" dirty="0">
                <a:solidFill>
                  <a:srgbClr val="132347"/>
                </a:solidFill>
                <a:latin typeface="Calibri" pitchFamily="34" charset="0"/>
                <a:ea typeface="Calibri" pitchFamily="34" charset="-122"/>
                <a:cs typeface="Calibri" pitchFamily="34" charset="-120"/>
              </a:rPr>
              <a:t>"Create a new column to label the products as \"High Discount\" if the discount offer is greater than 50% OFF, otherwise label them as \"Low Discount\"."</a:t>
            </a:r>
            <a:endParaRPr lang="en-US" sz="1250" dirty="0"/>
          </a:p>
        </p:txBody>
      </p:sp>
      <p:sp>
        <p:nvSpPr>
          <p:cNvPr id="7" name="Shape 5"/>
          <p:cNvSpPr/>
          <p:nvPr/>
        </p:nvSpPr>
        <p:spPr>
          <a:xfrm>
            <a:off x="457200" y="1965960"/>
            <a:ext cx="3108960" cy="1463040"/>
          </a:xfrm>
          <a:prstGeom prst="roundRect">
            <a:avLst>
              <a:gd name="adj" fmla="val 6250"/>
            </a:avLst>
          </a:prstGeom>
          <a:solidFill>
            <a:srgbClr val="132347"/>
          </a:solidFill>
          <a:ln/>
          <a:effectLst>
            <a:outerShdw sx="100000" sy="100000" kx="0" ky="0" algn="bl" rotWithShape="0" blurRad="76200" dist="38100" dir="5400000">
              <a:srgbClr val="1B2233">
                <a:alpha val="25000"/>
              </a:srgbClr>
            </a:outerShdw>
          </a:effectLst>
        </p:spPr>
      </p:sp>
      <p:sp>
        <p:nvSpPr>
          <p:cNvPr id="8" name="Text 6"/>
          <p:cNvSpPr/>
          <p:nvPr/>
        </p:nvSpPr>
        <p:spPr>
          <a:xfrm>
            <a:off x="685800" y="2130552"/>
            <a:ext cx="2651760" cy="274320"/>
          </a:xfrm>
          <a:prstGeom prst="rect">
            <a:avLst/>
          </a:prstGeom>
          <a:noFill/>
          <a:ln/>
        </p:spPr>
        <p:txBody>
          <a:bodyPr wrap="square" lIns="0" tIns="0" rIns="0" bIns="0" rtlCol="0" anchor="ctr"/>
          <a:lstStyle/>
          <a:p>
            <a:pPr algn="l" indent="0" marL="0">
              <a:buNone/>
            </a:pPr>
            <a:r>
              <a:rPr lang="en-US" sz="1100" b="1" spc="100" kern="0" dirty="0">
                <a:solidFill>
                  <a:srgbClr val="17A398"/>
                </a:solidFill>
                <a:latin typeface="Calibri" pitchFamily="34" charset="0"/>
                <a:ea typeface="Calibri" pitchFamily="34" charset="-122"/>
                <a:cs typeface="Calibri" pitchFamily="34" charset="-120"/>
              </a:rPr>
              <a:t>HIGH DISCOUNT</a:t>
            </a:r>
            <a:endParaRPr lang="en-US" sz="1100" dirty="0"/>
          </a:p>
          <a:p>
            <a:pPr algn="l" indent="0" marL="0">
              <a:buNone/>
            </a:pPr>
            <a:r>
              <a:rPr lang="en-US" sz="1100" b="1" spc="100" kern="0" dirty="0">
                <a:solidFill>
                  <a:srgbClr val="17A398"/>
                </a:solidFill>
                <a:latin typeface="Calibri" pitchFamily="34" charset="0"/>
                <a:ea typeface="Calibri" pitchFamily="34" charset="-122"/>
                <a:cs typeface="Calibri" pitchFamily="34" charset="-120"/>
              </a:rPr>
              <a:t>(&gt; 50%)</a:t>
            </a:r>
            <a:endParaRPr lang="en-US" sz="1100" dirty="0"/>
          </a:p>
        </p:txBody>
      </p:sp>
      <p:sp>
        <p:nvSpPr>
          <p:cNvPr id="9" name="Text 7"/>
          <p:cNvSpPr/>
          <p:nvPr/>
        </p:nvSpPr>
        <p:spPr>
          <a:xfrm>
            <a:off x="685800" y="2350008"/>
            <a:ext cx="265176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503</a:t>
            </a:r>
            <a:endParaRPr lang="en-US" sz="3400" dirty="0"/>
          </a:p>
        </p:txBody>
      </p:sp>
      <p:sp>
        <p:nvSpPr>
          <p:cNvPr id="10" name="Shape 8"/>
          <p:cNvSpPr/>
          <p:nvPr/>
        </p:nvSpPr>
        <p:spPr>
          <a:xfrm>
            <a:off x="3794760" y="1965960"/>
            <a:ext cx="3108960" cy="1463040"/>
          </a:xfrm>
          <a:prstGeom prst="roundRect">
            <a:avLst>
              <a:gd name="adj" fmla="val 6250"/>
            </a:avLst>
          </a:prstGeom>
          <a:solidFill>
            <a:srgbClr val="132347"/>
          </a:solidFill>
          <a:ln/>
          <a:effectLst>
            <a:outerShdw sx="100000" sy="100000" kx="0" ky="0" algn="bl" rotWithShape="0" blurRad="76200" dist="38100" dir="5400000">
              <a:srgbClr val="1B2233">
                <a:alpha val="25000"/>
              </a:srgbClr>
            </a:outerShdw>
          </a:effectLst>
        </p:spPr>
      </p:sp>
      <p:sp>
        <p:nvSpPr>
          <p:cNvPr id="11" name="Text 9"/>
          <p:cNvSpPr/>
          <p:nvPr/>
        </p:nvSpPr>
        <p:spPr>
          <a:xfrm>
            <a:off x="4023360" y="2130552"/>
            <a:ext cx="2651760" cy="274320"/>
          </a:xfrm>
          <a:prstGeom prst="rect">
            <a:avLst/>
          </a:prstGeom>
          <a:noFill/>
          <a:ln/>
        </p:spPr>
        <p:txBody>
          <a:bodyPr wrap="square" lIns="0" tIns="0" rIns="0" bIns="0" rtlCol="0" anchor="ctr"/>
          <a:lstStyle/>
          <a:p>
            <a:pPr algn="l" indent="0" marL="0">
              <a:buNone/>
            </a:pPr>
            <a:r>
              <a:rPr lang="en-US" sz="1100" b="1" spc="100" kern="0" dirty="0">
                <a:solidFill>
                  <a:srgbClr val="17A398"/>
                </a:solidFill>
                <a:latin typeface="Calibri" pitchFamily="34" charset="0"/>
                <a:ea typeface="Calibri" pitchFamily="34" charset="-122"/>
                <a:cs typeface="Calibri" pitchFamily="34" charset="-120"/>
              </a:rPr>
              <a:t>LOW DISCOUNT</a:t>
            </a:r>
            <a:endParaRPr lang="en-US" sz="1100" dirty="0"/>
          </a:p>
          <a:p>
            <a:pPr algn="l" indent="0" marL="0">
              <a:buNone/>
            </a:pPr>
            <a:r>
              <a:rPr lang="en-US" sz="1100" b="1" spc="100" kern="0" dirty="0">
                <a:solidFill>
                  <a:srgbClr val="17A398"/>
                </a:solidFill>
                <a:latin typeface="Calibri" pitchFamily="34" charset="0"/>
                <a:ea typeface="Calibri" pitchFamily="34" charset="-122"/>
                <a:cs typeface="Calibri" pitchFamily="34" charset="-120"/>
              </a:rPr>
              <a:t>(≤ 50% OR NONE)</a:t>
            </a:r>
            <a:endParaRPr lang="en-US" sz="1100" dirty="0"/>
          </a:p>
        </p:txBody>
      </p:sp>
      <p:sp>
        <p:nvSpPr>
          <p:cNvPr id="12" name="Text 10"/>
          <p:cNvSpPr/>
          <p:nvPr/>
        </p:nvSpPr>
        <p:spPr>
          <a:xfrm>
            <a:off x="4023360" y="2350008"/>
            <a:ext cx="265176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497</a:t>
            </a:r>
            <a:endParaRPr lang="en-US" sz="3400" dirty="0"/>
          </a:p>
        </p:txBody>
      </p:sp>
      <p:sp>
        <p:nvSpPr>
          <p:cNvPr id="13" name="Shape 11"/>
          <p:cNvSpPr/>
          <p:nvPr/>
        </p:nvSpPr>
        <p:spPr>
          <a:xfrm>
            <a:off x="3794760" y="1965960"/>
            <a:ext cx="3108960" cy="1463040"/>
          </a:xfrm>
          <a:prstGeom prst="roundRect">
            <a:avLst>
              <a:gd name="adj" fmla="val 6250"/>
            </a:avLst>
          </a:prstGeom>
          <a:solidFill>
            <a:srgbClr val="0E7C86"/>
          </a:solidFill>
          <a:ln/>
        </p:spPr>
      </p:sp>
      <p:sp>
        <p:nvSpPr>
          <p:cNvPr id="14" name="Text 12"/>
          <p:cNvSpPr/>
          <p:nvPr/>
        </p:nvSpPr>
        <p:spPr>
          <a:xfrm>
            <a:off x="4023360" y="2130552"/>
            <a:ext cx="2651760" cy="457200"/>
          </a:xfrm>
          <a:prstGeom prst="rect">
            <a:avLst/>
          </a:prstGeom>
          <a:noFill/>
          <a:ln/>
        </p:spPr>
        <p:txBody>
          <a:bodyPr wrap="square" lIns="0" tIns="0" rIns="0" bIns="0" rtlCol="0" anchor="ctr"/>
          <a:lstStyle/>
          <a:p>
            <a:pPr indent="0" marL="0">
              <a:buNone/>
            </a:pPr>
            <a:r>
              <a:rPr lang="en-US" sz="1100" b="1" dirty="0">
                <a:solidFill>
                  <a:srgbClr val="D6F0EE"/>
                </a:solidFill>
                <a:latin typeface="Calibri" pitchFamily="34" charset="0"/>
                <a:ea typeface="Calibri" pitchFamily="34" charset="-122"/>
                <a:cs typeface="Calibri" pitchFamily="34" charset="-120"/>
              </a:rPr>
              <a:t>LOW DISCOUNT (≤ 50% OR NONE)</a:t>
            </a:r>
            <a:endParaRPr lang="en-US" sz="1100" dirty="0"/>
          </a:p>
        </p:txBody>
      </p:sp>
      <p:sp>
        <p:nvSpPr>
          <p:cNvPr id="15" name="Text 13"/>
          <p:cNvSpPr/>
          <p:nvPr/>
        </p:nvSpPr>
        <p:spPr>
          <a:xfrm>
            <a:off x="4023360" y="2377440"/>
            <a:ext cx="26517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497</a:t>
            </a:r>
            <a:endParaRPr lang="en-US" sz="3400" dirty="0"/>
          </a:p>
        </p:txBody>
      </p:sp>
      <p:graphicFrame>
        <p:nvGraphicFramePr>
          <p:cNvPr id="16" name="Chart 0" descr=""/>
          <p:cNvGraphicFramePr/>
          <p:nvPr/>
        </p:nvGraphicFramePr>
        <p:xfrm>
          <a:off x="7360920" y="1828800"/>
          <a:ext cx="3931920" cy="333756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p:nvPr/>
        </p:nvSpPr>
        <p:spPr>
          <a:xfrm>
            <a:off x="457200" y="3611880"/>
            <a:ext cx="6583680" cy="1371600"/>
          </a:xfrm>
          <a:prstGeom prst="rect">
            <a:avLst/>
          </a:prstGeom>
          <a:noFill/>
          <a:ln/>
        </p:spPr>
        <p:txBody>
          <a:bodyPr wrap="square" lIns="0" tIns="0" rIns="0" bIns="0" rtlCol="0" anchor="t"/>
          <a:lstStyle/>
          <a:p>
            <a:pPr algn="l" indent="0" marL="0">
              <a:lnSpc>
                <a:spcPct val="115000"/>
              </a:lnSpc>
              <a:buNone/>
            </a:pPr>
            <a:r>
              <a:rPr lang="en-US" sz="1250" dirty="0">
                <a:solidFill>
                  <a:srgbClr val="1B2233"/>
                </a:solidFill>
                <a:latin typeface="Calibri" pitchFamily="34" charset="0"/>
                <a:ea typeface="Calibri" pitchFamily="34" charset="-122"/>
                <a:cs typeface="Calibri" pitchFamily="34" charset="-120"/>
              </a:rPr>
              <a:t>Nearly an even split — 50.3% of the catalog qualifies as High Discount. Products with no listed discount default to Low Discount, since they are not greater than 50%.</a:t>
            </a:r>
            <a:endParaRPr lang="en-US" sz="1250" dirty="0"/>
          </a:p>
        </p:txBody>
      </p:sp>
      <p:sp>
        <p:nvSpPr>
          <p:cNvPr id="18" name="Shape 15"/>
          <p:cNvSpPr/>
          <p:nvPr/>
        </p:nvSpPr>
        <p:spPr>
          <a:xfrm>
            <a:off x="457200" y="5257800"/>
            <a:ext cx="10817352" cy="914400"/>
          </a:xfrm>
          <a:prstGeom prst="roundRect">
            <a:avLst>
              <a:gd name="adj" fmla="val 8000"/>
            </a:avLst>
          </a:prstGeom>
          <a:solidFill>
            <a:srgbClr val="F5F7F9"/>
          </a:solidFill>
          <a:ln w="12700">
            <a:solidFill>
              <a:srgbClr val="DCE2E8"/>
            </a:solidFill>
            <a:prstDash val="solid"/>
          </a:ln>
        </p:spPr>
      </p:sp>
      <p:sp>
        <p:nvSpPr>
          <p:cNvPr id="19" name="Text 16"/>
          <p:cNvSpPr/>
          <p:nvPr/>
        </p:nvSpPr>
        <p:spPr>
          <a:xfrm>
            <a:off x="640080" y="5349240"/>
            <a:ext cx="10451592" cy="219456"/>
          </a:xfrm>
          <a:prstGeom prst="rect">
            <a:avLst/>
          </a:prstGeom>
          <a:noFill/>
          <a:ln/>
        </p:spPr>
        <p:txBody>
          <a:bodyPr wrap="square" lIns="0" tIns="0" rIns="0" bIns="0" rtlCol="0" anchor="ctr"/>
          <a:lstStyle/>
          <a:p>
            <a:pPr indent="0" marL="0">
              <a:buNone/>
            </a:pPr>
            <a:r>
              <a:rPr lang="en-US" sz="900" b="1" spc="100" kern="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20" name="Text 17"/>
          <p:cNvSpPr/>
          <p:nvPr/>
        </p:nvSpPr>
        <p:spPr>
          <a:xfrm>
            <a:off x="640080" y="5550408"/>
            <a:ext cx="10451592" cy="292608"/>
          </a:xfrm>
          <a:prstGeom prst="rect">
            <a:avLst/>
          </a:prstGeom>
          <a:noFill/>
          <a:ln/>
        </p:spPr>
        <p:txBody>
          <a:bodyPr wrap="square" lIns="0" tIns="0" rIns="0" bIns="0" rtlCol="0" anchor="t">
            <a:normAutofit/>
          </a:bodyPr>
          <a:lstStyle/>
          <a:p>
            <a:pPr indent="0" marL="0">
              <a:buNone/>
            </a:pPr>
            <a:r>
              <a:rPr lang="en-US" sz="1250" dirty="0">
                <a:solidFill>
                  <a:srgbClr val="132347"/>
                </a:solidFill>
                <a:latin typeface="Courier New" pitchFamily="34" charset="0"/>
                <a:ea typeface="Courier New" pitchFamily="34" charset="-122"/>
                <a:cs typeface="Courier New" pitchFamily="34" charset="-120"/>
              </a:rPr>
              <a:t>=IF(StandardizedOffer2&gt;0.5,"High Discount","Low Discount")</a:t>
            </a:r>
            <a:endParaRPr lang="en-US" sz="1250" dirty="0"/>
          </a:p>
        </p:txBody>
      </p:sp>
      <p:sp>
        <p:nvSpPr>
          <p:cNvPr id="21" name="Text 18"/>
          <p:cNvSpPr/>
          <p:nvPr/>
        </p:nvSpPr>
        <p:spPr>
          <a:xfrm>
            <a:off x="640080" y="5861304"/>
            <a:ext cx="10451592" cy="256032"/>
          </a:xfrm>
          <a:prstGeom prst="rect">
            <a:avLst/>
          </a:prstGeom>
          <a:noFill/>
          <a:ln/>
        </p:spPr>
        <p:txBody>
          <a:bodyPr wrap="square" lIns="0" tIns="0" rIns="0" bIns="0" rtlCol="0" anchor="ctr"/>
          <a:lstStyle/>
          <a:p>
            <a:pPr indent="0" marL="0">
              <a:buNone/>
            </a:pPr>
            <a:r>
              <a:rPr lang="en-US" sz="950" i="1" dirty="0">
                <a:solidFill>
                  <a:srgbClr val="6B7484"/>
                </a:solidFill>
                <a:latin typeface="Calibri" pitchFamily="34" charset="0"/>
                <a:ea typeface="Calibri" pitchFamily="34" charset="-122"/>
                <a:cs typeface="Calibri" pitchFamily="34" charset="-120"/>
              </a:rPr>
              <a:t>Written into new column "Discount_Label" and filled down all 1,000 rows.</a:t>
            </a:r>
            <a:endParaRPr lang="en-US" sz="950" dirty="0"/>
          </a:p>
        </p:txBody>
      </p:sp>
      <p:sp>
        <p:nvSpPr>
          <p:cNvPr id="22" name="Text 19"/>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7484"/>
                </a:solidFill>
                <a:latin typeface="Calibri" pitchFamily="34" charset="0"/>
                <a:ea typeface="Calibri" pitchFamily="34" charset="-122"/>
                <a:cs typeface="Calibri" pitchFamily="34" charset="-120"/>
              </a:rPr>
              <a:t>Data Analysis — Q8</a:t>
            </a:r>
            <a:endParaRPr lang="en-US" sz="900" dirty="0"/>
          </a:p>
        </p:txBody>
      </p:sp>
      <p:sp>
        <p:nvSpPr>
          <p:cNvPr id="23" name="Text 20"/>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6B7484"/>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sp>
      <p:sp>
        <p:nvSpPr>
          <p:cNvPr id="3" name="Text 1"/>
          <p:cNvSpPr/>
          <p:nvPr/>
        </p:nvSpPr>
        <p:spPr>
          <a:xfrm>
            <a:off x="457200" y="384048"/>
            <a:ext cx="86868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 · Q9</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algn="l" indent="0" marL="0">
              <a:buNone/>
            </a:pPr>
            <a:r>
              <a:rPr lang="en-US" sz="2200" b="1" dirty="0">
                <a:solidFill>
                  <a:srgbClr val="132347"/>
                </a:solidFill>
                <a:latin typeface="Cambria" pitchFamily="34" charset="0"/>
                <a:ea typeface="Cambria" pitchFamily="34" charset="-122"/>
                <a:cs typeface="Cambria" pitchFamily="34" charset="-120"/>
              </a:rPr>
              <a:t>VLOOKUP / XLOOKUP — Product ID 11226634</a:t>
            </a:r>
            <a:endParaRPr lang="en-US" sz="2200" dirty="0"/>
          </a:p>
        </p:txBody>
      </p:sp>
      <p:sp>
        <p:nvSpPr>
          <p:cNvPr id="5" name="Shape 3"/>
          <p:cNvSpPr/>
          <p:nvPr/>
        </p:nvSpPr>
        <p:spPr>
          <a:xfrm>
            <a:off x="457200" y="1097280"/>
            <a:ext cx="10817352" cy="566928"/>
          </a:xfrm>
          <a:prstGeom prst="roundRect">
            <a:avLst>
              <a:gd name="adj" fmla="val 9677"/>
            </a:avLst>
          </a:prstGeom>
          <a:solidFill>
            <a:srgbClr val="E5F3F2"/>
          </a:solidFill>
          <a:ln/>
        </p:spPr>
      </p:sp>
      <p:sp>
        <p:nvSpPr>
          <p:cNvPr id="6" name="Text 4"/>
          <p:cNvSpPr/>
          <p:nvPr/>
        </p:nvSpPr>
        <p:spPr>
          <a:xfrm>
            <a:off x="640080" y="1097280"/>
            <a:ext cx="10424160" cy="566928"/>
          </a:xfrm>
          <a:prstGeom prst="rect">
            <a:avLst/>
          </a:prstGeom>
          <a:noFill/>
          <a:ln/>
        </p:spPr>
        <p:txBody>
          <a:bodyPr wrap="square" lIns="0" tIns="0" rIns="0" bIns="0" rtlCol="0" anchor="ctr"/>
          <a:lstStyle/>
          <a:p>
            <a:pPr indent="0" marL="0">
              <a:buNone/>
            </a:pPr>
            <a:r>
              <a:rPr lang="en-US" sz="1250" i="1" dirty="0">
                <a:solidFill>
                  <a:srgbClr val="132347"/>
                </a:solidFill>
                <a:latin typeface="Calibri" pitchFamily="34" charset="0"/>
                <a:ea typeface="Calibri" pitchFamily="34" charset="-122"/>
                <a:cs typeface="Calibri" pitchFamily="34" charset="-120"/>
              </a:rPr>
              <a:t>"Use VLOOKUP/XLOOKUP to find the product brand, price, and rating of the product with Product_id 11226634."</a:t>
            </a:r>
            <a:endParaRPr lang="en-US" sz="1250" dirty="0"/>
          </a:p>
        </p:txBody>
      </p:sp>
      <p:sp>
        <p:nvSpPr>
          <p:cNvPr id="7" name="Shape 5"/>
          <p:cNvSpPr/>
          <p:nvPr/>
        </p:nvSpPr>
        <p:spPr>
          <a:xfrm>
            <a:off x="457200" y="1874520"/>
            <a:ext cx="10817352" cy="960120"/>
          </a:xfrm>
          <a:prstGeom prst="roundRect">
            <a:avLst>
              <a:gd name="adj" fmla="val 7619"/>
            </a:avLst>
          </a:prstGeom>
          <a:solidFill>
            <a:srgbClr val="FBEAE0"/>
          </a:solidFill>
          <a:ln w="12700">
            <a:solidFill>
              <a:srgbClr val="E07A2C"/>
            </a:solidFill>
            <a:prstDash val="solid"/>
          </a:ln>
        </p:spPr>
      </p:sp>
      <p:sp>
        <p:nvSpPr>
          <p:cNvPr id="8" name="Text 6"/>
          <p:cNvSpPr/>
          <p:nvPr/>
        </p:nvSpPr>
        <p:spPr>
          <a:xfrm>
            <a:off x="640080" y="1920240"/>
            <a:ext cx="731520" cy="868680"/>
          </a:xfrm>
          <a:prstGeom prst="rect">
            <a:avLst/>
          </a:prstGeom>
          <a:noFill/>
          <a:ln/>
        </p:spPr>
        <p:txBody>
          <a:bodyPr wrap="square" lIns="0" tIns="0" rIns="0" bIns="0" rtlCol="0" anchor="ctr"/>
          <a:lstStyle/>
          <a:p>
            <a:pPr indent="0" marL="0">
              <a:buNone/>
            </a:pPr>
            <a:r>
              <a:rPr lang="en-US" sz="3200" dirty="0">
                <a:solidFill>
                  <a:srgbClr val="E07A2C"/>
                </a:solidFill>
                <a:latin typeface="Calibri" pitchFamily="34" charset="0"/>
                <a:ea typeface="Calibri" pitchFamily="34" charset="-122"/>
                <a:cs typeface="Calibri" pitchFamily="34" charset="-120"/>
              </a:rPr>
              <a:t>⚠</a:t>
            </a:r>
            <a:endParaRPr lang="en-US" sz="3200" dirty="0"/>
          </a:p>
        </p:txBody>
      </p:sp>
      <p:sp>
        <p:nvSpPr>
          <p:cNvPr id="9" name="Text 7"/>
          <p:cNvSpPr/>
          <p:nvPr/>
        </p:nvSpPr>
        <p:spPr>
          <a:xfrm>
            <a:off x="1463040" y="1920240"/>
            <a:ext cx="9601200" cy="868680"/>
          </a:xfrm>
          <a:prstGeom prst="rect">
            <a:avLst/>
          </a:prstGeom>
          <a:noFill/>
          <a:ln/>
        </p:spPr>
        <p:txBody>
          <a:bodyPr wrap="square" lIns="0" tIns="0" rIns="0" bIns="0" rtlCol="0" anchor="ctr"/>
          <a:lstStyle/>
          <a:p>
            <a:pPr indent="0" marL="0">
              <a:lnSpc>
                <a:spcPct val="110000"/>
              </a:lnSpc>
              <a:buNone/>
            </a:pPr>
            <a:r>
              <a:rPr lang="en-US" sz="1400" b="1" dirty="0">
                <a:solidFill>
                  <a:srgbClr val="132347"/>
                </a:solidFill>
                <a:latin typeface="Calibri" pitchFamily="34" charset="0"/>
                <a:ea typeface="Calibri" pitchFamily="34" charset="-122"/>
                <a:cs typeface="Calibri" pitchFamily="34" charset="-120"/>
              </a:rPr>
              <a:t>Not supported by the provided dataset.
</a:t>
            </a:r>
            <a:pPr indent="0" marL="0">
              <a:lnSpc>
                <a:spcPct val="110000"/>
              </a:lnSpc>
              <a:buNone/>
            </a:pPr>
            <a:r>
              <a:rPr lang="en-US" sz="1150" dirty="0">
                <a:solidFill>
                  <a:srgbClr val="1B2233"/>
                </a:solidFill>
                <a:latin typeface="Calibri" pitchFamily="34" charset="0"/>
                <a:ea typeface="Calibri" pitchFamily="34" charset="-122"/>
                <a:cs typeface="Calibri" pitchFamily="34" charset="-120"/>
              </a:rPr>
              <a:t>Product_id 11226634 does not exist anywhere in the 1,000-row dataset (IDs range from 27,502 to 17,977,458). VLOOKUP correctly returns #N/A rather than an invented value.</a:t>
            </a:r>
            <a:endParaRPr lang="en-US" sz="1400" dirty="0"/>
          </a:p>
        </p:txBody>
      </p:sp>
      <p:sp>
        <p:nvSpPr>
          <p:cNvPr id="10" name="Shape 8"/>
          <p:cNvSpPr/>
          <p:nvPr/>
        </p:nvSpPr>
        <p:spPr>
          <a:xfrm>
            <a:off x="457200" y="2971800"/>
            <a:ext cx="3291840" cy="502920"/>
          </a:xfrm>
          <a:prstGeom prst="roundRect">
            <a:avLst>
              <a:gd name="adj" fmla="val 10909"/>
            </a:avLst>
          </a:prstGeom>
          <a:solidFill>
            <a:srgbClr val="132347"/>
          </a:solidFill>
          <a:ln w="12700">
            <a:solidFill>
              <a:srgbClr val="0E7C86"/>
            </a:solidFill>
            <a:prstDash val="solid"/>
          </a:ln>
        </p:spPr>
      </p:sp>
      <p:sp>
        <p:nvSpPr>
          <p:cNvPr id="11" name="Text 9"/>
          <p:cNvSpPr/>
          <p:nvPr/>
        </p:nvSpPr>
        <p:spPr>
          <a:xfrm>
            <a:off x="548640" y="2971800"/>
            <a:ext cx="310896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PRODUCT ID 11226634</a:t>
            </a:r>
            <a:endParaRPr lang="en-US" sz="1100" dirty="0"/>
          </a:p>
        </p:txBody>
      </p:sp>
      <p:sp>
        <p:nvSpPr>
          <p:cNvPr id="12" name="Shape 10"/>
          <p:cNvSpPr/>
          <p:nvPr/>
        </p:nvSpPr>
        <p:spPr>
          <a:xfrm>
            <a:off x="2020824" y="3502152"/>
            <a:ext cx="164592" cy="128016"/>
          </a:xfrm>
          <a:prstGeom prst="downArrow">
            <a:avLst/>
          </a:prstGeom>
          <a:solidFill>
            <a:srgbClr val="0E7C86"/>
          </a:solidFill>
          <a:ln/>
        </p:spPr>
      </p:sp>
      <p:sp>
        <p:nvSpPr>
          <p:cNvPr id="13" name="Shape 11"/>
          <p:cNvSpPr/>
          <p:nvPr/>
        </p:nvSpPr>
        <p:spPr>
          <a:xfrm>
            <a:off x="457200" y="3657600"/>
            <a:ext cx="3291840" cy="502920"/>
          </a:xfrm>
          <a:prstGeom prst="roundRect">
            <a:avLst>
              <a:gd name="adj" fmla="val 10909"/>
            </a:avLst>
          </a:prstGeom>
          <a:solidFill>
            <a:srgbClr val="E5F3F2"/>
          </a:solidFill>
          <a:ln w="12700">
            <a:solidFill>
              <a:srgbClr val="0E7C86"/>
            </a:solidFill>
            <a:prstDash val="solid"/>
          </a:ln>
        </p:spPr>
      </p:sp>
      <p:sp>
        <p:nvSpPr>
          <p:cNvPr id="14" name="Text 12"/>
          <p:cNvSpPr/>
          <p:nvPr/>
        </p:nvSpPr>
        <p:spPr>
          <a:xfrm>
            <a:off x="548640" y="3657600"/>
            <a:ext cx="3108960" cy="502920"/>
          </a:xfrm>
          <a:prstGeom prst="rect">
            <a:avLst/>
          </a:prstGeom>
          <a:noFill/>
          <a:ln/>
        </p:spPr>
        <p:txBody>
          <a:bodyPr wrap="square" lIns="0" tIns="0" rIns="0" bIns="0" rtlCol="0" anchor="ctr"/>
          <a:lstStyle/>
          <a:p>
            <a:pPr algn="ctr" indent="0" marL="0">
              <a:buNone/>
            </a:pPr>
            <a:r>
              <a:rPr lang="en-US" sz="1100" b="1" dirty="0">
                <a:solidFill>
                  <a:srgbClr val="132347"/>
                </a:solidFill>
                <a:latin typeface="Calibri" pitchFamily="34" charset="0"/>
                <a:ea typeface="Calibri" pitchFamily="34" charset="-122"/>
                <a:cs typeface="Calibri" pitchFamily="34" charset="-120"/>
              </a:rPr>
              <a:t>LOOKUP</a:t>
            </a:r>
            <a:endParaRPr lang="en-US" sz="1100" dirty="0"/>
          </a:p>
        </p:txBody>
      </p:sp>
      <p:sp>
        <p:nvSpPr>
          <p:cNvPr id="15" name="Shape 13"/>
          <p:cNvSpPr/>
          <p:nvPr/>
        </p:nvSpPr>
        <p:spPr>
          <a:xfrm>
            <a:off x="2020824" y="4187952"/>
            <a:ext cx="164592" cy="128016"/>
          </a:xfrm>
          <a:prstGeom prst="downArrow">
            <a:avLst/>
          </a:prstGeom>
          <a:solidFill>
            <a:srgbClr val="0E7C86"/>
          </a:solidFill>
          <a:ln/>
        </p:spPr>
      </p:sp>
      <p:sp>
        <p:nvSpPr>
          <p:cNvPr id="16" name="Shape 14"/>
          <p:cNvSpPr/>
          <p:nvPr/>
        </p:nvSpPr>
        <p:spPr>
          <a:xfrm>
            <a:off x="457200" y="4343400"/>
            <a:ext cx="3291840" cy="502920"/>
          </a:xfrm>
          <a:prstGeom prst="roundRect">
            <a:avLst>
              <a:gd name="adj" fmla="val 10909"/>
            </a:avLst>
          </a:prstGeom>
          <a:solidFill>
            <a:srgbClr val="E07A2C"/>
          </a:solidFill>
          <a:ln w="12700">
            <a:solidFill>
              <a:srgbClr val="0E7C86"/>
            </a:solidFill>
            <a:prstDash val="solid"/>
          </a:ln>
        </p:spPr>
      </p:sp>
      <p:sp>
        <p:nvSpPr>
          <p:cNvPr id="17" name="Text 15"/>
          <p:cNvSpPr/>
          <p:nvPr/>
        </p:nvSpPr>
        <p:spPr>
          <a:xfrm>
            <a:off x="548640" y="4343400"/>
            <a:ext cx="310896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#N/A — Not Found</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206240" y="2971800"/>
          <a:ext cx="7040880" cy="914400"/>
        </p:xfrm>
        <a:graphic>
          <a:graphicData uri="http://schemas.openxmlformats.org/drawingml/2006/table">
            <a:tbl>
              <a:tblPr/>
              <a:tblGrid>
                <a:gridCol w="1760220"/>
                <a:gridCol w="1760220"/>
                <a:gridCol w="1760220"/>
                <a:gridCol w="1760220"/>
              </a:tblGrid>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Product ID</a:t>
                      </a:r>
                      <a:endParaRPr lang="en-US" sz="1300" dirty="0">
                        <a:latin typeface="Calibri" charset="0"/>
                        <a:ea typeface="Calibri" charset="0"/>
                        <a:cs typeface="Calibri" charset="0"/>
                      </a:endParaRPr>
                    </a:p>
                  </a:txBody>
                  <a:tcPr marL="91440" marR="91440" marT="45720" marB="4572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3234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Brand</a:t>
                      </a:r>
                      <a:endParaRPr lang="en-US" sz="1300" dirty="0">
                        <a:latin typeface="Calibri" charset="0"/>
                        <a:ea typeface="Calibri" charset="0"/>
                        <a:cs typeface="Calibri" charset="0"/>
                      </a:endParaRPr>
                    </a:p>
                  </a:txBody>
                  <a:tcPr marL="91440" marR="91440" marT="45720" marB="4572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3234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Price</a:t>
                      </a:r>
                      <a:endParaRPr lang="en-US" sz="1300" dirty="0">
                        <a:latin typeface="Calibri" charset="0"/>
                        <a:ea typeface="Calibri" charset="0"/>
                        <a:cs typeface="Calibri" charset="0"/>
                      </a:endParaRPr>
                    </a:p>
                  </a:txBody>
                  <a:tcPr marL="91440" marR="91440" marT="45720" marB="4572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3234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Rating</a:t>
                      </a:r>
                      <a:endParaRPr lang="en-US" sz="1300" dirty="0">
                        <a:latin typeface="Calibri" charset="0"/>
                        <a:ea typeface="Calibri" charset="0"/>
                        <a:cs typeface="Calibri" charset="0"/>
                      </a:endParaRPr>
                    </a:p>
                  </a:txBody>
                  <a:tcPr marL="91440" marR="91440" marT="45720" marB="4572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solidFill>
                      <a:srgbClr val="132347"/>
                    </a:solidFill>
                  </a:tcPr>
                </a:tc>
              </a:tr>
              <a:tr h="457200">
                <a:tc>
                  <a:txBody>
                    <a:bodyPr/>
                    <a:lstStyle/>
                    <a:p>
                      <a:pPr algn="ctr" indent="0" marL="0">
                        <a:buNone/>
                      </a:pPr>
                      <a:r>
                        <a:rPr lang="en-US" sz="1300" dirty="0">
                          <a:solidFill>
                            <a:srgbClr val="1B2233"/>
                          </a:solidFill>
                          <a:latin typeface="Calibri" pitchFamily="34" charset="0"/>
                          <a:ea typeface="Calibri" pitchFamily="34" charset="-122"/>
                          <a:cs typeface="Calibri" pitchFamily="34" charset="-120"/>
                        </a:rPr>
                        <a:t>11226634</a:t>
                      </a:r>
                      <a:endParaRPr lang="en-US" sz="1300" dirty="0">
                        <a:latin typeface="Calibri" charset="0"/>
                        <a:ea typeface="Calibri" charset="0"/>
                        <a:cs typeface="Calibri" charset="0"/>
                      </a:endParaRPr>
                    </a:p>
                  </a:txBody>
                  <a:tcPr marL="91440" marR="91440" marT="45720" marB="4572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tcPr>
                </a:tc>
                <a:tc>
                  <a:txBody>
                    <a:bodyPr/>
                    <a:lstStyle/>
                    <a:p>
                      <a:pPr algn="ctr" indent="0" marL="0">
                        <a:buNone/>
                      </a:pPr>
                      <a:r>
                        <a:rPr lang="en-US" sz="1300" dirty="0">
                          <a:solidFill>
                            <a:srgbClr val="1B2233"/>
                          </a:solidFill>
                          <a:latin typeface="Calibri" pitchFamily="34" charset="0"/>
                          <a:ea typeface="Calibri" pitchFamily="34" charset="-122"/>
                          <a:cs typeface="Calibri" pitchFamily="34" charset="-120"/>
                        </a:rPr>
                        <a:t>#N/A</a:t>
                      </a:r>
                      <a:endParaRPr lang="en-US" sz="1300" dirty="0">
                        <a:latin typeface="Calibri" charset="0"/>
                        <a:ea typeface="Calibri" charset="0"/>
                        <a:cs typeface="Calibri" charset="0"/>
                      </a:endParaRPr>
                    </a:p>
                  </a:txBody>
                  <a:tcPr marL="91440" marR="91440" marT="45720" marB="4572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tcPr>
                </a:tc>
                <a:tc>
                  <a:txBody>
                    <a:bodyPr/>
                    <a:lstStyle/>
                    <a:p>
                      <a:pPr algn="ctr" indent="0" marL="0">
                        <a:buNone/>
                      </a:pPr>
                      <a:r>
                        <a:rPr lang="en-US" sz="1300" dirty="0">
                          <a:solidFill>
                            <a:srgbClr val="1B2233"/>
                          </a:solidFill>
                          <a:latin typeface="Calibri" pitchFamily="34" charset="0"/>
                          <a:ea typeface="Calibri" pitchFamily="34" charset="-122"/>
                          <a:cs typeface="Calibri" pitchFamily="34" charset="-120"/>
                        </a:rPr>
                        <a:t>#N/A</a:t>
                      </a:r>
                      <a:endParaRPr lang="en-US" sz="1300" dirty="0">
                        <a:latin typeface="Calibri" charset="0"/>
                        <a:ea typeface="Calibri" charset="0"/>
                        <a:cs typeface="Calibri" charset="0"/>
                      </a:endParaRPr>
                    </a:p>
                  </a:txBody>
                  <a:tcPr marL="91440" marR="91440" marT="45720" marB="4572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tcPr>
                </a:tc>
                <a:tc>
                  <a:txBody>
                    <a:bodyPr/>
                    <a:lstStyle/>
                    <a:p>
                      <a:pPr algn="ctr" indent="0" marL="0">
                        <a:buNone/>
                      </a:pPr>
                      <a:r>
                        <a:rPr lang="en-US" sz="1300" dirty="0">
                          <a:solidFill>
                            <a:srgbClr val="1B2233"/>
                          </a:solidFill>
                          <a:latin typeface="Calibri" pitchFamily="34" charset="0"/>
                          <a:ea typeface="Calibri" pitchFamily="34" charset="-122"/>
                          <a:cs typeface="Calibri" pitchFamily="34" charset="-120"/>
                        </a:rPr>
                        <a:t>#N/A</a:t>
                      </a:r>
                      <a:endParaRPr lang="en-US" sz="1300" dirty="0">
                        <a:latin typeface="Calibri" charset="0"/>
                        <a:ea typeface="Calibri" charset="0"/>
                        <a:cs typeface="Calibri" charset="0"/>
                      </a:endParaRPr>
                    </a:p>
                  </a:txBody>
                  <a:tcPr marL="91440" marR="91440" marT="45720" marB="45720" anchor="ctr">
                    <a:lnL w="12700" cap="flat" cmpd="sng" algn="ctr">
                      <a:solidFill>
                        <a:srgbClr val="DCE2E8"/>
                      </a:solidFill>
                      <a:prstDash val="solid"/>
                      <a:round/>
                      <a:headEnd type="none" w="med" len="med"/>
                      <a:tailEnd type="none" w="med" len="med"/>
                    </a:lnL>
                    <a:lnR w="12700" cap="flat" cmpd="sng" algn="ctr">
                      <a:solidFill>
                        <a:srgbClr val="DCE2E8"/>
                      </a:solidFill>
                      <a:prstDash val="solid"/>
                      <a:round/>
                      <a:headEnd type="none" w="med" len="med"/>
                      <a:tailEnd type="none" w="med" len="med"/>
                    </a:lnR>
                    <a:lnT w="12700" cap="flat" cmpd="sng" algn="ctr">
                      <a:solidFill>
                        <a:srgbClr val="DCE2E8"/>
                      </a:solidFill>
                      <a:prstDash val="solid"/>
                      <a:round/>
                      <a:headEnd type="none" w="med" len="med"/>
                      <a:tailEnd type="none" w="med" len="med"/>
                    </a:lnT>
                    <a:lnB w="12700" cap="flat" cmpd="sng" algn="ctr">
                      <a:solidFill>
                        <a:srgbClr val="DCE2E8"/>
                      </a:solidFill>
                      <a:prstDash val="solid"/>
                      <a:round/>
                      <a:headEnd type="none" w="med" len="med"/>
                      <a:tailEnd type="none" w="med" len="med"/>
                    </a:lnB>
                  </a:tcPr>
                </a:tc>
              </a:tr>
            </a:tbl>
          </a:graphicData>
        </a:graphic>
      </p:graphicFrame>
      <p:sp>
        <p:nvSpPr>
          <p:cNvPr id="19" name="Shape 16"/>
          <p:cNvSpPr/>
          <p:nvPr/>
        </p:nvSpPr>
        <p:spPr>
          <a:xfrm>
            <a:off x="457200" y="5029200"/>
            <a:ext cx="10817352" cy="1051560"/>
          </a:xfrm>
          <a:prstGeom prst="roundRect">
            <a:avLst>
              <a:gd name="adj" fmla="val 6957"/>
            </a:avLst>
          </a:prstGeom>
          <a:solidFill>
            <a:srgbClr val="F5F7F9"/>
          </a:solidFill>
          <a:ln w="12700">
            <a:solidFill>
              <a:srgbClr val="DCE2E8"/>
            </a:solidFill>
            <a:prstDash val="solid"/>
          </a:ln>
        </p:spPr>
      </p:sp>
      <p:sp>
        <p:nvSpPr>
          <p:cNvPr id="20" name="Text 17"/>
          <p:cNvSpPr/>
          <p:nvPr/>
        </p:nvSpPr>
        <p:spPr>
          <a:xfrm>
            <a:off x="640080" y="5120640"/>
            <a:ext cx="10451592" cy="219456"/>
          </a:xfrm>
          <a:prstGeom prst="rect">
            <a:avLst/>
          </a:prstGeom>
          <a:noFill/>
          <a:ln/>
        </p:spPr>
        <p:txBody>
          <a:bodyPr wrap="square" lIns="0" tIns="0" rIns="0" bIns="0" rtlCol="0" anchor="ctr"/>
          <a:lstStyle/>
          <a:p>
            <a:pPr indent="0" marL="0">
              <a:buNone/>
            </a:pPr>
            <a:r>
              <a:rPr lang="en-US" sz="900" b="1" spc="100" kern="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21" name="Text 18"/>
          <p:cNvSpPr/>
          <p:nvPr/>
        </p:nvSpPr>
        <p:spPr>
          <a:xfrm>
            <a:off x="640080" y="5321808"/>
            <a:ext cx="10451592" cy="429768"/>
          </a:xfrm>
          <a:prstGeom prst="rect">
            <a:avLst/>
          </a:prstGeom>
          <a:noFill/>
          <a:ln/>
        </p:spPr>
        <p:txBody>
          <a:bodyPr wrap="square" lIns="0" tIns="0" rIns="0" bIns="0" rtlCol="0" anchor="t">
            <a:normAutofit/>
          </a:bodyPr>
          <a:lstStyle/>
          <a:p>
            <a:pPr indent="0" marL="0">
              <a:buNone/>
            </a:pPr>
            <a:r>
              <a:rPr lang="en-US" sz="1250" dirty="0">
                <a:solidFill>
                  <a:srgbClr val="132347"/>
                </a:solidFill>
                <a:latin typeface="Courier New" pitchFamily="34" charset="0"/>
                <a:ea typeface="Courier New" pitchFamily="34" charset="-122"/>
                <a:cs typeface="Courier New" pitchFamily="34" charset="-120"/>
              </a:rPr>
              <a:t>=VLOOKUP(11226634, $B$2:$L$1001, {3,9,12}, FALSE)   →   Result: #N/A</a:t>
            </a:r>
            <a:endParaRPr lang="en-US" sz="1250" dirty="0"/>
          </a:p>
        </p:txBody>
      </p:sp>
      <p:sp>
        <p:nvSpPr>
          <p:cNvPr id="22" name="Text 19"/>
          <p:cNvSpPr/>
          <p:nvPr/>
        </p:nvSpPr>
        <p:spPr>
          <a:xfrm>
            <a:off x="640080" y="5769864"/>
            <a:ext cx="10451592" cy="256032"/>
          </a:xfrm>
          <a:prstGeom prst="rect">
            <a:avLst/>
          </a:prstGeom>
          <a:noFill/>
          <a:ln/>
        </p:spPr>
        <p:txBody>
          <a:bodyPr wrap="square" lIns="0" tIns="0" rIns="0" bIns="0" rtlCol="0" anchor="ctr"/>
          <a:lstStyle/>
          <a:p>
            <a:pPr indent="0" marL="0">
              <a:buNone/>
            </a:pPr>
            <a:r>
              <a:rPr lang="en-US" sz="950" i="1" dirty="0">
                <a:solidFill>
                  <a:srgbClr val="6B7484"/>
                </a:solidFill>
                <a:latin typeface="Calibri" pitchFamily="34" charset="0"/>
                <a:ea typeface="Calibri" pitchFamily="34" charset="-122"/>
                <a:cs typeface="Calibri" pitchFamily="34" charset="-120"/>
              </a:rPr>
              <a:t>B = Product_id, columns for BrandName / Original Price / Ratings. All three lookups return #N/A because the ID is absent — this is a genuine data gap, not a formula error.</a:t>
            </a:r>
            <a:endParaRPr lang="en-US" sz="950" dirty="0"/>
          </a:p>
        </p:txBody>
      </p:sp>
      <p:sp>
        <p:nvSpPr>
          <p:cNvPr id="23" name="Text 2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7484"/>
                </a:solidFill>
                <a:latin typeface="Calibri" pitchFamily="34" charset="0"/>
                <a:ea typeface="Calibri" pitchFamily="34" charset="-122"/>
                <a:cs typeface="Calibri" pitchFamily="34" charset="-120"/>
              </a:rPr>
              <a:t>Lookup &amp; Retrieval — Q9</a:t>
            </a:r>
            <a:endParaRPr lang="en-US" sz="900" dirty="0"/>
          </a:p>
        </p:txBody>
      </p:sp>
      <p:sp>
        <p:nvSpPr>
          <p:cNvPr id="24" name="Text 21"/>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6B7484"/>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sp>
      <p:sp>
        <p:nvSpPr>
          <p:cNvPr id="3" name="Text 1"/>
          <p:cNvSpPr/>
          <p:nvPr/>
        </p:nvSpPr>
        <p:spPr>
          <a:xfrm>
            <a:off x="457200" y="384048"/>
            <a:ext cx="86868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 · Q10</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algn="l" indent="0" marL="0">
              <a:buNone/>
            </a:pPr>
            <a:r>
              <a:rPr lang="en-US" sz="2200" b="1" dirty="0">
                <a:solidFill>
                  <a:srgbClr val="132347"/>
                </a:solidFill>
                <a:latin typeface="Cambria" pitchFamily="34" charset="0"/>
                <a:ea typeface="Cambria" pitchFamily="34" charset="-122"/>
                <a:cs typeface="Cambria" pitchFamily="34" charset="-120"/>
              </a:rPr>
              <a:t>INDEX + MATCH — Product ID 6744434</a:t>
            </a:r>
            <a:endParaRPr lang="en-US" sz="2200" dirty="0"/>
          </a:p>
        </p:txBody>
      </p:sp>
      <p:sp>
        <p:nvSpPr>
          <p:cNvPr id="5" name="Shape 3"/>
          <p:cNvSpPr/>
          <p:nvPr/>
        </p:nvSpPr>
        <p:spPr>
          <a:xfrm>
            <a:off x="457200" y="1097280"/>
            <a:ext cx="10817352" cy="566928"/>
          </a:xfrm>
          <a:prstGeom prst="roundRect">
            <a:avLst>
              <a:gd name="adj" fmla="val 9677"/>
            </a:avLst>
          </a:prstGeom>
          <a:solidFill>
            <a:srgbClr val="E5F3F2"/>
          </a:solidFill>
          <a:ln/>
        </p:spPr>
      </p:sp>
      <p:sp>
        <p:nvSpPr>
          <p:cNvPr id="6" name="Text 4"/>
          <p:cNvSpPr/>
          <p:nvPr/>
        </p:nvSpPr>
        <p:spPr>
          <a:xfrm>
            <a:off x="640080" y="1097280"/>
            <a:ext cx="10424160" cy="566928"/>
          </a:xfrm>
          <a:prstGeom prst="rect">
            <a:avLst/>
          </a:prstGeom>
          <a:noFill/>
          <a:ln/>
        </p:spPr>
        <p:txBody>
          <a:bodyPr wrap="square" lIns="0" tIns="0" rIns="0" bIns="0" rtlCol="0" anchor="ctr"/>
          <a:lstStyle/>
          <a:p>
            <a:pPr indent="0" marL="0">
              <a:buNone/>
            </a:pPr>
            <a:r>
              <a:rPr lang="en-US" sz="1300" i="1" dirty="0">
                <a:solidFill>
                  <a:srgbClr val="132347"/>
                </a:solidFill>
                <a:latin typeface="Calibri" pitchFamily="34" charset="0"/>
                <a:ea typeface="Calibri" pitchFamily="34" charset="-122"/>
                <a:cs typeface="Calibri" pitchFamily="34" charset="-120"/>
              </a:rPr>
              <a:t>"Find the DiscountPrice for the product with the Product ID 6744434 using the INDEX and MATCH functions."</a:t>
            </a:r>
            <a:endParaRPr lang="en-US" sz="1300" dirty="0"/>
          </a:p>
        </p:txBody>
      </p:sp>
      <p:sp>
        <p:nvSpPr>
          <p:cNvPr id="7" name="Shape 5"/>
          <p:cNvSpPr/>
          <p:nvPr/>
        </p:nvSpPr>
        <p:spPr>
          <a:xfrm>
            <a:off x="457200" y="1920240"/>
            <a:ext cx="3383280" cy="502920"/>
          </a:xfrm>
          <a:prstGeom prst="roundRect">
            <a:avLst>
              <a:gd name="adj" fmla="val 10909"/>
            </a:avLst>
          </a:prstGeom>
          <a:solidFill>
            <a:srgbClr val="132347"/>
          </a:solidFill>
          <a:ln w="12700">
            <a:solidFill>
              <a:srgbClr val="0E7C86"/>
            </a:solidFill>
            <a:prstDash val="solid"/>
          </a:ln>
        </p:spPr>
      </p:sp>
      <p:sp>
        <p:nvSpPr>
          <p:cNvPr id="8" name="Text 6"/>
          <p:cNvSpPr/>
          <p:nvPr/>
        </p:nvSpPr>
        <p:spPr>
          <a:xfrm>
            <a:off x="548640" y="1920240"/>
            <a:ext cx="320040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PRODUCT ID 6744434</a:t>
            </a:r>
            <a:endParaRPr lang="en-US" sz="1200" dirty="0"/>
          </a:p>
        </p:txBody>
      </p:sp>
      <p:sp>
        <p:nvSpPr>
          <p:cNvPr id="9" name="Shape 7"/>
          <p:cNvSpPr/>
          <p:nvPr/>
        </p:nvSpPr>
        <p:spPr>
          <a:xfrm>
            <a:off x="2066544" y="2447849"/>
            <a:ext cx="164592" cy="115214"/>
          </a:xfrm>
          <a:prstGeom prst="downArrow">
            <a:avLst/>
          </a:prstGeom>
          <a:solidFill>
            <a:srgbClr val="0E7C86"/>
          </a:solidFill>
          <a:ln/>
        </p:spPr>
      </p:sp>
      <p:sp>
        <p:nvSpPr>
          <p:cNvPr id="10" name="Shape 8"/>
          <p:cNvSpPr/>
          <p:nvPr/>
        </p:nvSpPr>
        <p:spPr>
          <a:xfrm>
            <a:off x="457200" y="2587752"/>
            <a:ext cx="3383280" cy="502920"/>
          </a:xfrm>
          <a:prstGeom prst="roundRect">
            <a:avLst>
              <a:gd name="adj" fmla="val 10909"/>
            </a:avLst>
          </a:prstGeom>
          <a:solidFill>
            <a:srgbClr val="E5F3F2"/>
          </a:solidFill>
          <a:ln w="12700">
            <a:solidFill>
              <a:srgbClr val="0E7C86"/>
            </a:solidFill>
            <a:prstDash val="solid"/>
          </a:ln>
        </p:spPr>
      </p:sp>
      <p:sp>
        <p:nvSpPr>
          <p:cNvPr id="11" name="Text 9"/>
          <p:cNvSpPr/>
          <p:nvPr/>
        </p:nvSpPr>
        <p:spPr>
          <a:xfrm>
            <a:off x="548640" y="2587752"/>
            <a:ext cx="3200400" cy="502920"/>
          </a:xfrm>
          <a:prstGeom prst="rect">
            <a:avLst/>
          </a:prstGeom>
          <a:noFill/>
          <a:ln/>
        </p:spPr>
        <p:txBody>
          <a:bodyPr wrap="square" lIns="0" tIns="0" rIns="0" bIns="0" rtlCol="0" anchor="ctr"/>
          <a:lstStyle/>
          <a:p>
            <a:pPr algn="ctr" indent="0" marL="0">
              <a:buNone/>
            </a:pPr>
            <a:r>
              <a:rPr lang="en-US" sz="1200" b="1" dirty="0">
                <a:solidFill>
                  <a:srgbClr val="132347"/>
                </a:solidFill>
                <a:latin typeface="Calibri" pitchFamily="34" charset="0"/>
                <a:ea typeface="Calibri" pitchFamily="34" charset="-122"/>
                <a:cs typeface="Calibri" pitchFamily="34" charset="-120"/>
              </a:rPr>
              <a:t>MATCH → Row 7</a:t>
            </a:r>
            <a:endParaRPr lang="en-US" sz="1200" dirty="0"/>
          </a:p>
        </p:txBody>
      </p:sp>
      <p:sp>
        <p:nvSpPr>
          <p:cNvPr id="12" name="Shape 10"/>
          <p:cNvSpPr/>
          <p:nvPr/>
        </p:nvSpPr>
        <p:spPr>
          <a:xfrm>
            <a:off x="2066544" y="3115361"/>
            <a:ext cx="164592" cy="115214"/>
          </a:xfrm>
          <a:prstGeom prst="downArrow">
            <a:avLst/>
          </a:prstGeom>
          <a:solidFill>
            <a:srgbClr val="0E7C86"/>
          </a:solidFill>
          <a:ln/>
        </p:spPr>
      </p:sp>
      <p:sp>
        <p:nvSpPr>
          <p:cNvPr id="13" name="Shape 11"/>
          <p:cNvSpPr/>
          <p:nvPr/>
        </p:nvSpPr>
        <p:spPr>
          <a:xfrm>
            <a:off x="457200" y="3255264"/>
            <a:ext cx="3383280" cy="502920"/>
          </a:xfrm>
          <a:prstGeom prst="roundRect">
            <a:avLst>
              <a:gd name="adj" fmla="val 10909"/>
            </a:avLst>
          </a:prstGeom>
          <a:solidFill>
            <a:srgbClr val="0E7C86"/>
          </a:solidFill>
          <a:ln w="12700">
            <a:solidFill>
              <a:srgbClr val="0E7C86"/>
            </a:solidFill>
            <a:prstDash val="solid"/>
          </a:ln>
        </p:spPr>
      </p:sp>
      <p:sp>
        <p:nvSpPr>
          <p:cNvPr id="14" name="Text 12"/>
          <p:cNvSpPr/>
          <p:nvPr/>
        </p:nvSpPr>
        <p:spPr>
          <a:xfrm>
            <a:off x="548640" y="3255264"/>
            <a:ext cx="320040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INDEX → DiscountPrice</a:t>
            </a:r>
            <a:endParaRPr lang="en-US" sz="1200" dirty="0"/>
          </a:p>
        </p:txBody>
      </p:sp>
      <p:sp>
        <p:nvSpPr>
          <p:cNvPr id="15" name="Shape 13"/>
          <p:cNvSpPr/>
          <p:nvPr/>
        </p:nvSpPr>
        <p:spPr>
          <a:xfrm>
            <a:off x="4297680" y="1920240"/>
            <a:ext cx="3291840" cy="2011680"/>
          </a:xfrm>
          <a:prstGeom prst="roundRect">
            <a:avLst>
              <a:gd name="adj" fmla="val 4545"/>
            </a:avLst>
          </a:prstGeom>
          <a:solidFill>
            <a:srgbClr val="132347"/>
          </a:solidFill>
          <a:ln/>
          <a:effectLst>
            <a:outerShdw sx="100000" sy="100000" kx="0" ky="0" algn="bl" rotWithShape="0" blurRad="76200" dist="38100" dir="5400000">
              <a:srgbClr val="1B2233">
                <a:alpha val="25000"/>
              </a:srgbClr>
            </a:outerShdw>
          </a:effectLst>
        </p:spPr>
      </p:sp>
      <p:sp>
        <p:nvSpPr>
          <p:cNvPr id="16" name="Text 14"/>
          <p:cNvSpPr/>
          <p:nvPr/>
        </p:nvSpPr>
        <p:spPr>
          <a:xfrm>
            <a:off x="4526280" y="2084832"/>
            <a:ext cx="2834640" cy="274320"/>
          </a:xfrm>
          <a:prstGeom prst="rect">
            <a:avLst/>
          </a:prstGeom>
          <a:noFill/>
          <a:ln/>
        </p:spPr>
        <p:txBody>
          <a:bodyPr wrap="square" lIns="0" tIns="0" rIns="0" bIns="0" rtlCol="0" anchor="ctr"/>
          <a:lstStyle/>
          <a:p>
            <a:pPr algn="l" indent="0" marL="0">
              <a:buNone/>
            </a:pPr>
            <a:r>
              <a:rPr lang="en-US" sz="1100" b="1" spc="100" kern="0" dirty="0">
                <a:solidFill>
                  <a:srgbClr val="17A398"/>
                </a:solidFill>
                <a:latin typeface="Calibri" pitchFamily="34" charset="0"/>
                <a:ea typeface="Calibri" pitchFamily="34" charset="-122"/>
                <a:cs typeface="Calibri" pitchFamily="34" charset="-120"/>
              </a:rPr>
              <a:t>DISCOUNTPRICE</a:t>
            </a:r>
            <a:endParaRPr lang="en-US" sz="1100" dirty="0"/>
          </a:p>
        </p:txBody>
      </p:sp>
      <p:sp>
        <p:nvSpPr>
          <p:cNvPr id="17" name="Text 15"/>
          <p:cNvSpPr/>
          <p:nvPr/>
        </p:nvSpPr>
        <p:spPr>
          <a:xfrm>
            <a:off x="4526280" y="2304288"/>
            <a:ext cx="2834640" cy="132588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₹599</a:t>
            </a:r>
            <a:endParaRPr lang="en-US" sz="3400" dirty="0"/>
          </a:p>
        </p:txBody>
      </p:sp>
      <p:sp>
        <p:nvSpPr>
          <p:cNvPr id="18" name="Text 16"/>
          <p:cNvSpPr/>
          <p:nvPr/>
        </p:nvSpPr>
        <p:spPr>
          <a:xfrm>
            <a:off x="4526280" y="3602736"/>
            <a:ext cx="2834640" cy="274320"/>
          </a:xfrm>
          <a:prstGeom prst="rect">
            <a:avLst/>
          </a:prstGeom>
          <a:noFill/>
          <a:ln/>
        </p:spPr>
        <p:txBody>
          <a:bodyPr wrap="square" lIns="0" tIns="0" rIns="0" bIns="0" rtlCol="0" anchor="ctr"/>
          <a:lstStyle/>
          <a:p>
            <a:pPr algn="l" indent="0" marL="0">
              <a:buNone/>
            </a:pPr>
            <a:r>
              <a:rPr lang="en-US" sz="1050" dirty="0">
                <a:solidFill>
                  <a:srgbClr val="C9D6E3"/>
                </a:solidFill>
                <a:latin typeface="Calibri" pitchFamily="34" charset="0"/>
                <a:ea typeface="Calibri" pitchFamily="34" charset="-122"/>
                <a:cs typeface="Calibri" pitchFamily="34" charset="-120"/>
              </a:rPr>
              <a:t>HIGHLANDER — Bottom Wear, trousers</a:t>
            </a:r>
            <a:endParaRPr lang="en-US" sz="1050" dirty="0"/>
          </a:p>
        </p:txBody>
      </p:sp>
      <p:sp>
        <p:nvSpPr>
          <p:cNvPr id="19" name="Shape 17"/>
          <p:cNvSpPr/>
          <p:nvPr/>
        </p:nvSpPr>
        <p:spPr>
          <a:xfrm>
            <a:off x="7909560" y="1920240"/>
            <a:ext cx="3364992" cy="2011680"/>
          </a:xfrm>
          <a:prstGeom prst="roundRect">
            <a:avLst>
              <a:gd name="adj" fmla="val 3636"/>
            </a:avLst>
          </a:prstGeom>
          <a:solidFill>
            <a:srgbClr val="F5F7F9"/>
          </a:solidFill>
          <a:ln w="12700">
            <a:solidFill>
              <a:srgbClr val="DCE2E8"/>
            </a:solidFill>
            <a:prstDash val="solid"/>
          </a:ln>
        </p:spPr>
      </p:sp>
      <p:sp>
        <p:nvSpPr>
          <p:cNvPr id="20" name="Text 18"/>
          <p:cNvSpPr/>
          <p:nvPr/>
        </p:nvSpPr>
        <p:spPr>
          <a:xfrm>
            <a:off x="8138160" y="2057400"/>
            <a:ext cx="3017520" cy="1737360"/>
          </a:xfrm>
          <a:prstGeom prst="rect">
            <a:avLst/>
          </a:prstGeom>
          <a:noFill/>
          <a:ln/>
        </p:spPr>
        <p:txBody>
          <a:bodyPr wrap="square" lIns="0" tIns="0" rIns="0" bIns="0" rtlCol="0" anchor="ctr"/>
          <a:lstStyle/>
          <a:p>
            <a:pPr indent="0" marL="0">
              <a:lnSpc>
                <a:spcPct val="140000"/>
              </a:lnSpc>
              <a:buNone/>
            </a:pPr>
            <a:r>
              <a:rPr lang="en-US" sz="1200" dirty="0">
                <a:solidFill>
                  <a:srgbClr val="6B7484"/>
                </a:solidFill>
                <a:latin typeface="Calibri" pitchFamily="34" charset="0"/>
                <a:ea typeface="Calibri" pitchFamily="34" charset="-122"/>
                <a:cs typeface="Calibri" pitchFamily="34" charset="-120"/>
              </a:rPr>
              <a:t>Brand:  </a:t>
            </a:r>
            <a:pPr indent="0" marL="0">
              <a:lnSpc>
                <a:spcPct val="140000"/>
              </a:lnSpc>
              <a:buNone/>
            </a:pPr>
            <a:r>
              <a:rPr lang="en-US" sz="1200" b="1" dirty="0">
                <a:solidFill>
                  <a:srgbClr val="132347"/>
                </a:solidFill>
                <a:latin typeface="Calibri" pitchFamily="34" charset="0"/>
                <a:ea typeface="Calibri" pitchFamily="34" charset="-122"/>
                <a:cs typeface="Calibri" pitchFamily="34" charset="-120"/>
              </a:rPr>
              <a:t>HIGHLANDER
</a:t>
            </a:r>
            <a:pPr indent="0" marL="0">
              <a:lnSpc>
                <a:spcPct val="140000"/>
              </a:lnSpc>
              <a:buNone/>
            </a:pPr>
            <a:r>
              <a:rPr lang="en-US" sz="1200" dirty="0">
                <a:solidFill>
                  <a:srgbClr val="6B7484"/>
                </a:solidFill>
                <a:latin typeface="Calibri" pitchFamily="34" charset="0"/>
                <a:ea typeface="Calibri" pitchFamily="34" charset="-122"/>
                <a:cs typeface="Calibri" pitchFamily="34" charset="-120"/>
              </a:rPr>
              <a:t>Category:  </a:t>
            </a:r>
            <a:pPr indent="0" marL="0">
              <a:lnSpc>
                <a:spcPct val="140000"/>
              </a:lnSpc>
              <a:buNone/>
            </a:pPr>
            <a:r>
              <a:rPr lang="en-US" sz="1200" b="1" dirty="0">
                <a:solidFill>
                  <a:srgbClr val="132347"/>
                </a:solidFill>
                <a:latin typeface="Calibri" pitchFamily="34" charset="0"/>
                <a:ea typeface="Calibri" pitchFamily="34" charset="-122"/>
                <a:cs typeface="Calibri" pitchFamily="34" charset="-120"/>
              </a:rPr>
              <a:t>Bottom Wear
</a:t>
            </a:r>
            <a:pPr indent="0" marL="0">
              <a:lnSpc>
                <a:spcPct val="140000"/>
              </a:lnSpc>
              <a:buNone/>
            </a:pPr>
            <a:r>
              <a:rPr lang="en-US" sz="1200" dirty="0">
                <a:solidFill>
                  <a:srgbClr val="6B7484"/>
                </a:solidFill>
                <a:latin typeface="Calibri" pitchFamily="34" charset="0"/>
                <a:ea typeface="Calibri" pitchFamily="34" charset="-122"/>
                <a:cs typeface="Calibri" pitchFamily="34" charset="-120"/>
              </a:rPr>
              <a:t>Original Price:  </a:t>
            </a:r>
            <a:pPr indent="0" marL="0">
              <a:lnSpc>
                <a:spcPct val="140000"/>
              </a:lnSpc>
              <a:buNone/>
            </a:pPr>
            <a:r>
              <a:rPr lang="en-US" sz="1200" b="1" dirty="0">
                <a:solidFill>
                  <a:srgbClr val="132347"/>
                </a:solidFill>
                <a:latin typeface="Calibri" pitchFamily="34" charset="0"/>
                <a:ea typeface="Calibri" pitchFamily="34" charset="-122"/>
                <a:cs typeface="Calibri" pitchFamily="34" charset="-120"/>
              </a:rPr>
              <a:t>₹1,499
</a:t>
            </a:r>
            <a:pPr indent="0" marL="0">
              <a:lnSpc>
                <a:spcPct val="140000"/>
              </a:lnSpc>
              <a:buNone/>
            </a:pPr>
            <a:r>
              <a:rPr lang="en-US" sz="1200" dirty="0">
                <a:solidFill>
                  <a:srgbClr val="6B7484"/>
                </a:solidFill>
                <a:latin typeface="Calibri" pitchFamily="34" charset="0"/>
                <a:ea typeface="Calibri" pitchFamily="34" charset="-122"/>
                <a:cs typeface="Calibri" pitchFamily="34" charset="-120"/>
              </a:rPr>
              <a:t>Rating:  </a:t>
            </a:r>
            <a:pPr indent="0" marL="0">
              <a:lnSpc>
                <a:spcPct val="140000"/>
              </a:lnSpc>
              <a:buNone/>
            </a:pPr>
            <a:r>
              <a:rPr lang="en-US" sz="1200" b="1" dirty="0">
                <a:solidFill>
                  <a:srgbClr val="132347"/>
                </a:solidFill>
                <a:latin typeface="Calibri" pitchFamily="34" charset="0"/>
                <a:ea typeface="Calibri" pitchFamily="34" charset="-122"/>
                <a:cs typeface="Calibri" pitchFamily="34" charset="-120"/>
              </a:rPr>
              <a:t>3.9</a:t>
            </a:r>
            <a:endParaRPr lang="en-US" sz="1200" dirty="0"/>
          </a:p>
        </p:txBody>
      </p:sp>
      <p:sp>
        <p:nvSpPr>
          <p:cNvPr id="21" name="Text 19"/>
          <p:cNvSpPr/>
          <p:nvPr/>
        </p:nvSpPr>
        <p:spPr>
          <a:xfrm>
            <a:off x="457200" y="4160520"/>
            <a:ext cx="10817352" cy="822960"/>
          </a:xfrm>
          <a:prstGeom prst="rect">
            <a:avLst/>
          </a:prstGeom>
          <a:noFill/>
          <a:ln/>
        </p:spPr>
        <p:txBody>
          <a:bodyPr wrap="square" lIns="0" tIns="0" rIns="0" bIns="0" rtlCol="0" anchor="t"/>
          <a:lstStyle/>
          <a:p>
            <a:pPr algn="l" indent="0" marL="0">
              <a:lnSpc>
                <a:spcPct val="115000"/>
              </a:lnSpc>
              <a:buNone/>
            </a:pPr>
            <a:r>
              <a:rPr lang="en-US" sz="1250" dirty="0">
                <a:solidFill>
                  <a:srgbClr val="1B2233"/>
                </a:solidFill>
                <a:latin typeface="Calibri" pitchFamily="34" charset="0"/>
                <a:ea typeface="Calibri" pitchFamily="34" charset="-122"/>
                <a:cs typeface="Calibri" pitchFamily="34" charset="-120"/>
              </a:rPr>
              <a:t>MATCH locates the exact row where Product_id equals 6744434 (row 7 of the data range); INDEX then returns the value from the DiscountPrice column at that same row — avoiding VLOOKUP's left-to-right column limitation.</a:t>
            </a:r>
            <a:endParaRPr lang="en-US" sz="1250" dirty="0"/>
          </a:p>
        </p:txBody>
      </p:sp>
      <p:sp>
        <p:nvSpPr>
          <p:cNvPr id="22" name="Shape 20"/>
          <p:cNvSpPr/>
          <p:nvPr/>
        </p:nvSpPr>
        <p:spPr>
          <a:xfrm>
            <a:off x="457200" y="5120640"/>
            <a:ext cx="10817352" cy="1051560"/>
          </a:xfrm>
          <a:prstGeom prst="roundRect">
            <a:avLst>
              <a:gd name="adj" fmla="val 6957"/>
            </a:avLst>
          </a:prstGeom>
          <a:solidFill>
            <a:srgbClr val="F5F7F9"/>
          </a:solidFill>
          <a:ln w="12700">
            <a:solidFill>
              <a:srgbClr val="DCE2E8"/>
            </a:solidFill>
            <a:prstDash val="solid"/>
          </a:ln>
        </p:spPr>
      </p:sp>
      <p:sp>
        <p:nvSpPr>
          <p:cNvPr id="23" name="Text 21"/>
          <p:cNvSpPr/>
          <p:nvPr/>
        </p:nvSpPr>
        <p:spPr>
          <a:xfrm>
            <a:off x="640080" y="5212080"/>
            <a:ext cx="10451592" cy="219456"/>
          </a:xfrm>
          <a:prstGeom prst="rect">
            <a:avLst/>
          </a:prstGeom>
          <a:noFill/>
          <a:ln/>
        </p:spPr>
        <p:txBody>
          <a:bodyPr wrap="square" lIns="0" tIns="0" rIns="0" bIns="0" rtlCol="0" anchor="ctr"/>
          <a:lstStyle/>
          <a:p>
            <a:pPr indent="0" marL="0">
              <a:buNone/>
            </a:pPr>
            <a:r>
              <a:rPr lang="en-US" sz="900" b="1" spc="100" kern="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24" name="Text 22"/>
          <p:cNvSpPr/>
          <p:nvPr/>
        </p:nvSpPr>
        <p:spPr>
          <a:xfrm>
            <a:off x="640080" y="5413248"/>
            <a:ext cx="10451592" cy="429768"/>
          </a:xfrm>
          <a:prstGeom prst="rect">
            <a:avLst/>
          </a:prstGeom>
          <a:noFill/>
          <a:ln/>
        </p:spPr>
        <p:txBody>
          <a:bodyPr wrap="square" lIns="0" tIns="0" rIns="0" bIns="0" rtlCol="0" anchor="t">
            <a:normAutofit/>
          </a:bodyPr>
          <a:lstStyle/>
          <a:p>
            <a:pPr indent="0" marL="0">
              <a:buNone/>
            </a:pPr>
            <a:r>
              <a:rPr lang="en-US" sz="1250" dirty="0">
                <a:solidFill>
                  <a:srgbClr val="132347"/>
                </a:solidFill>
                <a:latin typeface="Courier New" pitchFamily="34" charset="0"/>
                <a:ea typeface="Courier New" pitchFamily="34" charset="-122"/>
                <a:cs typeface="Courier New" pitchFamily="34" charset="-120"/>
              </a:rPr>
              <a:t>=INDEX($H$2:$H$1001, MATCH(6744434, $B$2:$B$1001, 0))   →   Result: 599</a:t>
            </a:r>
            <a:endParaRPr lang="en-US" sz="1250" dirty="0"/>
          </a:p>
        </p:txBody>
      </p:sp>
      <p:sp>
        <p:nvSpPr>
          <p:cNvPr id="25" name="Text 23"/>
          <p:cNvSpPr/>
          <p:nvPr/>
        </p:nvSpPr>
        <p:spPr>
          <a:xfrm>
            <a:off x="640080" y="5861304"/>
            <a:ext cx="10451592" cy="256032"/>
          </a:xfrm>
          <a:prstGeom prst="rect">
            <a:avLst/>
          </a:prstGeom>
          <a:noFill/>
          <a:ln/>
        </p:spPr>
        <p:txBody>
          <a:bodyPr wrap="square" lIns="0" tIns="0" rIns="0" bIns="0" rtlCol="0" anchor="ctr"/>
          <a:lstStyle/>
          <a:p>
            <a:pPr indent="0" marL="0">
              <a:buNone/>
            </a:pPr>
            <a:r>
              <a:rPr lang="en-US" sz="950" i="1" dirty="0">
                <a:solidFill>
                  <a:srgbClr val="6B7484"/>
                </a:solidFill>
                <a:latin typeface="Calibri" pitchFamily="34" charset="0"/>
                <a:ea typeface="Calibri" pitchFamily="34" charset="-122"/>
                <a:cs typeface="Calibri" pitchFamily="34" charset="-120"/>
              </a:rPr>
              <a:t>B = Product_id, H = Discount Price (in Rs). MATCH returns the relative row number; INDEX returns the value at that row in column H.</a:t>
            </a:r>
            <a:endParaRPr lang="en-US" sz="950" dirty="0"/>
          </a:p>
        </p:txBody>
      </p:sp>
      <p:sp>
        <p:nvSpPr>
          <p:cNvPr id="26" name="Text 2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7484"/>
                </a:solidFill>
                <a:latin typeface="Calibri" pitchFamily="34" charset="0"/>
                <a:ea typeface="Calibri" pitchFamily="34" charset="-122"/>
                <a:cs typeface="Calibri" pitchFamily="34" charset="-120"/>
              </a:rPr>
              <a:t>Lookup &amp; Retrieval — Q10</a:t>
            </a:r>
            <a:endParaRPr lang="en-US" sz="900" dirty="0"/>
          </a:p>
        </p:txBody>
      </p:sp>
      <p:sp>
        <p:nvSpPr>
          <p:cNvPr id="27" name="Text 25"/>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6B7484"/>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sp>
      <p:sp>
        <p:nvSpPr>
          <p:cNvPr id="3" name="Text 1"/>
          <p:cNvSpPr/>
          <p:nvPr/>
        </p:nvSpPr>
        <p:spPr>
          <a:xfrm>
            <a:off x="457200" y="384048"/>
            <a:ext cx="86868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 · Q11</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algn="l" indent="0" marL="0">
              <a:buNone/>
            </a:pPr>
            <a:r>
              <a:rPr lang="en-US" sz="2200" b="1" dirty="0">
                <a:solidFill>
                  <a:srgbClr val="132347"/>
                </a:solidFill>
                <a:latin typeface="Cambria" pitchFamily="34" charset="0"/>
                <a:ea typeface="Cambria" pitchFamily="34" charset="-122"/>
                <a:cs typeface="Cambria" pitchFamily="34" charset="-120"/>
              </a:rPr>
              <a:t>Nested XLOOKUP — Any Column by Product ID</a:t>
            </a:r>
            <a:endParaRPr lang="en-US" sz="2200" dirty="0"/>
          </a:p>
        </p:txBody>
      </p:sp>
      <p:sp>
        <p:nvSpPr>
          <p:cNvPr id="5" name="Shape 3"/>
          <p:cNvSpPr/>
          <p:nvPr/>
        </p:nvSpPr>
        <p:spPr>
          <a:xfrm>
            <a:off x="457200" y="1051560"/>
            <a:ext cx="10817352" cy="658368"/>
          </a:xfrm>
          <a:prstGeom prst="roundRect">
            <a:avLst>
              <a:gd name="adj" fmla="val 8333"/>
            </a:avLst>
          </a:prstGeom>
          <a:solidFill>
            <a:srgbClr val="E5F3F2"/>
          </a:solidFill>
          <a:ln/>
        </p:spPr>
      </p:sp>
      <p:sp>
        <p:nvSpPr>
          <p:cNvPr id="6" name="Text 4"/>
          <p:cNvSpPr/>
          <p:nvPr/>
        </p:nvSpPr>
        <p:spPr>
          <a:xfrm>
            <a:off x="640080" y="1051560"/>
            <a:ext cx="10424160" cy="658368"/>
          </a:xfrm>
          <a:prstGeom prst="rect">
            <a:avLst/>
          </a:prstGeom>
          <a:noFill/>
          <a:ln/>
        </p:spPr>
        <p:txBody>
          <a:bodyPr wrap="square" lIns="0" tIns="0" rIns="0" bIns="0" rtlCol="0" anchor="ctr"/>
          <a:lstStyle/>
          <a:p>
            <a:pPr indent="0" marL="0">
              <a:buNone/>
            </a:pPr>
            <a:r>
              <a:rPr lang="en-US" sz="1300" i="1" dirty="0">
                <a:solidFill>
                  <a:srgbClr val="132347"/>
                </a:solidFill>
                <a:latin typeface="Calibri" pitchFamily="34" charset="0"/>
                <a:ea typeface="Calibri" pitchFamily="34" charset="-122"/>
                <a:cs typeface="Calibri" pitchFamily="34" charset="-120"/>
              </a:rPr>
              <a:t>"Utilize nested XLOOKUP to find any column’s detail of a product with its product id."</a:t>
            </a:r>
            <a:endParaRPr lang="en-US" sz="1300" dirty="0"/>
          </a:p>
        </p:txBody>
      </p:sp>
      <p:sp>
        <p:nvSpPr>
          <p:cNvPr id="7" name="Text 5"/>
          <p:cNvSpPr/>
          <p:nvPr/>
        </p:nvSpPr>
        <p:spPr>
          <a:xfrm>
            <a:off x="457200" y="1810512"/>
            <a:ext cx="10817352" cy="292608"/>
          </a:xfrm>
          <a:prstGeom prst="rect">
            <a:avLst/>
          </a:prstGeom>
          <a:noFill/>
          <a:ln/>
        </p:spPr>
        <p:txBody>
          <a:bodyPr wrap="square" lIns="0" tIns="0" rIns="0" bIns="0" rtlCol="0" anchor="ctr"/>
          <a:lstStyle/>
          <a:p>
            <a:pPr indent="0" marL="0">
              <a:buNone/>
            </a:pPr>
            <a:r>
              <a:rPr lang="en-US" sz="1050" i="1" dirty="0">
                <a:solidFill>
                  <a:srgbClr val="6B7484"/>
                </a:solidFill>
                <a:latin typeface="Calibri" pitchFamily="34" charset="0"/>
                <a:ea typeface="Calibri" pitchFamily="34" charset="-122"/>
                <a:cs typeface="Calibri" pitchFamily="34" charset="-120"/>
              </a:rPr>
              <a:t>Demonstration uses Product ID 6744434 (11226634 from Q9 is absent from the dataset).</a:t>
            </a:r>
            <a:endParaRPr lang="en-US" sz="1050" dirty="0"/>
          </a:p>
        </p:txBody>
      </p:sp>
      <p:sp>
        <p:nvSpPr>
          <p:cNvPr id="8" name="Shape 6"/>
          <p:cNvSpPr/>
          <p:nvPr/>
        </p:nvSpPr>
        <p:spPr>
          <a:xfrm>
            <a:off x="457200" y="2240280"/>
            <a:ext cx="3566160" cy="502920"/>
          </a:xfrm>
          <a:prstGeom prst="roundRect">
            <a:avLst>
              <a:gd name="adj" fmla="val 10909"/>
            </a:avLst>
          </a:prstGeom>
          <a:solidFill>
            <a:srgbClr val="132347"/>
          </a:solidFill>
          <a:ln w="12700">
            <a:solidFill>
              <a:srgbClr val="0E7C86"/>
            </a:solidFill>
            <a:prstDash val="solid"/>
          </a:ln>
        </p:spPr>
      </p:sp>
      <p:sp>
        <p:nvSpPr>
          <p:cNvPr id="9" name="Text 7"/>
          <p:cNvSpPr/>
          <p:nvPr/>
        </p:nvSpPr>
        <p:spPr>
          <a:xfrm>
            <a:off x="548640" y="2240280"/>
            <a:ext cx="338328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PRODUCT ID 6744434</a:t>
            </a:r>
            <a:endParaRPr lang="en-US" sz="1200" dirty="0"/>
          </a:p>
        </p:txBody>
      </p:sp>
      <p:sp>
        <p:nvSpPr>
          <p:cNvPr id="10" name="Shape 8"/>
          <p:cNvSpPr/>
          <p:nvPr/>
        </p:nvSpPr>
        <p:spPr>
          <a:xfrm>
            <a:off x="2157984" y="2767889"/>
            <a:ext cx="164592" cy="115214"/>
          </a:xfrm>
          <a:prstGeom prst="downArrow">
            <a:avLst/>
          </a:prstGeom>
          <a:solidFill>
            <a:srgbClr val="0E7C86"/>
          </a:solidFill>
          <a:ln/>
        </p:spPr>
      </p:sp>
      <p:sp>
        <p:nvSpPr>
          <p:cNvPr id="11" name="Shape 9"/>
          <p:cNvSpPr/>
          <p:nvPr/>
        </p:nvSpPr>
        <p:spPr>
          <a:xfrm>
            <a:off x="457200" y="2907792"/>
            <a:ext cx="3566160" cy="502920"/>
          </a:xfrm>
          <a:prstGeom prst="roundRect">
            <a:avLst>
              <a:gd name="adj" fmla="val 10909"/>
            </a:avLst>
          </a:prstGeom>
          <a:solidFill>
            <a:srgbClr val="E5F3F2"/>
          </a:solidFill>
          <a:ln w="12700">
            <a:solidFill>
              <a:srgbClr val="0E7C86"/>
            </a:solidFill>
            <a:prstDash val="solid"/>
          </a:ln>
        </p:spPr>
      </p:sp>
      <p:sp>
        <p:nvSpPr>
          <p:cNvPr id="12" name="Text 10"/>
          <p:cNvSpPr/>
          <p:nvPr/>
        </p:nvSpPr>
        <p:spPr>
          <a:xfrm>
            <a:off x="548640" y="2907792"/>
            <a:ext cx="3383280" cy="502920"/>
          </a:xfrm>
          <a:prstGeom prst="rect">
            <a:avLst/>
          </a:prstGeom>
          <a:noFill/>
          <a:ln/>
        </p:spPr>
        <p:txBody>
          <a:bodyPr wrap="square" lIns="0" tIns="0" rIns="0" bIns="0" rtlCol="0" anchor="ctr"/>
          <a:lstStyle/>
          <a:p>
            <a:pPr algn="ctr" indent="0" marL="0">
              <a:buNone/>
            </a:pPr>
            <a:r>
              <a:rPr lang="en-US" sz="1150" b="1" dirty="0">
                <a:solidFill>
                  <a:srgbClr val="132347"/>
                </a:solidFill>
                <a:latin typeface="Calibri" pitchFamily="34" charset="0"/>
                <a:ea typeface="Calibri" pitchFamily="34" charset="-122"/>
                <a:cs typeface="Calibri" pitchFamily="34" charset="-120"/>
              </a:rPr>
              <a:t>OUTER XLOOKUP → Row</a:t>
            </a:r>
            <a:endParaRPr lang="en-US" sz="1150" dirty="0"/>
          </a:p>
        </p:txBody>
      </p:sp>
      <p:sp>
        <p:nvSpPr>
          <p:cNvPr id="13" name="Shape 11"/>
          <p:cNvSpPr/>
          <p:nvPr/>
        </p:nvSpPr>
        <p:spPr>
          <a:xfrm>
            <a:off x="2157984" y="3435401"/>
            <a:ext cx="164592" cy="115214"/>
          </a:xfrm>
          <a:prstGeom prst="downArrow">
            <a:avLst/>
          </a:prstGeom>
          <a:solidFill>
            <a:srgbClr val="0E7C86"/>
          </a:solidFill>
          <a:ln/>
        </p:spPr>
      </p:sp>
      <p:sp>
        <p:nvSpPr>
          <p:cNvPr id="14" name="Shape 12"/>
          <p:cNvSpPr/>
          <p:nvPr/>
        </p:nvSpPr>
        <p:spPr>
          <a:xfrm>
            <a:off x="457200" y="3575304"/>
            <a:ext cx="3566160" cy="502920"/>
          </a:xfrm>
          <a:prstGeom prst="roundRect">
            <a:avLst>
              <a:gd name="adj" fmla="val 10909"/>
            </a:avLst>
          </a:prstGeom>
          <a:solidFill>
            <a:srgbClr val="E5F3F2"/>
          </a:solidFill>
          <a:ln w="12700">
            <a:solidFill>
              <a:srgbClr val="0E7C86"/>
            </a:solidFill>
            <a:prstDash val="solid"/>
          </a:ln>
        </p:spPr>
      </p:sp>
      <p:sp>
        <p:nvSpPr>
          <p:cNvPr id="15" name="Text 13"/>
          <p:cNvSpPr/>
          <p:nvPr/>
        </p:nvSpPr>
        <p:spPr>
          <a:xfrm>
            <a:off x="548640" y="3575304"/>
            <a:ext cx="3383280" cy="502920"/>
          </a:xfrm>
          <a:prstGeom prst="rect">
            <a:avLst/>
          </a:prstGeom>
          <a:noFill/>
          <a:ln/>
        </p:spPr>
        <p:txBody>
          <a:bodyPr wrap="square" lIns="0" tIns="0" rIns="0" bIns="0" rtlCol="0" anchor="ctr"/>
          <a:lstStyle/>
          <a:p>
            <a:pPr algn="ctr" indent="0" marL="0">
              <a:buNone/>
            </a:pPr>
            <a:r>
              <a:rPr lang="en-US" sz="1150" b="1" dirty="0">
                <a:solidFill>
                  <a:srgbClr val="132347"/>
                </a:solidFill>
                <a:latin typeface="Calibri" pitchFamily="34" charset="0"/>
                <a:ea typeface="Calibri" pitchFamily="34" charset="-122"/>
                <a:cs typeface="Calibri" pitchFamily="34" charset="-120"/>
              </a:rPr>
              <a:t>INNER XLOOKUP → Column</a:t>
            </a:r>
            <a:endParaRPr lang="en-US" sz="1150" dirty="0"/>
          </a:p>
        </p:txBody>
      </p:sp>
      <p:sp>
        <p:nvSpPr>
          <p:cNvPr id="16" name="Shape 14"/>
          <p:cNvSpPr/>
          <p:nvPr/>
        </p:nvSpPr>
        <p:spPr>
          <a:xfrm>
            <a:off x="2157984" y="4102913"/>
            <a:ext cx="164592" cy="115214"/>
          </a:xfrm>
          <a:prstGeom prst="downArrow">
            <a:avLst/>
          </a:prstGeom>
          <a:solidFill>
            <a:srgbClr val="0E7C86"/>
          </a:solidFill>
          <a:ln/>
        </p:spPr>
      </p:sp>
      <p:sp>
        <p:nvSpPr>
          <p:cNvPr id="17" name="Shape 15"/>
          <p:cNvSpPr/>
          <p:nvPr/>
        </p:nvSpPr>
        <p:spPr>
          <a:xfrm>
            <a:off x="457200" y="4242816"/>
            <a:ext cx="3566160" cy="502920"/>
          </a:xfrm>
          <a:prstGeom prst="roundRect">
            <a:avLst>
              <a:gd name="adj" fmla="val 10909"/>
            </a:avLst>
          </a:prstGeom>
          <a:solidFill>
            <a:srgbClr val="0E7C86"/>
          </a:solidFill>
          <a:ln w="12700">
            <a:solidFill>
              <a:srgbClr val="0E7C86"/>
            </a:solidFill>
            <a:prstDash val="solid"/>
          </a:ln>
        </p:spPr>
      </p:sp>
      <p:sp>
        <p:nvSpPr>
          <p:cNvPr id="18" name="Text 16"/>
          <p:cNvSpPr/>
          <p:nvPr/>
        </p:nvSpPr>
        <p:spPr>
          <a:xfrm>
            <a:off x="548640" y="4242816"/>
            <a:ext cx="338328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RETURN VALUE</a:t>
            </a:r>
            <a:endParaRPr lang="en-US" sz="1200" dirty="0"/>
          </a:p>
        </p:txBody>
      </p:sp>
      <p:sp>
        <p:nvSpPr>
          <p:cNvPr id="19" name="Shape 17"/>
          <p:cNvSpPr/>
          <p:nvPr/>
        </p:nvSpPr>
        <p:spPr>
          <a:xfrm>
            <a:off x="4617720" y="2240280"/>
            <a:ext cx="3200400" cy="685800"/>
          </a:xfrm>
          <a:prstGeom prst="roundRect">
            <a:avLst>
              <a:gd name="adj" fmla="val 8000"/>
            </a:avLst>
          </a:prstGeom>
          <a:solidFill>
            <a:srgbClr val="F5F7F9"/>
          </a:solidFill>
          <a:ln w="12700">
            <a:solidFill>
              <a:srgbClr val="DCE2E8"/>
            </a:solidFill>
            <a:prstDash val="solid"/>
          </a:ln>
        </p:spPr>
      </p:sp>
      <p:sp>
        <p:nvSpPr>
          <p:cNvPr id="20" name="Text 18"/>
          <p:cNvSpPr/>
          <p:nvPr/>
        </p:nvSpPr>
        <p:spPr>
          <a:xfrm>
            <a:off x="4800600" y="2295144"/>
            <a:ext cx="2834640" cy="274320"/>
          </a:xfrm>
          <a:prstGeom prst="rect">
            <a:avLst/>
          </a:prstGeom>
          <a:noFill/>
          <a:ln/>
        </p:spPr>
        <p:txBody>
          <a:bodyPr wrap="square" lIns="0" tIns="0" rIns="0" bIns="0" rtlCol="0" anchor="ctr"/>
          <a:lstStyle/>
          <a:p>
            <a:pPr indent="0" marL="0">
              <a:buNone/>
            </a:pPr>
            <a:r>
              <a:rPr lang="en-US" sz="1000" dirty="0">
                <a:solidFill>
                  <a:srgbClr val="6B7484"/>
                </a:solidFill>
                <a:latin typeface="Calibri" pitchFamily="34" charset="0"/>
                <a:ea typeface="Calibri" pitchFamily="34" charset="-122"/>
                <a:cs typeface="Calibri" pitchFamily="34" charset="-120"/>
              </a:rPr>
              <a:t>BrandName</a:t>
            </a:r>
            <a:endParaRPr lang="en-US" sz="1000" dirty="0"/>
          </a:p>
        </p:txBody>
      </p:sp>
      <p:sp>
        <p:nvSpPr>
          <p:cNvPr id="21" name="Text 19"/>
          <p:cNvSpPr/>
          <p:nvPr/>
        </p:nvSpPr>
        <p:spPr>
          <a:xfrm>
            <a:off x="4800600" y="2532888"/>
            <a:ext cx="2834640" cy="347472"/>
          </a:xfrm>
          <a:prstGeom prst="rect">
            <a:avLst/>
          </a:prstGeom>
          <a:noFill/>
          <a:ln/>
        </p:spPr>
        <p:txBody>
          <a:bodyPr wrap="square" lIns="0" tIns="0" rIns="0" bIns="0" rtlCol="0" anchor="ctr"/>
          <a:lstStyle/>
          <a:p>
            <a:pPr indent="0" marL="0">
              <a:buNone/>
            </a:pPr>
            <a:r>
              <a:rPr lang="en-US" sz="1500" b="1" dirty="0">
                <a:solidFill>
                  <a:srgbClr val="132347"/>
                </a:solidFill>
                <a:latin typeface="Cambria" pitchFamily="34" charset="0"/>
                <a:ea typeface="Cambria" pitchFamily="34" charset="-122"/>
                <a:cs typeface="Cambria" pitchFamily="34" charset="-120"/>
              </a:rPr>
              <a:t>HIGHLANDER</a:t>
            </a:r>
            <a:endParaRPr lang="en-US" sz="1500" dirty="0"/>
          </a:p>
        </p:txBody>
      </p:sp>
      <p:sp>
        <p:nvSpPr>
          <p:cNvPr id="22" name="Shape 20"/>
          <p:cNvSpPr/>
          <p:nvPr/>
        </p:nvSpPr>
        <p:spPr>
          <a:xfrm>
            <a:off x="8046720" y="2240280"/>
            <a:ext cx="3227832" cy="685800"/>
          </a:xfrm>
          <a:prstGeom prst="roundRect">
            <a:avLst>
              <a:gd name="adj" fmla="val 8000"/>
            </a:avLst>
          </a:prstGeom>
          <a:solidFill>
            <a:srgbClr val="132347"/>
          </a:solidFill>
          <a:ln/>
        </p:spPr>
      </p:sp>
      <p:sp>
        <p:nvSpPr>
          <p:cNvPr id="23" name="Text 21"/>
          <p:cNvSpPr/>
          <p:nvPr/>
        </p:nvSpPr>
        <p:spPr>
          <a:xfrm>
            <a:off x="8229600" y="2295144"/>
            <a:ext cx="2926080" cy="274320"/>
          </a:xfrm>
          <a:prstGeom prst="rect">
            <a:avLst/>
          </a:prstGeom>
          <a:noFill/>
          <a:ln/>
        </p:spPr>
        <p:txBody>
          <a:bodyPr wrap="square" lIns="0" tIns="0" rIns="0" bIns="0" rtlCol="0" anchor="ctr"/>
          <a:lstStyle/>
          <a:p>
            <a:pPr indent="0" marL="0">
              <a:buNone/>
            </a:pPr>
            <a:r>
              <a:rPr lang="en-US" sz="950" dirty="0">
                <a:solidFill>
                  <a:srgbClr val="17A398"/>
                </a:solidFill>
                <a:latin typeface="Calibri" pitchFamily="34" charset="0"/>
                <a:ea typeface="Calibri" pitchFamily="34" charset="-122"/>
                <a:cs typeface="Calibri" pitchFamily="34" charset="-120"/>
              </a:rPr>
              <a:t>Column selected</a:t>
            </a:r>
            <a:endParaRPr lang="en-US" sz="950" dirty="0"/>
          </a:p>
        </p:txBody>
      </p:sp>
      <p:sp>
        <p:nvSpPr>
          <p:cNvPr id="24" name="Text 22"/>
          <p:cNvSpPr/>
          <p:nvPr/>
        </p:nvSpPr>
        <p:spPr>
          <a:xfrm>
            <a:off x="8229600" y="2532888"/>
            <a:ext cx="2926080" cy="347472"/>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"BrandName"</a:t>
            </a:r>
            <a:endParaRPr lang="en-US" sz="1200" dirty="0"/>
          </a:p>
        </p:txBody>
      </p:sp>
      <p:sp>
        <p:nvSpPr>
          <p:cNvPr id="25" name="Shape 23"/>
          <p:cNvSpPr/>
          <p:nvPr/>
        </p:nvSpPr>
        <p:spPr>
          <a:xfrm>
            <a:off x="4617720" y="3108960"/>
            <a:ext cx="3200400" cy="685800"/>
          </a:xfrm>
          <a:prstGeom prst="roundRect">
            <a:avLst>
              <a:gd name="adj" fmla="val 8000"/>
            </a:avLst>
          </a:prstGeom>
          <a:solidFill>
            <a:srgbClr val="F5F7F9"/>
          </a:solidFill>
          <a:ln w="12700">
            <a:solidFill>
              <a:srgbClr val="DCE2E8"/>
            </a:solidFill>
            <a:prstDash val="solid"/>
          </a:ln>
        </p:spPr>
      </p:sp>
      <p:sp>
        <p:nvSpPr>
          <p:cNvPr id="26" name="Text 24"/>
          <p:cNvSpPr/>
          <p:nvPr/>
        </p:nvSpPr>
        <p:spPr>
          <a:xfrm>
            <a:off x="4800600" y="3163824"/>
            <a:ext cx="2834640" cy="274320"/>
          </a:xfrm>
          <a:prstGeom prst="rect">
            <a:avLst/>
          </a:prstGeom>
          <a:noFill/>
          <a:ln/>
        </p:spPr>
        <p:txBody>
          <a:bodyPr wrap="square" lIns="0" tIns="0" rIns="0" bIns="0" rtlCol="0" anchor="ctr"/>
          <a:lstStyle/>
          <a:p>
            <a:pPr indent="0" marL="0">
              <a:buNone/>
            </a:pPr>
            <a:r>
              <a:rPr lang="en-US" sz="1000" dirty="0">
                <a:solidFill>
                  <a:srgbClr val="6B7484"/>
                </a:solidFill>
                <a:latin typeface="Calibri" pitchFamily="34" charset="0"/>
                <a:ea typeface="Calibri" pitchFamily="34" charset="-122"/>
                <a:cs typeface="Calibri" pitchFamily="34" charset="-120"/>
              </a:rPr>
              <a:t>Category</a:t>
            </a:r>
            <a:endParaRPr lang="en-US" sz="1000" dirty="0"/>
          </a:p>
        </p:txBody>
      </p:sp>
      <p:sp>
        <p:nvSpPr>
          <p:cNvPr id="27" name="Text 25"/>
          <p:cNvSpPr/>
          <p:nvPr/>
        </p:nvSpPr>
        <p:spPr>
          <a:xfrm>
            <a:off x="4800600" y="3401568"/>
            <a:ext cx="2834640" cy="347472"/>
          </a:xfrm>
          <a:prstGeom prst="rect">
            <a:avLst/>
          </a:prstGeom>
          <a:noFill/>
          <a:ln/>
        </p:spPr>
        <p:txBody>
          <a:bodyPr wrap="square" lIns="0" tIns="0" rIns="0" bIns="0" rtlCol="0" anchor="ctr"/>
          <a:lstStyle/>
          <a:p>
            <a:pPr indent="0" marL="0">
              <a:buNone/>
            </a:pPr>
            <a:r>
              <a:rPr lang="en-US" sz="1500" b="1" dirty="0">
                <a:solidFill>
                  <a:srgbClr val="132347"/>
                </a:solidFill>
                <a:latin typeface="Cambria" pitchFamily="34" charset="0"/>
                <a:ea typeface="Cambria" pitchFamily="34" charset="-122"/>
                <a:cs typeface="Cambria" pitchFamily="34" charset="-120"/>
              </a:rPr>
              <a:t>Bottom Wear</a:t>
            </a:r>
            <a:endParaRPr lang="en-US" sz="1500" dirty="0"/>
          </a:p>
        </p:txBody>
      </p:sp>
      <p:sp>
        <p:nvSpPr>
          <p:cNvPr id="28" name="Shape 26"/>
          <p:cNvSpPr/>
          <p:nvPr/>
        </p:nvSpPr>
        <p:spPr>
          <a:xfrm>
            <a:off x="8046720" y="3108960"/>
            <a:ext cx="3227832" cy="685800"/>
          </a:xfrm>
          <a:prstGeom prst="roundRect">
            <a:avLst>
              <a:gd name="adj" fmla="val 8000"/>
            </a:avLst>
          </a:prstGeom>
          <a:solidFill>
            <a:srgbClr val="132347"/>
          </a:solidFill>
          <a:ln/>
        </p:spPr>
      </p:sp>
      <p:sp>
        <p:nvSpPr>
          <p:cNvPr id="29" name="Text 27"/>
          <p:cNvSpPr/>
          <p:nvPr/>
        </p:nvSpPr>
        <p:spPr>
          <a:xfrm>
            <a:off x="8229600" y="3163824"/>
            <a:ext cx="2926080" cy="274320"/>
          </a:xfrm>
          <a:prstGeom prst="rect">
            <a:avLst/>
          </a:prstGeom>
          <a:noFill/>
          <a:ln/>
        </p:spPr>
        <p:txBody>
          <a:bodyPr wrap="square" lIns="0" tIns="0" rIns="0" bIns="0" rtlCol="0" anchor="ctr"/>
          <a:lstStyle/>
          <a:p>
            <a:pPr indent="0" marL="0">
              <a:buNone/>
            </a:pPr>
            <a:r>
              <a:rPr lang="en-US" sz="950" dirty="0">
                <a:solidFill>
                  <a:srgbClr val="17A398"/>
                </a:solidFill>
                <a:latin typeface="Calibri" pitchFamily="34" charset="0"/>
                <a:ea typeface="Calibri" pitchFamily="34" charset="-122"/>
                <a:cs typeface="Calibri" pitchFamily="34" charset="-120"/>
              </a:rPr>
              <a:t>Column selected</a:t>
            </a:r>
            <a:endParaRPr lang="en-US" sz="950" dirty="0"/>
          </a:p>
        </p:txBody>
      </p:sp>
      <p:sp>
        <p:nvSpPr>
          <p:cNvPr id="30" name="Text 28"/>
          <p:cNvSpPr/>
          <p:nvPr/>
        </p:nvSpPr>
        <p:spPr>
          <a:xfrm>
            <a:off x="8229600" y="3401568"/>
            <a:ext cx="2926080" cy="347472"/>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"Category"</a:t>
            </a:r>
            <a:endParaRPr lang="en-US" sz="1200" dirty="0"/>
          </a:p>
        </p:txBody>
      </p:sp>
      <p:sp>
        <p:nvSpPr>
          <p:cNvPr id="31" name="Shape 29"/>
          <p:cNvSpPr/>
          <p:nvPr/>
        </p:nvSpPr>
        <p:spPr>
          <a:xfrm>
            <a:off x="4617720" y="3977640"/>
            <a:ext cx="3200400" cy="685800"/>
          </a:xfrm>
          <a:prstGeom prst="roundRect">
            <a:avLst>
              <a:gd name="adj" fmla="val 8000"/>
            </a:avLst>
          </a:prstGeom>
          <a:solidFill>
            <a:srgbClr val="F5F7F9"/>
          </a:solidFill>
          <a:ln w="12700">
            <a:solidFill>
              <a:srgbClr val="DCE2E8"/>
            </a:solidFill>
            <a:prstDash val="solid"/>
          </a:ln>
        </p:spPr>
      </p:sp>
      <p:sp>
        <p:nvSpPr>
          <p:cNvPr id="32" name="Text 30"/>
          <p:cNvSpPr/>
          <p:nvPr/>
        </p:nvSpPr>
        <p:spPr>
          <a:xfrm>
            <a:off x="4800600" y="4032504"/>
            <a:ext cx="2834640" cy="274320"/>
          </a:xfrm>
          <a:prstGeom prst="rect">
            <a:avLst/>
          </a:prstGeom>
          <a:noFill/>
          <a:ln/>
        </p:spPr>
        <p:txBody>
          <a:bodyPr wrap="square" lIns="0" tIns="0" rIns="0" bIns="0" rtlCol="0" anchor="ctr"/>
          <a:lstStyle/>
          <a:p>
            <a:pPr indent="0" marL="0">
              <a:buNone/>
            </a:pPr>
            <a:r>
              <a:rPr lang="en-US" sz="1000" dirty="0">
                <a:solidFill>
                  <a:srgbClr val="6B7484"/>
                </a:solidFill>
                <a:latin typeface="Calibri" pitchFamily="34" charset="0"/>
                <a:ea typeface="Calibri" pitchFamily="34" charset="-122"/>
                <a:cs typeface="Calibri" pitchFamily="34" charset="-120"/>
              </a:rPr>
              <a:t>Individual_category</a:t>
            </a:r>
            <a:endParaRPr lang="en-US" sz="1000" dirty="0"/>
          </a:p>
        </p:txBody>
      </p:sp>
      <p:sp>
        <p:nvSpPr>
          <p:cNvPr id="33" name="Text 31"/>
          <p:cNvSpPr/>
          <p:nvPr/>
        </p:nvSpPr>
        <p:spPr>
          <a:xfrm>
            <a:off x="4800600" y="4270248"/>
            <a:ext cx="2834640" cy="347472"/>
          </a:xfrm>
          <a:prstGeom prst="rect">
            <a:avLst/>
          </a:prstGeom>
          <a:noFill/>
          <a:ln/>
        </p:spPr>
        <p:txBody>
          <a:bodyPr wrap="square" lIns="0" tIns="0" rIns="0" bIns="0" rtlCol="0" anchor="ctr"/>
          <a:lstStyle/>
          <a:p>
            <a:pPr indent="0" marL="0">
              <a:buNone/>
            </a:pPr>
            <a:r>
              <a:rPr lang="en-US" sz="1500" b="1" dirty="0">
                <a:solidFill>
                  <a:srgbClr val="132347"/>
                </a:solidFill>
                <a:latin typeface="Cambria" pitchFamily="34" charset="0"/>
                <a:ea typeface="Cambria" pitchFamily="34" charset="-122"/>
                <a:cs typeface="Cambria" pitchFamily="34" charset="-120"/>
              </a:rPr>
              <a:t>trousers</a:t>
            </a:r>
            <a:endParaRPr lang="en-US" sz="1500" dirty="0"/>
          </a:p>
        </p:txBody>
      </p:sp>
      <p:sp>
        <p:nvSpPr>
          <p:cNvPr id="34" name="Shape 32"/>
          <p:cNvSpPr/>
          <p:nvPr/>
        </p:nvSpPr>
        <p:spPr>
          <a:xfrm>
            <a:off x="8046720" y="3977640"/>
            <a:ext cx="3227832" cy="685800"/>
          </a:xfrm>
          <a:prstGeom prst="roundRect">
            <a:avLst>
              <a:gd name="adj" fmla="val 8000"/>
            </a:avLst>
          </a:prstGeom>
          <a:solidFill>
            <a:srgbClr val="132347"/>
          </a:solidFill>
          <a:ln/>
        </p:spPr>
      </p:sp>
      <p:sp>
        <p:nvSpPr>
          <p:cNvPr id="35" name="Text 33"/>
          <p:cNvSpPr/>
          <p:nvPr/>
        </p:nvSpPr>
        <p:spPr>
          <a:xfrm>
            <a:off x="8229600" y="4032504"/>
            <a:ext cx="2926080" cy="274320"/>
          </a:xfrm>
          <a:prstGeom prst="rect">
            <a:avLst/>
          </a:prstGeom>
          <a:noFill/>
          <a:ln/>
        </p:spPr>
        <p:txBody>
          <a:bodyPr wrap="square" lIns="0" tIns="0" rIns="0" bIns="0" rtlCol="0" anchor="ctr"/>
          <a:lstStyle/>
          <a:p>
            <a:pPr indent="0" marL="0">
              <a:buNone/>
            </a:pPr>
            <a:r>
              <a:rPr lang="en-US" sz="950" dirty="0">
                <a:solidFill>
                  <a:srgbClr val="17A398"/>
                </a:solidFill>
                <a:latin typeface="Calibri" pitchFamily="34" charset="0"/>
                <a:ea typeface="Calibri" pitchFamily="34" charset="-122"/>
                <a:cs typeface="Calibri" pitchFamily="34" charset="-120"/>
              </a:rPr>
              <a:t>Column selected</a:t>
            </a:r>
            <a:endParaRPr lang="en-US" sz="950" dirty="0"/>
          </a:p>
        </p:txBody>
      </p:sp>
      <p:sp>
        <p:nvSpPr>
          <p:cNvPr id="36" name="Text 34"/>
          <p:cNvSpPr/>
          <p:nvPr/>
        </p:nvSpPr>
        <p:spPr>
          <a:xfrm>
            <a:off x="8229600" y="4270248"/>
            <a:ext cx="2926080" cy="347472"/>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"Individual_category"</a:t>
            </a:r>
            <a:endParaRPr lang="en-US" sz="1200" dirty="0"/>
          </a:p>
        </p:txBody>
      </p:sp>
      <p:sp>
        <p:nvSpPr>
          <p:cNvPr id="37" name="Shape 35"/>
          <p:cNvSpPr/>
          <p:nvPr/>
        </p:nvSpPr>
        <p:spPr>
          <a:xfrm>
            <a:off x="457200" y="5120640"/>
            <a:ext cx="10817352" cy="1051560"/>
          </a:xfrm>
          <a:prstGeom prst="roundRect">
            <a:avLst>
              <a:gd name="adj" fmla="val 6957"/>
            </a:avLst>
          </a:prstGeom>
          <a:solidFill>
            <a:srgbClr val="F5F7F9"/>
          </a:solidFill>
          <a:ln w="12700">
            <a:solidFill>
              <a:srgbClr val="DCE2E8"/>
            </a:solidFill>
            <a:prstDash val="solid"/>
          </a:ln>
        </p:spPr>
      </p:sp>
      <p:sp>
        <p:nvSpPr>
          <p:cNvPr id="38" name="Text 36"/>
          <p:cNvSpPr/>
          <p:nvPr/>
        </p:nvSpPr>
        <p:spPr>
          <a:xfrm>
            <a:off x="640080" y="5212080"/>
            <a:ext cx="10451592" cy="219456"/>
          </a:xfrm>
          <a:prstGeom prst="rect">
            <a:avLst/>
          </a:prstGeom>
          <a:noFill/>
          <a:ln/>
        </p:spPr>
        <p:txBody>
          <a:bodyPr wrap="square" lIns="0" tIns="0" rIns="0" bIns="0" rtlCol="0" anchor="ctr"/>
          <a:lstStyle/>
          <a:p>
            <a:pPr indent="0" marL="0">
              <a:buNone/>
            </a:pPr>
            <a:r>
              <a:rPr lang="en-US" sz="900" b="1" spc="100" kern="0" dirty="0">
                <a:solidFill>
                  <a:srgbClr val="0E7C86"/>
                </a:solidFill>
                <a:latin typeface="Calibri" pitchFamily="34" charset="0"/>
                <a:ea typeface="Calibri" pitchFamily="34" charset="-122"/>
                <a:cs typeface="Calibri" pitchFamily="34" charset="-120"/>
              </a:rPr>
              <a:t>EXCEL FORMULA</a:t>
            </a:r>
            <a:endParaRPr lang="en-US" sz="900" dirty="0"/>
          </a:p>
        </p:txBody>
      </p:sp>
      <p:sp>
        <p:nvSpPr>
          <p:cNvPr id="39" name="Text 37"/>
          <p:cNvSpPr/>
          <p:nvPr/>
        </p:nvSpPr>
        <p:spPr>
          <a:xfrm>
            <a:off x="640080" y="5413248"/>
            <a:ext cx="10451592" cy="429768"/>
          </a:xfrm>
          <a:prstGeom prst="rect">
            <a:avLst/>
          </a:prstGeom>
          <a:noFill/>
          <a:ln/>
        </p:spPr>
        <p:txBody>
          <a:bodyPr wrap="square" lIns="0" tIns="0" rIns="0" bIns="0" rtlCol="0" anchor="t">
            <a:normAutofit/>
          </a:bodyPr>
          <a:lstStyle/>
          <a:p>
            <a:pPr indent="0" marL="0">
              <a:buNone/>
            </a:pPr>
            <a:r>
              <a:rPr lang="en-US" sz="1250" dirty="0">
                <a:solidFill>
                  <a:srgbClr val="132347"/>
                </a:solidFill>
                <a:latin typeface="Courier New" pitchFamily="34" charset="0"/>
                <a:ea typeface="Courier New" pitchFamily="34" charset="-122"/>
                <a:cs typeface="Courier New" pitchFamily="34" charset="-120"/>
              </a:rPr>
              <a:t>=XLOOKUP(6744434, $B$2:$B$1001, XLOOKUP("BrandName", $A$1:$S$1, $A$2:$S$1001))</a:t>
            </a:r>
            <a:endParaRPr lang="en-US" sz="1250" dirty="0"/>
          </a:p>
        </p:txBody>
      </p:sp>
      <p:sp>
        <p:nvSpPr>
          <p:cNvPr id="40" name="Text 38"/>
          <p:cNvSpPr/>
          <p:nvPr/>
        </p:nvSpPr>
        <p:spPr>
          <a:xfrm>
            <a:off x="640080" y="5861304"/>
            <a:ext cx="10451592" cy="256032"/>
          </a:xfrm>
          <a:prstGeom prst="rect">
            <a:avLst/>
          </a:prstGeom>
          <a:noFill/>
          <a:ln/>
        </p:spPr>
        <p:txBody>
          <a:bodyPr wrap="square" lIns="0" tIns="0" rIns="0" bIns="0" rtlCol="0" anchor="ctr"/>
          <a:lstStyle/>
          <a:p>
            <a:pPr indent="0" marL="0">
              <a:buNone/>
            </a:pPr>
            <a:r>
              <a:rPr lang="en-US" sz="950" i="1" dirty="0">
                <a:solidFill>
                  <a:srgbClr val="6B7484"/>
                </a:solidFill>
                <a:latin typeface="Calibri" pitchFamily="34" charset="0"/>
                <a:ea typeface="Calibri" pitchFamily="34" charset="-122"/>
                <a:cs typeface="Calibri" pitchFamily="34" charset="-120"/>
              </a:rPr>
              <a:t>Inner XLOOKUP finds the target column by header name; outer XLOOKUP finds the row by Product_id — swap the header text to pull any column (Category, Individual_category, etc.) without rewriting the formula.</a:t>
            </a:r>
            <a:endParaRPr lang="en-US" sz="950" dirty="0"/>
          </a:p>
        </p:txBody>
      </p:sp>
      <p:sp>
        <p:nvSpPr>
          <p:cNvPr id="41" name="Text 39"/>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7484"/>
                </a:solidFill>
                <a:latin typeface="Calibri" pitchFamily="34" charset="0"/>
                <a:ea typeface="Calibri" pitchFamily="34" charset="-122"/>
                <a:cs typeface="Calibri" pitchFamily="34" charset="-120"/>
              </a:rPr>
              <a:t>Lookup &amp; Retrieval — Q11</a:t>
            </a:r>
            <a:endParaRPr lang="en-US" sz="900" dirty="0"/>
          </a:p>
        </p:txBody>
      </p:sp>
      <p:sp>
        <p:nvSpPr>
          <p:cNvPr id="42" name="Text 40"/>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6B7484"/>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p:bgPr>
    </p:bg>
    <p:spTree>
      <p:nvGrpSpPr>
        <p:cNvPr id="1" name=""/>
        <p:cNvGrpSpPr/>
        <p:nvPr/>
      </p:nvGrpSpPr>
      <p:grpSpPr>
        <a:xfrm>
          <a:off x="0" y="0"/>
          <a:ext cx="0" cy="0"/>
          <a:chOff x="0" y="0"/>
          <a:chExt cx="0" cy="0"/>
        </a:xfrm>
      </p:grpSpPr>
      <p:sp>
        <p:nvSpPr>
          <p:cNvPr id="2" name="Shape 0"/>
          <p:cNvSpPr/>
          <p:nvPr/>
        </p:nvSpPr>
        <p:spPr>
          <a:xfrm>
            <a:off x="457200" y="384048"/>
            <a:ext cx="868680" cy="310896"/>
          </a:xfrm>
          <a:prstGeom prst="roundRect">
            <a:avLst>
              <a:gd name="adj" fmla="val 50000"/>
            </a:avLst>
          </a:prstGeom>
          <a:solidFill>
            <a:srgbClr val="0E7C86"/>
          </a:solidFill>
          <a:ln/>
        </p:spPr>
      </p:sp>
      <p:sp>
        <p:nvSpPr>
          <p:cNvPr id="3" name="Text 1"/>
          <p:cNvSpPr/>
          <p:nvPr/>
        </p:nvSpPr>
        <p:spPr>
          <a:xfrm>
            <a:off x="457200" y="384048"/>
            <a:ext cx="86868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INSIGHTS</a:t>
            </a:r>
            <a:endParaRPr lang="en-US" sz="1200" dirty="0"/>
          </a:p>
        </p:txBody>
      </p:sp>
      <p:sp>
        <p:nvSpPr>
          <p:cNvPr id="4" name="Text 2"/>
          <p:cNvSpPr/>
          <p:nvPr/>
        </p:nvSpPr>
        <p:spPr>
          <a:xfrm>
            <a:off x="1463040" y="320040"/>
            <a:ext cx="10241280" cy="502920"/>
          </a:xfrm>
          <a:prstGeom prst="rect">
            <a:avLst/>
          </a:prstGeom>
          <a:noFill/>
          <a:ln/>
        </p:spPr>
        <p:txBody>
          <a:bodyPr wrap="square" lIns="0" tIns="0" rIns="0" bIns="0" rtlCol="0" anchor="ctr"/>
          <a:lstStyle/>
          <a:p>
            <a:pPr algn="l" indent="0" marL="0">
              <a:buNone/>
            </a:pPr>
            <a:r>
              <a:rPr lang="en-US" sz="2200" b="1" dirty="0">
                <a:solidFill>
                  <a:srgbClr val="132347"/>
                </a:solidFill>
                <a:latin typeface="Cambria" pitchFamily="34" charset="0"/>
                <a:ea typeface="Cambria" pitchFamily="34" charset="-122"/>
                <a:cs typeface="Cambria" pitchFamily="34" charset="-120"/>
              </a:rPr>
              <a:t>Key Insights</a:t>
            </a:r>
            <a:endParaRPr lang="en-US" sz="2200" dirty="0"/>
          </a:p>
        </p:txBody>
      </p:sp>
      <p:sp>
        <p:nvSpPr>
          <p:cNvPr id="5" name="Shape 3"/>
          <p:cNvSpPr/>
          <p:nvPr/>
        </p:nvSpPr>
        <p:spPr>
          <a:xfrm>
            <a:off x="457200" y="1234440"/>
            <a:ext cx="3401568" cy="2331720"/>
          </a:xfrm>
          <a:prstGeom prst="roundRect">
            <a:avLst>
              <a:gd name="adj" fmla="val 3922"/>
            </a:avLst>
          </a:prstGeom>
          <a:solidFill>
            <a:srgbClr val="FFFFFF"/>
          </a:solidFill>
          <a:ln/>
          <a:effectLst>
            <a:outerShdw sx="100000" sy="100000" kx="0" ky="0" algn="bl" rotWithShape="0" blurRad="63500" dist="25400" dir="5400000">
              <a:srgbClr val="1B2233">
                <a:alpha val="18000"/>
              </a:srgbClr>
            </a:outerShdw>
          </a:effectLst>
        </p:spPr>
      </p:sp>
      <p:sp>
        <p:nvSpPr>
          <p:cNvPr id="6" name="Shape 4"/>
          <p:cNvSpPr/>
          <p:nvPr/>
        </p:nvSpPr>
        <p:spPr>
          <a:xfrm>
            <a:off x="685800" y="1463040"/>
            <a:ext cx="457200" cy="457200"/>
          </a:xfrm>
          <a:prstGeom prst="ellipse">
            <a:avLst/>
          </a:prstGeom>
          <a:solidFill>
            <a:srgbClr val="0E7C86"/>
          </a:solidFill>
          <a:ln/>
        </p:spPr>
      </p:sp>
      <p:sp>
        <p:nvSpPr>
          <p:cNvPr id="7" name="Text 5"/>
          <p:cNvSpPr/>
          <p:nvPr/>
        </p:nvSpPr>
        <p:spPr>
          <a:xfrm>
            <a:off x="685800" y="1463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685800" y="2057400"/>
            <a:ext cx="2944368" cy="365760"/>
          </a:xfrm>
          <a:prstGeom prst="rect">
            <a:avLst/>
          </a:prstGeom>
          <a:noFill/>
          <a:ln/>
        </p:spPr>
        <p:txBody>
          <a:bodyPr wrap="square" lIns="0" tIns="0" rIns="0" bIns="0" rtlCol="0" anchor="ctr"/>
          <a:lstStyle/>
          <a:p>
            <a:pPr indent="0" marL="0">
              <a:buNone/>
            </a:pPr>
            <a:r>
              <a:rPr lang="en-US" sz="1500" b="1" dirty="0">
                <a:solidFill>
                  <a:srgbClr val="132347"/>
                </a:solidFill>
                <a:latin typeface="Cambria" pitchFamily="34" charset="0"/>
                <a:ea typeface="Cambria" pitchFamily="34" charset="-122"/>
                <a:cs typeface="Cambria" pitchFamily="34" charset="-120"/>
              </a:rPr>
              <a:t>Data Quality</a:t>
            </a:r>
            <a:endParaRPr lang="en-US" sz="1500" dirty="0"/>
          </a:p>
        </p:txBody>
      </p:sp>
      <p:sp>
        <p:nvSpPr>
          <p:cNvPr id="9" name="Text 7"/>
          <p:cNvSpPr/>
          <p:nvPr/>
        </p:nvSpPr>
        <p:spPr>
          <a:xfrm>
            <a:off x="685800" y="2441448"/>
            <a:ext cx="2944368" cy="960120"/>
          </a:xfrm>
          <a:prstGeom prst="rect">
            <a:avLst/>
          </a:prstGeom>
          <a:noFill/>
          <a:ln/>
        </p:spPr>
        <p:txBody>
          <a:bodyPr wrap="square" lIns="0" tIns="0" rIns="0" bIns="0" rtlCol="0" anchor="ctr"/>
          <a:lstStyle/>
          <a:p>
            <a:pPr indent="0" marL="0">
              <a:lnSpc>
                <a:spcPct val="115000"/>
              </a:lnSpc>
              <a:buNone/>
            </a:pPr>
            <a:r>
              <a:rPr lang="en-US" sz="1080" dirty="0">
                <a:solidFill>
                  <a:srgbClr val="1B2233"/>
                </a:solidFill>
                <a:latin typeface="Calibri" pitchFamily="34" charset="0"/>
                <a:ea typeface="Calibri" pitchFamily="34" charset="-122"/>
                <a:cs typeface="Calibri" pitchFamily="34" charset="-120"/>
              </a:rPr>
              <a:t>Zero duplicate records across 1,000 rows — but the "Western" category (365 rows) has no Discount Price data at all.</a:t>
            </a:r>
            <a:endParaRPr lang="en-US" sz="1080" dirty="0"/>
          </a:p>
        </p:txBody>
      </p:sp>
      <p:sp>
        <p:nvSpPr>
          <p:cNvPr id="10" name="Shape 8"/>
          <p:cNvSpPr/>
          <p:nvPr/>
        </p:nvSpPr>
        <p:spPr>
          <a:xfrm>
            <a:off x="4032504" y="1234440"/>
            <a:ext cx="3401568" cy="2331720"/>
          </a:xfrm>
          <a:prstGeom prst="roundRect">
            <a:avLst>
              <a:gd name="adj" fmla="val 3922"/>
            </a:avLst>
          </a:prstGeom>
          <a:solidFill>
            <a:srgbClr val="FFFFFF"/>
          </a:solidFill>
          <a:ln/>
          <a:effectLst>
            <a:outerShdw sx="100000" sy="100000" kx="0" ky="0" algn="bl" rotWithShape="0" blurRad="63500" dist="25400" dir="5400000">
              <a:srgbClr val="1B2233">
                <a:alpha val="18000"/>
              </a:srgbClr>
            </a:outerShdw>
          </a:effectLst>
        </p:spPr>
      </p:sp>
      <p:sp>
        <p:nvSpPr>
          <p:cNvPr id="11" name="Shape 9"/>
          <p:cNvSpPr/>
          <p:nvPr/>
        </p:nvSpPr>
        <p:spPr>
          <a:xfrm>
            <a:off x="4261104" y="1463040"/>
            <a:ext cx="457200" cy="457200"/>
          </a:xfrm>
          <a:prstGeom prst="ellipse">
            <a:avLst/>
          </a:prstGeom>
          <a:solidFill>
            <a:srgbClr val="0E7C86"/>
          </a:solidFill>
          <a:ln/>
        </p:spPr>
      </p:sp>
      <p:sp>
        <p:nvSpPr>
          <p:cNvPr id="12" name="Text 10"/>
          <p:cNvSpPr/>
          <p:nvPr/>
        </p:nvSpPr>
        <p:spPr>
          <a:xfrm>
            <a:off x="4261104" y="1463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4261104" y="2057400"/>
            <a:ext cx="2944368" cy="365760"/>
          </a:xfrm>
          <a:prstGeom prst="rect">
            <a:avLst/>
          </a:prstGeom>
          <a:noFill/>
          <a:ln/>
        </p:spPr>
        <p:txBody>
          <a:bodyPr wrap="square" lIns="0" tIns="0" rIns="0" bIns="0" rtlCol="0" anchor="ctr"/>
          <a:lstStyle/>
          <a:p>
            <a:pPr indent="0" marL="0">
              <a:buNone/>
            </a:pPr>
            <a:r>
              <a:rPr lang="en-US" sz="1500" b="1" dirty="0">
                <a:solidFill>
                  <a:srgbClr val="132347"/>
                </a:solidFill>
                <a:latin typeface="Cambria" pitchFamily="34" charset="0"/>
                <a:ea typeface="Cambria" pitchFamily="34" charset="-122"/>
                <a:cs typeface="Cambria" pitchFamily="34" charset="-120"/>
              </a:rPr>
              <a:t>Discount Behaviour</a:t>
            </a:r>
            <a:endParaRPr lang="en-US" sz="1500" dirty="0"/>
          </a:p>
        </p:txBody>
      </p:sp>
      <p:sp>
        <p:nvSpPr>
          <p:cNvPr id="14" name="Text 12"/>
          <p:cNvSpPr/>
          <p:nvPr/>
        </p:nvSpPr>
        <p:spPr>
          <a:xfrm>
            <a:off x="4261104" y="2441448"/>
            <a:ext cx="2944368" cy="960120"/>
          </a:xfrm>
          <a:prstGeom prst="rect">
            <a:avLst/>
          </a:prstGeom>
          <a:noFill/>
          <a:ln/>
        </p:spPr>
        <p:txBody>
          <a:bodyPr wrap="square" lIns="0" tIns="0" rIns="0" bIns="0" rtlCol="0" anchor="ctr"/>
          <a:lstStyle/>
          <a:p>
            <a:pPr indent="0" marL="0">
              <a:lnSpc>
                <a:spcPct val="115000"/>
              </a:lnSpc>
              <a:buNone/>
            </a:pPr>
            <a:r>
              <a:rPr lang="en-US" sz="1080" dirty="0">
                <a:solidFill>
                  <a:srgbClr val="1B2233"/>
                </a:solidFill>
                <a:latin typeface="Calibri" pitchFamily="34" charset="0"/>
                <a:ea typeface="Calibri" pitchFamily="34" charset="-122"/>
                <a:cs typeface="Calibri" pitchFamily="34" charset="-120"/>
              </a:rPr>
              <a:t>503 products (58% of discounted items) carry offers greater than 50% — deep discounting is the norm, not the exception.</a:t>
            </a:r>
            <a:endParaRPr lang="en-US" sz="1080" dirty="0"/>
          </a:p>
        </p:txBody>
      </p:sp>
      <p:sp>
        <p:nvSpPr>
          <p:cNvPr id="15" name="Shape 13"/>
          <p:cNvSpPr/>
          <p:nvPr/>
        </p:nvSpPr>
        <p:spPr>
          <a:xfrm>
            <a:off x="7607808" y="1234440"/>
            <a:ext cx="3401568" cy="2331720"/>
          </a:xfrm>
          <a:prstGeom prst="roundRect">
            <a:avLst>
              <a:gd name="adj" fmla="val 3922"/>
            </a:avLst>
          </a:prstGeom>
          <a:solidFill>
            <a:srgbClr val="FFFFFF"/>
          </a:solidFill>
          <a:ln/>
          <a:effectLst>
            <a:outerShdw sx="100000" sy="100000" kx="0" ky="0" algn="bl" rotWithShape="0" blurRad="63500" dist="25400" dir="5400000">
              <a:srgbClr val="1B2233">
                <a:alpha val="18000"/>
              </a:srgbClr>
            </a:outerShdw>
          </a:effectLst>
        </p:spPr>
      </p:sp>
      <p:sp>
        <p:nvSpPr>
          <p:cNvPr id="16" name="Shape 14"/>
          <p:cNvSpPr/>
          <p:nvPr/>
        </p:nvSpPr>
        <p:spPr>
          <a:xfrm>
            <a:off x="7836408" y="1463040"/>
            <a:ext cx="457200" cy="457200"/>
          </a:xfrm>
          <a:prstGeom prst="ellipse">
            <a:avLst/>
          </a:prstGeom>
          <a:solidFill>
            <a:srgbClr val="0E7C86"/>
          </a:solidFill>
          <a:ln/>
        </p:spPr>
      </p:sp>
      <p:sp>
        <p:nvSpPr>
          <p:cNvPr id="17" name="Text 15"/>
          <p:cNvSpPr/>
          <p:nvPr/>
        </p:nvSpPr>
        <p:spPr>
          <a:xfrm>
            <a:off x="7836408" y="1463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7836408" y="2057400"/>
            <a:ext cx="2944368" cy="365760"/>
          </a:xfrm>
          <a:prstGeom prst="rect">
            <a:avLst/>
          </a:prstGeom>
          <a:noFill/>
          <a:ln/>
        </p:spPr>
        <p:txBody>
          <a:bodyPr wrap="square" lIns="0" tIns="0" rIns="0" bIns="0" rtlCol="0" anchor="ctr"/>
          <a:lstStyle/>
          <a:p>
            <a:pPr indent="0" marL="0">
              <a:buNone/>
            </a:pPr>
            <a:r>
              <a:rPr lang="en-US" sz="1500" b="1" dirty="0">
                <a:solidFill>
                  <a:srgbClr val="132347"/>
                </a:solidFill>
                <a:latin typeface="Cambria" pitchFamily="34" charset="0"/>
                <a:ea typeface="Cambria" pitchFamily="34" charset="-122"/>
                <a:cs typeface="Cambria" pitchFamily="34" charset="-120"/>
              </a:rPr>
              <a:t>Pricing vs Rating</a:t>
            </a:r>
            <a:endParaRPr lang="en-US" sz="1500" dirty="0"/>
          </a:p>
        </p:txBody>
      </p:sp>
      <p:sp>
        <p:nvSpPr>
          <p:cNvPr id="19" name="Text 17"/>
          <p:cNvSpPr/>
          <p:nvPr/>
        </p:nvSpPr>
        <p:spPr>
          <a:xfrm>
            <a:off x="7836408" y="2441448"/>
            <a:ext cx="2944368" cy="960120"/>
          </a:xfrm>
          <a:prstGeom prst="rect">
            <a:avLst/>
          </a:prstGeom>
          <a:noFill/>
          <a:ln/>
        </p:spPr>
        <p:txBody>
          <a:bodyPr wrap="square" lIns="0" tIns="0" rIns="0" bIns="0" rtlCol="0" anchor="ctr"/>
          <a:lstStyle/>
          <a:p>
            <a:pPr indent="0" marL="0">
              <a:lnSpc>
                <a:spcPct val="115000"/>
              </a:lnSpc>
              <a:buNone/>
            </a:pPr>
            <a:r>
              <a:rPr lang="en-US" sz="1080" dirty="0">
                <a:solidFill>
                  <a:srgbClr val="1B2233"/>
                </a:solidFill>
                <a:latin typeface="Calibri" pitchFamily="34" charset="0"/>
                <a:ea typeface="Calibri" pitchFamily="34" charset="-122"/>
                <a:cs typeface="Calibri" pitchFamily="34" charset="-120"/>
              </a:rPr>
              <a:t>Rating &gt; 4★ products average ₹1,591 — slightly below the ₹1,646 catalog average; rating is not a price premium signal here.</a:t>
            </a:r>
            <a:endParaRPr lang="en-US" sz="1080" dirty="0"/>
          </a:p>
        </p:txBody>
      </p:sp>
      <p:sp>
        <p:nvSpPr>
          <p:cNvPr id="20" name="Shape 18"/>
          <p:cNvSpPr/>
          <p:nvPr/>
        </p:nvSpPr>
        <p:spPr>
          <a:xfrm>
            <a:off x="457200" y="3794760"/>
            <a:ext cx="3401568" cy="2331720"/>
          </a:xfrm>
          <a:prstGeom prst="roundRect">
            <a:avLst>
              <a:gd name="adj" fmla="val 3922"/>
            </a:avLst>
          </a:prstGeom>
          <a:solidFill>
            <a:srgbClr val="FFFFFF"/>
          </a:solidFill>
          <a:ln/>
          <a:effectLst>
            <a:outerShdw sx="100000" sy="100000" kx="0" ky="0" algn="bl" rotWithShape="0" blurRad="63500" dist="25400" dir="5400000">
              <a:srgbClr val="1B2233">
                <a:alpha val="18000"/>
              </a:srgbClr>
            </a:outerShdw>
          </a:effectLst>
        </p:spPr>
      </p:sp>
      <p:sp>
        <p:nvSpPr>
          <p:cNvPr id="21" name="Shape 19"/>
          <p:cNvSpPr/>
          <p:nvPr/>
        </p:nvSpPr>
        <p:spPr>
          <a:xfrm>
            <a:off x="685800" y="4023360"/>
            <a:ext cx="457200" cy="457200"/>
          </a:xfrm>
          <a:prstGeom prst="ellipse">
            <a:avLst/>
          </a:prstGeom>
          <a:solidFill>
            <a:srgbClr val="0E7C86"/>
          </a:solidFill>
          <a:ln/>
        </p:spPr>
      </p:sp>
      <p:sp>
        <p:nvSpPr>
          <p:cNvPr id="22" name="Text 20"/>
          <p:cNvSpPr/>
          <p:nvPr/>
        </p:nvSpPr>
        <p:spPr>
          <a:xfrm>
            <a:off x="685800" y="4023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685800" y="4617720"/>
            <a:ext cx="2944368" cy="365760"/>
          </a:xfrm>
          <a:prstGeom prst="rect">
            <a:avLst/>
          </a:prstGeom>
          <a:noFill/>
          <a:ln/>
        </p:spPr>
        <p:txBody>
          <a:bodyPr wrap="square" lIns="0" tIns="0" rIns="0" bIns="0" rtlCol="0" anchor="ctr"/>
          <a:lstStyle/>
          <a:p>
            <a:pPr indent="0" marL="0">
              <a:buNone/>
            </a:pPr>
            <a:r>
              <a:rPr lang="en-US" sz="1500" b="1" dirty="0">
                <a:solidFill>
                  <a:srgbClr val="132347"/>
                </a:solidFill>
                <a:latin typeface="Cambria" pitchFamily="34" charset="0"/>
                <a:ea typeface="Cambria" pitchFamily="34" charset="-122"/>
                <a:cs typeface="Cambria" pitchFamily="34" charset="-120"/>
              </a:rPr>
              <a:t>Size Availability</a:t>
            </a:r>
            <a:endParaRPr lang="en-US" sz="1500" dirty="0"/>
          </a:p>
        </p:txBody>
      </p:sp>
      <p:sp>
        <p:nvSpPr>
          <p:cNvPr id="24" name="Text 22"/>
          <p:cNvSpPr/>
          <p:nvPr/>
        </p:nvSpPr>
        <p:spPr>
          <a:xfrm>
            <a:off x="685800" y="5001768"/>
            <a:ext cx="2944368" cy="960120"/>
          </a:xfrm>
          <a:prstGeom prst="rect">
            <a:avLst/>
          </a:prstGeom>
          <a:noFill/>
          <a:ln/>
        </p:spPr>
        <p:txBody>
          <a:bodyPr wrap="square" lIns="0" tIns="0" rIns="0" bIns="0" rtlCol="0" anchor="ctr"/>
          <a:lstStyle/>
          <a:p>
            <a:pPr indent="0" marL="0">
              <a:lnSpc>
                <a:spcPct val="115000"/>
              </a:lnSpc>
              <a:buNone/>
            </a:pPr>
            <a:r>
              <a:rPr lang="en-US" sz="1080" dirty="0">
                <a:solidFill>
                  <a:srgbClr val="1B2233"/>
                </a:solidFill>
                <a:latin typeface="Calibri" pitchFamily="34" charset="0"/>
                <a:ea typeface="Calibri" pitchFamily="34" charset="-122"/>
                <a:cs typeface="Calibri" pitchFamily="34" charset="-120"/>
              </a:rPr>
              <a:t>Size M is stocked on 675 of 1,000 products (67.5%) — the single most widely available size.</a:t>
            </a:r>
            <a:endParaRPr lang="en-US" sz="1080" dirty="0"/>
          </a:p>
        </p:txBody>
      </p:sp>
      <p:sp>
        <p:nvSpPr>
          <p:cNvPr id="25" name="Shape 23"/>
          <p:cNvSpPr/>
          <p:nvPr/>
        </p:nvSpPr>
        <p:spPr>
          <a:xfrm>
            <a:off x="4032504" y="3794760"/>
            <a:ext cx="3401568" cy="2331720"/>
          </a:xfrm>
          <a:prstGeom prst="roundRect">
            <a:avLst>
              <a:gd name="adj" fmla="val 3922"/>
            </a:avLst>
          </a:prstGeom>
          <a:solidFill>
            <a:srgbClr val="FFFFFF"/>
          </a:solidFill>
          <a:ln/>
          <a:effectLst>
            <a:outerShdw sx="100000" sy="100000" kx="0" ky="0" algn="bl" rotWithShape="0" blurRad="63500" dist="25400" dir="5400000">
              <a:srgbClr val="1B2233">
                <a:alpha val="18000"/>
              </a:srgbClr>
            </a:outerShdw>
          </a:effectLst>
        </p:spPr>
      </p:sp>
      <p:sp>
        <p:nvSpPr>
          <p:cNvPr id="26" name="Shape 24"/>
          <p:cNvSpPr/>
          <p:nvPr/>
        </p:nvSpPr>
        <p:spPr>
          <a:xfrm>
            <a:off x="4261104" y="4023360"/>
            <a:ext cx="457200" cy="457200"/>
          </a:xfrm>
          <a:prstGeom prst="ellipse">
            <a:avLst/>
          </a:prstGeom>
          <a:solidFill>
            <a:srgbClr val="0E7C86"/>
          </a:solidFill>
          <a:ln/>
        </p:spPr>
      </p:sp>
      <p:sp>
        <p:nvSpPr>
          <p:cNvPr id="27" name="Text 25"/>
          <p:cNvSpPr/>
          <p:nvPr/>
        </p:nvSpPr>
        <p:spPr>
          <a:xfrm>
            <a:off x="4261104" y="4023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8" name="Text 26"/>
          <p:cNvSpPr/>
          <p:nvPr/>
        </p:nvSpPr>
        <p:spPr>
          <a:xfrm>
            <a:off x="4261104" y="4617720"/>
            <a:ext cx="2944368" cy="365760"/>
          </a:xfrm>
          <a:prstGeom prst="rect">
            <a:avLst/>
          </a:prstGeom>
          <a:noFill/>
          <a:ln/>
        </p:spPr>
        <p:txBody>
          <a:bodyPr wrap="square" lIns="0" tIns="0" rIns="0" bIns="0" rtlCol="0" anchor="ctr"/>
          <a:lstStyle/>
          <a:p>
            <a:pPr indent="0" marL="0">
              <a:buNone/>
            </a:pPr>
            <a:r>
              <a:rPr lang="en-US" sz="1500" b="1" dirty="0">
                <a:solidFill>
                  <a:srgbClr val="132347"/>
                </a:solidFill>
                <a:latin typeface="Cambria" pitchFamily="34" charset="0"/>
                <a:ea typeface="Cambria" pitchFamily="34" charset="-122"/>
                <a:cs typeface="Cambria" pitchFamily="34" charset="-120"/>
              </a:rPr>
              <a:t>Lookup Reliability</a:t>
            </a:r>
            <a:endParaRPr lang="en-US" sz="1500" dirty="0"/>
          </a:p>
        </p:txBody>
      </p:sp>
      <p:sp>
        <p:nvSpPr>
          <p:cNvPr id="29" name="Text 27"/>
          <p:cNvSpPr/>
          <p:nvPr/>
        </p:nvSpPr>
        <p:spPr>
          <a:xfrm>
            <a:off x="4261104" y="5001768"/>
            <a:ext cx="2944368" cy="960120"/>
          </a:xfrm>
          <a:prstGeom prst="rect">
            <a:avLst/>
          </a:prstGeom>
          <a:noFill/>
          <a:ln/>
        </p:spPr>
        <p:txBody>
          <a:bodyPr wrap="square" lIns="0" tIns="0" rIns="0" bIns="0" rtlCol="0" anchor="ctr"/>
          <a:lstStyle/>
          <a:p>
            <a:pPr indent="0" marL="0">
              <a:lnSpc>
                <a:spcPct val="115000"/>
              </a:lnSpc>
              <a:buNone/>
            </a:pPr>
            <a:r>
              <a:rPr lang="en-US" sz="1080" dirty="0">
                <a:solidFill>
                  <a:srgbClr val="1B2233"/>
                </a:solidFill>
                <a:latin typeface="Calibri" pitchFamily="34" charset="0"/>
                <a:ea typeface="Calibri" pitchFamily="34" charset="-122"/>
                <a:cs typeface="Calibri" pitchFamily="34" charset="-120"/>
              </a:rPr>
              <a:t>INDEX-MATCH and nested XLOOKUP retrieved product detail instantly; VLOOKUP correctly flagged an absent ID (11226634) rather than guessing.</a:t>
            </a:r>
            <a:endParaRPr lang="en-US" sz="1080" dirty="0"/>
          </a:p>
        </p:txBody>
      </p:sp>
      <p:sp>
        <p:nvSpPr>
          <p:cNvPr id="30" name="Text 2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7484"/>
                </a:solidFill>
                <a:latin typeface="Calibri" pitchFamily="34" charset="0"/>
                <a:ea typeface="Calibri" pitchFamily="34" charset="-122"/>
                <a:cs typeface="Calibri" pitchFamily="34" charset="-120"/>
              </a:rPr>
              <a:t>Key Insights</a:t>
            </a:r>
            <a:endParaRPr lang="en-US" sz="900" dirty="0"/>
          </a:p>
        </p:txBody>
      </p:sp>
      <p:sp>
        <p:nvSpPr>
          <p:cNvPr id="31" name="Text 29"/>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6B7484"/>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347"/>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0B1730"/>
          </a:solidFill>
          <a:ln/>
        </p:spPr>
      </p:sp>
      <p:sp>
        <p:nvSpPr>
          <p:cNvPr id="3" name="Shape 1"/>
          <p:cNvSpPr/>
          <p:nvPr/>
        </p:nvSpPr>
        <p:spPr>
          <a:xfrm>
            <a:off x="8961120" y="4389120"/>
            <a:ext cx="4114800" cy="4114800"/>
          </a:xfrm>
          <a:prstGeom prst="ellipse">
            <a:avLst/>
          </a:prstGeom>
          <a:solidFill>
            <a:srgbClr val="0E7C86"/>
          </a:solidFill>
          <a:ln/>
        </p:spPr>
      </p:sp>
      <p:sp>
        <p:nvSpPr>
          <p:cNvPr id="4" name="Text 2"/>
          <p:cNvSpPr/>
          <p:nvPr/>
        </p:nvSpPr>
        <p:spPr>
          <a:xfrm>
            <a:off x="0" y="2286000"/>
            <a:ext cx="12188952" cy="100584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Text 3"/>
          <p:cNvSpPr/>
          <p:nvPr/>
        </p:nvSpPr>
        <p:spPr>
          <a:xfrm>
            <a:off x="0" y="3200400"/>
            <a:ext cx="12188952" cy="548640"/>
          </a:xfrm>
          <a:prstGeom prst="rect">
            <a:avLst/>
          </a:prstGeom>
          <a:noFill/>
          <a:ln/>
        </p:spPr>
        <p:txBody>
          <a:bodyPr wrap="square" lIns="0" tIns="0" rIns="0" bIns="0" rtlCol="0" anchor="ctr"/>
          <a:lstStyle/>
          <a:p>
            <a:pPr algn="ctr" indent="0" marL="0">
              <a:buNone/>
            </a:pPr>
            <a:r>
              <a:rPr lang="en-US" sz="1800" i="1" dirty="0">
                <a:solidFill>
                  <a:srgbClr val="17A398"/>
                </a:solidFill>
                <a:latin typeface="Calibri" pitchFamily="34" charset="0"/>
                <a:ea typeface="Calibri" pitchFamily="34" charset="-122"/>
                <a:cs typeface="Calibri" pitchFamily="34" charset="-120"/>
              </a:rPr>
              <a:t>Questions &amp; Discussion</a:t>
            </a:r>
            <a:endParaRPr lang="en-US" sz="1800" dirty="0"/>
          </a:p>
        </p:txBody>
      </p:sp>
      <p:sp>
        <p:nvSpPr>
          <p:cNvPr id="6" name="Shape 4"/>
          <p:cNvSpPr/>
          <p:nvPr/>
        </p:nvSpPr>
        <p:spPr>
          <a:xfrm>
            <a:off x="4631436" y="4160520"/>
            <a:ext cx="2926080" cy="0"/>
          </a:xfrm>
          <a:prstGeom prst="line">
            <a:avLst/>
          </a:prstGeom>
          <a:noFill/>
          <a:ln w="15240">
            <a:solidFill>
              <a:srgbClr val="0E7C86"/>
            </a:solidFill>
            <a:prstDash val="solid"/>
          </a:ln>
        </p:spPr>
      </p:sp>
      <p:sp>
        <p:nvSpPr>
          <p:cNvPr id="7" name="Text 5"/>
          <p:cNvSpPr/>
          <p:nvPr/>
        </p:nvSpPr>
        <p:spPr>
          <a:xfrm>
            <a:off x="0" y="4389120"/>
            <a:ext cx="12188952" cy="1097280"/>
          </a:xfrm>
          <a:prstGeom prst="rect">
            <a:avLst/>
          </a:prstGeom>
          <a:noFill/>
          <a:ln/>
        </p:spPr>
        <p:txBody>
          <a:bodyPr wrap="square" lIns="0" tIns="0" rIns="0" bIns="0" rtlCol="0" anchor="ctr"/>
          <a:lstStyle/>
          <a:p>
            <a:pPr algn="ctr" indent="0" marL="0">
              <a:lnSpc>
                <a:spcPct val="140000"/>
              </a:lnSpc>
              <a:buNone/>
            </a:pPr>
            <a:r>
              <a:rPr lang="en-US" sz="1500" b="1" dirty="0">
                <a:solidFill>
                  <a:srgbClr val="FFFFFF"/>
                </a:solidFill>
                <a:latin typeface="Calibri" pitchFamily="34" charset="0"/>
                <a:ea typeface="Calibri" pitchFamily="34" charset="-122"/>
                <a:cs typeface="Calibri" pitchFamily="34" charset="-120"/>
              </a:rPr>
              <a:t>Deepanshu</a:t>
            </a:r>
            <a:endParaRPr lang="en-US" sz="1500" dirty="0"/>
          </a:p>
          <a:p>
            <a:pPr algn="ctr" indent="0" marL="0">
              <a:lnSpc>
                <a:spcPct val="140000"/>
              </a:lnSpc>
              <a:buNone/>
            </a:pPr>
            <a:r>
              <a:rPr lang="en-US" sz="1200" dirty="0">
                <a:solidFill>
                  <a:srgbClr val="C9D6E3"/>
                </a:solidFill>
                <a:latin typeface="Calibri" pitchFamily="34" charset="0"/>
                <a:ea typeface="Calibri" pitchFamily="34" charset="-122"/>
                <a:cs typeface="Calibri" pitchFamily="34" charset="-120"/>
              </a:rPr>
              <a:t>[email@example.com]</a:t>
            </a:r>
            <a:endParaRPr lang="en-US" sz="1500" dirty="0"/>
          </a:p>
          <a:p>
            <a:pPr algn="ctr" indent="0" marL="0">
              <a:lnSpc>
                <a:spcPct val="140000"/>
              </a:lnSpc>
              <a:buNone/>
            </a:pPr>
            <a:r>
              <a:rPr lang="en-US" sz="1200" dirty="0">
                <a:solidFill>
                  <a:srgbClr val="C9D6E3"/>
                </a:solidFill>
                <a:latin typeface="Calibri" pitchFamily="34" charset="0"/>
                <a:ea typeface="Calibri" pitchFamily="34" charset="-122"/>
                <a:cs typeface="Calibri" pitchFamily="34" charset="-120"/>
              </a:rPr>
              <a:t>[Contact Number]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2026-08-12T10:26:02Z</dcterms:created>
  <dcterms:modified xsi:type="dcterms:W3CDTF">2026-08-12T10:26:02Z</dcterms:modified>
</cp:coreProperties>
</file>